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L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61"/>
  </p:normalViewPr>
  <p:slideViewPr>
    <p:cSldViewPr snapToGrid="0">
      <p:cViewPr varScale="1">
        <p:scale>
          <a:sx n="114" d="100"/>
          <a:sy n="114" d="100"/>
        </p:scale>
        <p:origin x="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9D15F-D059-9F00-FD99-2FE9A2CA9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37940-978D-F67F-8D14-2BE606932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F09C6-69F7-BF11-FCE9-46CDAC3E7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B6397-AC20-2A4F-A13D-DC07559D9AFB}" type="datetimeFigureOut">
              <a:rPr lang="en-LK" smtClean="0"/>
              <a:t>2026-05-01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27AB8-6741-327A-4F14-4C03619B4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24B58-08CA-0BC7-FA03-F6EF1C6A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1672-169B-B947-82D1-DC742042113E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147752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94799-6A1C-59EB-06E0-414D4B172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70054-F8CB-08CA-3C7B-93FC8192D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DF9FA-DA5E-57BC-4DE1-6F02646F8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B6397-AC20-2A4F-A13D-DC07559D9AFB}" type="datetimeFigureOut">
              <a:rPr lang="en-LK" smtClean="0"/>
              <a:t>2026-05-01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FE073-FA39-AB9B-FC26-03BA33216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15E33-D758-0FE9-E294-D2183B4CA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1672-169B-B947-82D1-DC742042113E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893106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49596-818B-85A2-AC32-966CFFFE7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F77FE-84D4-D65C-872D-44933BFB3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210BC-366D-C544-77BA-7F0C6B26B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B6397-AC20-2A4F-A13D-DC07559D9AFB}" type="datetimeFigureOut">
              <a:rPr lang="en-LK" smtClean="0"/>
              <a:t>2026-05-01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ED10D-C046-83C0-9610-E066DF349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B22EE-FF84-19EA-F253-56FDEA8AB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1672-169B-B947-82D1-DC742042113E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567978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4B8B4-97BB-3EDC-C57B-92FC1AF10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14173-00C6-AB54-99E6-14E05B46D3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7860AF-7FB0-2737-0AE3-CF841D546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26692-1B50-7220-C5C4-C495717DA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B6397-AC20-2A4F-A13D-DC07559D9AFB}" type="datetimeFigureOut">
              <a:rPr lang="en-LK" smtClean="0"/>
              <a:t>2026-05-01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06839-419A-3A47-EFEB-CC01797CE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D2F58-0430-CBAA-3A39-82D0B30C2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1672-169B-B947-82D1-DC742042113E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57865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F763-6E30-B9FD-EEE7-D730162FA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D8349-7804-F052-D20B-BA3FBDDF1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BA4E66-299B-7001-AD64-6350A6BF5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156476-9D84-3171-D21A-7A64E560CD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58FAAF-5BDF-6E28-8285-4AA4730B5D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6DE904-95D2-DF54-A2CC-2B797BE4D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B6397-AC20-2A4F-A13D-DC07559D9AFB}" type="datetimeFigureOut">
              <a:rPr lang="en-LK" smtClean="0"/>
              <a:t>2026-05-01</a:t>
            </a:fld>
            <a:endParaRPr lang="en-L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677F9E-1C9F-6DF9-E01C-6C3954097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3D219C-7C24-9DBA-C884-5E3EA88B8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1672-169B-B947-82D1-DC742042113E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681533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43E7-F511-C2D4-0555-8D9E56FEB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FBC27-8CD4-CC0A-1C82-F0F431F6D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B6397-AC20-2A4F-A13D-DC07559D9AFB}" type="datetimeFigureOut">
              <a:rPr lang="en-LK" smtClean="0"/>
              <a:t>2026-05-01</a:t>
            </a:fld>
            <a:endParaRPr lang="en-L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269067-4F64-49B6-D667-B1A91853C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0138F5-6376-03DD-469F-3C335DF76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1672-169B-B947-82D1-DC742042113E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254213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54663C-5B13-5A9C-CC82-374B4ECF0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B6397-AC20-2A4F-A13D-DC07559D9AFB}" type="datetimeFigureOut">
              <a:rPr lang="en-LK" smtClean="0"/>
              <a:t>2026-05-01</a:t>
            </a:fld>
            <a:endParaRPr lang="en-L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D597C9-8290-E3BD-4698-5740E3C6D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40501-01D8-82F8-CDF8-F84A1CC4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1672-169B-B947-82D1-DC742042113E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711165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84B54-745C-CF36-9BA5-2C193B5A2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58708-CE49-3863-8979-BC3406074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F989A-67A8-CA4F-4787-E69717ED21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2277B-F627-99B1-DFF0-5F736B92D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B6397-AC20-2A4F-A13D-DC07559D9AFB}" type="datetimeFigureOut">
              <a:rPr lang="en-LK" smtClean="0"/>
              <a:t>2026-05-01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08319-CCC0-E03B-3A5B-04C7FB9E5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D3630-9D3B-F6F1-89E8-58D71432A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1672-169B-B947-82D1-DC742042113E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764169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94D0F-09A4-A23E-41AB-D6F16EABA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03BCE5-0B7B-BCCE-CC85-E13EDBB0D0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3F0CFC-BEEA-73EC-89D5-E53139FDB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C7A45-C331-2F7E-6F1A-BC1602DD7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B6397-AC20-2A4F-A13D-DC07559D9AFB}" type="datetimeFigureOut">
              <a:rPr lang="en-LK" smtClean="0"/>
              <a:t>2026-05-01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84EF9-79B2-AA23-91DD-5BD32E623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15B48-5D48-1D9E-8984-3F9A54B90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1672-169B-B947-82D1-DC742042113E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266245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883A2-24DC-5E59-5042-7D890D050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1C490-AEEF-1A2C-BC16-DDCAFAF3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912E5-2C45-87A7-4A1C-8585E623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B6397-AC20-2A4F-A13D-DC07559D9AFB}" type="datetimeFigureOut">
              <a:rPr lang="en-LK" smtClean="0"/>
              <a:t>2026-05-01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708E8-B4B1-BDF3-F123-5C34AD163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AD3A7-6EC1-FB5A-27E4-5EB3F516B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1672-169B-B947-82D1-DC742042113E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411280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C2C7AD-3F0D-879E-396A-84C3C70E36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381E7D-F28A-3063-C789-10370A0D6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CBF0B-5E8F-1355-1EB7-6335D9C7A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B6397-AC20-2A4F-A13D-DC07559D9AFB}" type="datetimeFigureOut">
              <a:rPr lang="en-LK" smtClean="0"/>
              <a:t>2026-05-01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F85BF-7C4B-8AA7-1626-04128CE6D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3A290-0F24-CAAB-86EC-52A505872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1672-169B-B947-82D1-DC742042113E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709480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A7DCC-92F0-1E63-301C-76572376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6188D-EF53-1BBE-D1CB-2189DEBD9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49903-57AA-CBB1-FE48-9CDF07ECA9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9B6397-AC20-2A4F-A13D-DC07559D9AFB}" type="datetimeFigureOut">
              <a:rPr lang="en-LK" smtClean="0"/>
              <a:t>2026-05-01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D34F1-DC96-7283-FDD7-047C57DB07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87712-B131-4B2A-FC2B-7A0A361DFD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A1672-169B-B947-82D1-DC742042113E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84901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8112-6B43-054A-E591-D49C3D3F0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187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Implementing a GPT Model from Scratch</a:t>
            </a:r>
            <a:br>
              <a:rPr lang="en-GB" b="1" dirty="0"/>
            </a:br>
            <a:endParaRPr lang="en-L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3F9C7-2AEE-F2F3-0882-32822014D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/>
          <a:lstStyle/>
          <a:p>
            <a:r>
              <a:rPr lang="en-LK" dirty="0"/>
              <a:t>A lecture by Maneesha Rajapaksha</a:t>
            </a:r>
          </a:p>
        </p:txBody>
      </p:sp>
      <p:pic>
        <p:nvPicPr>
          <p:cNvPr id="5" name="Picture 4" descr="A blue and yellow logo&#10;&#10;AI-generated content may be incorrect.">
            <a:extLst>
              <a:ext uri="{FF2B5EF4-FFF2-40B4-BE49-F238E27FC236}">
                <a16:creationId xmlns:a16="http://schemas.microsoft.com/office/drawing/2014/main" id="{BA2089B0-C097-D1B2-A433-95FD27A98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272" y="2083806"/>
            <a:ext cx="3035455" cy="303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33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A58B4F-588F-A03E-A1E5-5C697DFC68EA}"/>
              </a:ext>
            </a:extLst>
          </p:cNvPr>
          <p:cNvSpPr txBox="1"/>
          <p:nvPr/>
        </p:nvSpPr>
        <p:spPr>
          <a:xfrm>
            <a:off x="596591" y="110841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Step 1 — Setup</a:t>
            </a:r>
            <a:endParaRPr lang="en-LK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810FED-2973-5BE0-2C70-4632005473E0}"/>
              </a:ext>
            </a:extLst>
          </p:cNvPr>
          <p:cNvSpPr txBox="1"/>
          <p:nvPr/>
        </p:nvSpPr>
        <p:spPr>
          <a:xfrm>
            <a:off x="596591" y="724159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pip install torch numpy tiktoken datasets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50988D-DA14-FA8F-40BA-E60CA991B23D}"/>
              </a:ext>
            </a:extLst>
          </p:cNvPr>
          <p:cNvSpPr txBox="1"/>
          <p:nvPr/>
        </p:nvSpPr>
        <p:spPr>
          <a:xfrm>
            <a:off x="596591" y="1397675"/>
            <a:ext cx="60997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llm_from_scratch/</a:t>
            </a:r>
          </a:p>
          <a:p>
            <a:r>
              <a:rPr lang="en-LK" dirty="0"/>
              <a:t>    config.py</a:t>
            </a:r>
          </a:p>
          <a:p>
            <a:r>
              <a:rPr lang="en-LK" dirty="0"/>
              <a:t>    tokenizer.py</a:t>
            </a:r>
          </a:p>
          <a:p>
            <a:r>
              <a:rPr lang="en-LK" dirty="0"/>
              <a:t>    model.py</a:t>
            </a:r>
          </a:p>
          <a:p>
            <a:r>
              <a:rPr lang="en-LK" dirty="0"/>
              <a:t>    train.py</a:t>
            </a:r>
          </a:p>
          <a:p>
            <a:r>
              <a:rPr lang="en-LK" dirty="0"/>
              <a:t>    generate.py</a:t>
            </a:r>
          </a:p>
          <a:p>
            <a:r>
              <a:rPr lang="en-LK" dirty="0"/>
              <a:t>    data/</a:t>
            </a:r>
          </a:p>
        </p:txBody>
      </p:sp>
    </p:spTree>
    <p:extLst>
      <p:ext uri="{BB962C8B-B14F-4D97-AF65-F5344CB8AC3E}">
        <p14:creationId xmlns:p14="http://schemas.microsoft.com/office/powerpoint/2010/main" val="2715109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23B062-A022-E397-B22E-14180CA63919}"/>
              </a:ext>
            </a:extLst>
          </p:cNvPr>
          <p:cNvSpPr txBox="1"/>
          <p:nvPr/>
        </p:nvSpPr>
        <p:spPr>
          <a:xfrm>
            <a:off x="663498" y="144294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Step 2 — Config</a:t>
            </a:r>
            <a:endParaRPr lang="en-LK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5C949AD-7002-F2FC-4BEB-402480F4F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14" y="76943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LK" altLang="en-LK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config.py</a:t>
            </a:r>
            <a:endParaRPr kumimoji="0" lang="en-LK" altLang="en-LK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LK" altLang="en-L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6F6CCA-BA3B-4043-267A-8F1E6539A64F}"/>
              </a:ext>
            </a:extLst>
          </p:cNvPr>
          <p:cNvSpPr txBox="1"/>
          <p:nvPr/>
        </p:nvSpPr>
        <p:spPr>
          <a:xfrm>
            <a:off x="3325852" y="58846"/>
            <a:ext cx="642867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from dataclasses import dataclass</a:t>
            </a:r>
          </a:p>
          <a:p>
            <a:endParaRPr lang="en-LK" dirty="0"/>
          </a:p>
          <a:p>
            <a:r>
              <a:rPr lang="en-LK" dirty="0"/>
              <a:t>@dataclass</a:t>
            </a:r>
          </a:p>
          <a:p>
            <a:r>
              <a:rPr lang="en-LK" dirty="0"/>
              <a:t>class GPTConfig:</a:t>
            </a:r>
          </a:p>
          <a:p>
            <a:r>
              <a:rPr lang="en-LK" dirty="0"/>
              <a:t>    # Model architecture</a:t>
            </a:r>
          </a:p>
          <a:p>
            <a:r>
              <a:rPr lang="en-LK" dirty="0"/>
              <a:t>    vocab_size: int   = 50257   # GPT-2 vocab size (tiktoken)</a:t>
            </a:r>
          </a:p>
          <a:p>
            <a:r>
              <a:rPr lang="en-LK" dirty="0"/>
              <a:t>    seq_len:    int   = 256     # max context length</a:t>
            </a:r>
          </a:p>
          <a:p>
            <a:r>
              <a:rPr lang="en-LK" dirty="0"/>
              <a:t>    d_model:    int   = 384     # embedding dimension</a:t>
            </a:r>
          </a:p>
          <a:p>
            <a:r>
              <a:rPr lang="en-LK" dirty="0"/>
              <a:t>    n_heads:    int   = 6       # attention heads</a:t>
            </a:r>
          </a:p>
          <a:p>
            <a:r>
              <a:rPr lang="en-LK" dirty="0"/>
              <a:t>    n_layers:   int   = 6       # transformer blocks</a:t>
            </a:r>
          </a:p>
          <a:p>
            <a:r>
              <a:rPr lang="en-LK" dirty="0"/>
              <a:t>    d_ff:       int   = 1536    # FFN inner dim (4 × d_model)</a:t>
            </a:r>
          </a:p>
          <a:p>
            <a:r>
              <a:rPr lang="en-LK" dirty="0"/>
              <a:t>    dropout:    float = 0.1</a:t>
            </a:r>
          </a:p>
          <a:p>
            <a:endParaRPr lang="en-LK" dirty="0"/>
          </a:p>
          <a:p>
            <a:r>
              <a:rPr lang="en-LK" dirty="0"/>
              <a:t>    # Training</a:t>
            </a:r>
          </a:p>
          <a:p>
            <a:r>
              <a:rPr lang="en-LK" dirty="0"/>
              <a:t>    batch_size:    int   = 32</a:t>
            </a:r>
          </a:p>
          <a:p>
            <a:r>
              <a:rPr lang="en-LK" dirty="0"/>
              <a:t>    lr:            float = 3e-4</a:t>
            </a:r>
          </a:p>
          <a:p>
            <a:r>
              <a:rPr lang="en-LK" dirty="0"/>
              <a:t>    max_iters:     int   = 5000</a:t>
            </a:r>
          </a:p>
          <a:p>
            <a:r>
              <a:rPr lang="en-LK" dirty="0"/>
              <a:t>    eval_interval: int   = 500</a:t>
            </a:r>
          </a:p>
          <a:p>
            <a:r>
              <a:rPr lang="en-LK" dirty="0"/>
              <a:t>    eval_iters:    int   = 50</a:t>
            </a:r>
          </a:p>
          <a:p>
            <a:r>
              <a:rPr lang="en-LK" dirty="0"/>
              <a:t>    device: str = 'cuda' if __import__('torch').cuda.is_available() else 'cpu'</a:t>
            </a:r>
          </a:p>
          <a:p>
            <a:endParaRPr lang="en-LK" dirty="0"/>
          </a:p>
          <a:p>
            <a:r>
              <a:rPr lang="en-LK" dirty="0"/>
              <a:t># d_model must be divisible by n_heads</a:t>
            </a:r>
          </a:p>
          <a:p>
            <a:r>
              <a:rPr lang="en-LK" dirty="0"/>
              <a:t># 384 / 6 = 64 dims per head  ✓</a:t>
            </a:r>
          </a:p>
        </p:txBody>
      </p:sp>
    </p:spTree>
    <p:extLst>
      <p:ext uri="{BB962C8B-B14F-4D97-AF65-F5344CB8AC3E}">
        <p14:creationId xmlns:p14="http://schemas.microsoft.com/office/powerpoint/2010/main" val="2142567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52C95D-3E52-C316-F15E-C59E9FC5E03A}"/>
              </a:ext>
            </a:extLst>
          </p:cNvPr>
          <p:cNvSpPr txBox="1"/>
          <p:nvPr/>
        </p:nvSpPr>
        <p:spPr>
          <a:xfrm>
            <a:off x="485078" y="133143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Step 3 — Tokenizer</a:t>
            </a:r>
            <a:endParaRPr lang="en-LK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A78305C-A76E-32EE-3166-3152CC67B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794" y="5477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LK" altLang="en-LK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tokenizer.py</a:t>
            </a:r>
            <a:endParaRPr kumimoji="0" lang="en-LK" altLang="en-LK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LK" altLang="en-L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5B68E0-F6E9-FD9C-DEBB-9A1CF92ADFE0}"/>
              </a:ext>
            </a:extLst>
          </p:cNvPr>
          <p:cNvSpPr txBox="1"/>
          <p:nvPr/>
        </p:nvSpPr>
        <p:spPr>
          <a:xfrm>
            <a:off x="485078" y="1050225"/>
            <a:ext cx="1136309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import tiktoken</a:t>
            </a:r>
          </a:p>
          <a:p>
            <a:endParaRPr lang="en-LK" dirty="0"/>
          </a:p>
          <a:p>
            <a:r>
              <a:rPr lang="en-LK" dirty="0"/>
              <a:t>class Tokenizer:</a:t>
            </a:r>
          </a:p>
          <a:p>
            <a:r>
              <a:rPr lang="en-LK" dirty="0"/>
              <a:t>    def __init__(self):</a:t>
            </a:r>
          </a:p>
          <a:p>
            <a:r>
              <a:rPr lang="en-LK" dirty="0"/>
              <a:t>        # Load GPT-2's BPE tokenizer</a:t>
            </a:r>
          </a:p>
          <a:p>
            <a:r>
              <a:rPr lang="en-LK" dirty="0"/>
              <a:t>        # vocab_size = 50,257 tokens</a:t>
            </a:r>
          </a:p>
          <a:p>
            <a:r>
              <a:rPr lang="en-LK" dirty="0"/>
              <a:t>        self.enc = tiktoken.get_encoding("gpt2")</a:t>
            </a:r>
          </a:p>
          <a:p>
            <a:r>
              <a:rPr lang="en-LK" dirty="0"/>
              <a:t>        self.vocab_size = self.enc.n_vocab</a:t>
            </a:r>
          </a:p>
          <a:p>
            <a:endParaRPr lang="en-LK" dirty="0"/>
          </a:p>
          <a:p>
            <a:r>
              <a:rPr lang="en-LK" dirty="0"/>
              <a:t>    def encode(self, text: str) -&gt; list[int]:</a:t>
            </a:r>
          </a:p>
          <a:p>
            <a:r>
              <a:rPr lang="en-LK" dirty="0"/>
              <a:t>        """Text → list of integer token IDs"""</a:t>
            </a:r>
          </a:p>
          <a:p>
            <a:r>
              <a:rPr lang="en-LK" dirty="0"/>
              <a:t>        return self.enc.encode(text)</a:t>
            </a:r>
          </a:p>
          <a:p>
            <a:endParaRPr lang="en-LK" dirty="0"/>
          </a:p>
          <a:p>
            <a:r>
              <a:rPr lang="en-LK" dirty="0"/>
              <a:t>    def decode(self, ids: list[int]) -&gt; str:</a:t>
            </a:r>
          </a:p>
          <a:p>
            <a:r>
              <a:rPr lang="en-LK" dirty="0"/>
              <a:t>        """List of token IDs → text"""</a:t>
            </a:r>
          </a:p>
          <a:p>
            <a:r>
              <a:rPr lang="en-LK" dirty="0"/>
              <a:t>        return self.enc.decode(ids)</a:t>
            </a:r>
          </a:p>
          <a:p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732708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16357A-9ACE-04D2-B02A-59A3BAFDADC6}"/>
              </a:ext>
            </a:extLst>
          </p:cNvPr>
          <p:cNvSpPr txBox="1"/>
          <p:nvPr/>
        </p:nvSpPr>
        <p:spPr>
          <a:xfrm>
            <a:off x="395868" y="133144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Step 4 — Dataset</a:t>
            </a:r>
            <a:endParaRPr lang="en-LK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48E08FF-AFF9-9219-8646-0E402051A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84" y="50247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LK" altLang="en-LK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dataset.py</a:t>
            </a:r>
            <a:endParaRPr kumimoji="0" lang="en-LK" altLang="en-LK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LK" altLang="en-L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123C12-1ADA-C733-1EA5-DAFE37C19EE4}"/>
              </a:ext>
            </a:extLst>
          </p:cNvPr>
          <p:cNvSpPr txBox="1"/>
          <p:nvPr/>
        </p:nvSpPr>
        <p:spPr>
          <a:xfrm>
            <a:off x="3249637" y="261548"/>
            <a:ext cx="15910559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sz="1000" dirty="0"/>
              <a:t>import torch</a:t>
            </a:r>
          </a:p>
          <a:p>
            <a:r>
              <a:rPr lang="en-LK" sz="1000" dirty="0"/>
              <a:t>from torch.utils.data import Dataset, DataLoader</a:t>
            </a:r>
          </a:p>
          <a:p>
            <a:r>
              <a:rPr lang="en-LK" sz="1000" dirty="0"/>
              <a:t>from tokenizer import Tokenizer</a:t>
            </a:r>
          </a:p>
          <a:p>
            <a:endParaRPr lang="en-LK" sz="1000" dirty="0"/>
          </a:p>
          <a:p>
            <a:r>
              <a:rPr lang="en-LK" sz="1000" dirty="0"/>
              <a:t>class TextDataset(Dataset):</a:t>
            </a:r>
          </a:p>
          <a:p>
            <a:r>
              <a:rPr lang="en-LK" sz="1000" dirty="0"/>
              <a:t>    def __init__(self, text: str, seq_len: int):</a:t>
            </a:r>
          </a:p>
          <a:p>
            <a:r>
              <a:rPr lang="en-LK" sz="1000" dirty="0"/>
              <a:t>        self.seq_len = seq_len</a:t>
            </a:r>
          </a:p>
          <a:p>
            <a:r>
              <a:rPr lang="en-LK" sz="1000" dirty="0"/>
              <a:t>        tok = Tokenizer()</a:t>
            </a:r>
          </a:p>
          <a:p>
            <a:endParaRPr lang="en-LK" sz="1000" dirty="0"/>
          </a:p>
          <a:p>
            <a:r>
              <a:rPr lang="en-LK" sz="1000" dirty="0"/>
              <a:t>        # Encode entire text into one long list of token IDs</a:t>
            </a:r>
          </a:p>
          <a:p>
            <a:r>
              <a:rPr lang="en-LK" sz="1000" dirty="0"/>
              <a:t>        self.tokens = torch.tensor(tok.encode(text), dtype=torch.long)</a:t>
            </a:r>
          </a:p>
          <a:p>
            <a:r>
              <a:rPr lang="en-LK" sz="1000" dirty="0"/>
              <a:t>        print(f"Dataset: {len(self.tokens):,} tokens")</a:t>
            </a:r>
          </a:p>
          <a:p>
            <a:endParaRPr lang="en-LK" sz="1000" dirty="0"/>
          </a:p>
          <a:p>
            <a:r>
              <a:rPr lang="en-LK" sz="1000" dirty="0"/>
              <a:t>    def __len__(self):</a:t>
            </a:r>
          </a:p>
          <a:p>
            <a:r>
              <a:rPr lang="en-LK" sz="1000" dirty="0"/>
              <a:t>        # Each sample is seq_len tokens</a:t>
            </a:r>
          </a:p>
          <a:p>
            <a:r>
              <a:rPr lang="en-LK" sz="1000" dirty="0"/>
              <a:t>        # We need seq_len+1 tokens (input + target)</a:t>
            </a:r>
          </a:p>
          <a:p>
            <a:r>
              <a:rPr lang="en-LK" sz="1000" dirty="0"/>
              <a:t>        return len(self.tokens) - self.seq_len</a:t>
            </a:r>
          </a:p>
          <a:p>
            <a:endParaRPr lang="en-LK" sz="1000" dirty="0"/>
          </a:p>
          <a:p>
            <a:r>
              <a:rPr lang="en-LK" sz="1000" dirty="0"/>
              <a:t>    def __getitem__(self, idx):</a:t>
            </a:r>
          </a:p>
          <a:p>
            <a:r>
              <a:rPr lang="en-LK" sz="1000" dirty="0"/>
              <a:t>        # Input  : tokens[idx   : idx+seq_len]</a:t>
            </a:r>
          </a:p>
          <a:p>
            <a:r>
              <a:rPr lang="en-LK" sz="1000" dirty="0"/>
              <a:t>        # Target : tokens[idx+1 : idx+seq_len+1]  ← shifted by 1</a:t>
            </a:r>
          </a:p>
          <a:p>
            <a:r>
              <a:rPr lang="en-LK" sz="1000" dirty="0"/>
              <a:t>        x = self.tokens[idx     : idx + self.seq_len]</a:t>
            </a:r>
          </a:p>
          <a:p>
            <a:r>
              <a:rPr lang="en-LK" sz="1000" dirty="0"/>
              <a:t>        y = self.tokens[idx + 1 : idx + self.seq_len + 1]</a:t>
            </a:r>
          </a:p>
          <a:p>
            <a:r>
              <a:rPr lang="en-LK" sz="1000" dirty="0"/>
              <a:t>        return x, y</a:t>
            </a:r>
          </a:p>
          <a:p>
            <a:endParaRPr lang="en-LK" sz="1000" dirty="0"/>
          </a:p>
          <a:p>
            <a:r>
              <a:rPr lang="en-LK" sz="1000" dirty="0"/>
              <a:t>def get_data(seq_len: int, batch_size: int):</a:t>
            </a:r>
          </a:p>
          <a:p>
            <a:r>
              <a:rPr lang="en-LK" sz="1000" dirty="0"/>
              <a:t>    </a:t>
            </a:r>
          </a:p>
          <a:p>
            <a:r>
              <a:rPr lang="en-LK" sz="1000" dirty="0"/>
              <a:t>    with open("data/shakespeare.txt", "r") as f:</a:t>
            </a:r>
          </a:p>
          <a:p>
            <a:r>
              <a:rPr lang="en-LK" sz="1000" dirty="0"/>
              <a:t>        text = f.read()</a:t>
            </a:r>
          </a:p>
          <a:p>
            <a:endParaRPr lang="en-LK" sz="1000" dirty="0"/>
          </a:p>
          <a:p>
            <a:r>
              <a:rPr lang="en-LK" sz="1000" dirty="0"/>
              <a:t>    # 90/10 train/val split</a:t>
            </a:r>
          </a:p>
          <a:p>
            <a:r>
              <a:rPr lang="en-LK" sz="1000" dirty="0"/>
              <a:t>    n = int(0.9 * len(text))</a:t>
            </a:r>
          </a:p>
          <a:p>
            <a:r>
              <a:rPr lang="en-LK" sz="1000" dirty="0"/>
              <a:t>    train_data = TextDataset(text[:n], seq_len)</a:t>
            </a:r>
          </a:p>
          <a:p>
            <a:r>
              <a:rPr lang="en-LK" sz="1000" dirty="0"/>
              <a:t>    val_data   = TextDataset(text[n:], seq_len)</a:t>
            </a:r>
          </a:p>
          <a:p>
            <a:endParaRPr lang="en-LK" sz="1000" dirty="0"/>
          </a:p>
          <a:p>
            <a:r>
              <a:rPr lang="en-LK" sz="1000" dirty="0"/>
              <a:t>    train_loader = DataLoader(train_data, batch_size=batch_size, shuffle=True)</a:t>
            </a:r>
          </a:p>
          <a:p>
            <a:r>
              <a:rPr lang="en-LK" sz="1000" dirty="0"/>
              <a:t>    val_loader   = DataLoader(val_data,   batch_size=batch_size, shuffle=False)</a:t>
            </a:r>
          </a:p>
          <a:p>
            <a:endParaRPr lang="en-LK" sz="1000" dirty="0"/>
          </a:p>
          <a:p>
            <a:r>
              <a:rPr lang="en-LK" sz="1000" dirty="0"/>
              <a:t>    return train_loader, val_loader</a:t>
            </a:r>
          </a:p>
        </p:txBody>
      </p:sp>
    </p:spTree>
    <p:extLst>
      <p:ext uri="{BB962C8B-B14F-4D97-AF65-F5344CB8AC3E}">
        <p14:creationId xmlns:p14="http://schemas.microsoft.com/office/powerpoint/2010/main" val="2056390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32C913-1F9A-1891-AC19-A5BA0716BC28}"/>
              </a:ext>
            </a:extLst>
          </p:cNvPr>
          <p:cNvSpPr txBox="1"/>
          <p:nvPr/>
        </p:nvSpPr>
        <p:spPr>
          <a:xfrm>
            <a:off x="362930" y="163510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Step 5 — Embeddings + Positional Encoding</a:t>
            </a:r>
            <a:endParaRPr lang="en-L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873A46-5E78-B67A-B716-21D3A3F1ACF3}"/>
              </a:ext>
            </a:extLst>
          </p:cNvPr>
          <p:cNvSpPr txBox="1"/>
          <p:nvPr/>
        </p:nvSpPr>
        <p:spPr>
          <a:xfrm>
            <a:off x="362930" y="532842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latin typeface="Courier New" panose="02070309020205020404" pitchFamily="49" charset="0"/>
              </a:rPr>
              <a:t>model.py</a:t>
            </a:r>
            <a:r>
              <a:rPr lang="en-GB" dirty="0"/>
              <a:t> — Part 1</a:t>
            </a:r>
            <a:endParaRPr lang="en-L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55D13B-0746-CC81-7264-D86AE14CC0C2}"/>
              </a:ext>
            </a:extLst>
          </p:cNvPr>
          <p:cNvSpPr txBox="1"/>
          <p:nvPr/>
        </p:nvSpPr>
        <p:spPr>
          <a:xfrm>
            <a:off x="5330284" y="163510"/>
            <a:ext cx="11909501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sz="1200" dirty="0"/>
              <a:t>import torch</a:t>
            </a:r>
          </a:p>
          <a:p>
            <a:r>
              <a:rPr lang="en-LK" sz="1200" dirty="0"/>
              <a:t>import torch.nn as nn</a:t>
            </a:r>
          </a:p>
          <a:p>
            <a:r>
              <a:rPr lang="en-LK" sz="1200" dirty="0"/>
              <a:t>import torch.nn.functional as F</a:t>
            </a:r>
          </a:p>
          <a:p>
            <a:r>
              <a:rPr lang="en-LK" sz="1200" dirty="0"/>
              <a:t>import math</a:t>
            </a:r>
          </a:p>
          <a:p>
            <a:r>
              <a:rPr lang="en-LK" sz="1200" dirty="0"/>
              <a:t>from config import GPTConfig</a:t>
            </a:r>
          </a:p>
          <a:p>
            <a:endParaRPr lang="en-LK" sz="1200" dirty="0"/>
          </a:p>
          <a:p>
            <a:r>
              <a:rPr lang="en-LK" sz="1200" dirty="0"/>
              <a:t>class Embeddings(nn.Module):</a:t>
            </a:r>
          </a:p>
          <a:p>
            <a:r>
              <a:rPr lang="en-LK" sz="1200" dirty="0"/>
              <a:t>    def __init__(self, cfg: GPTConfig):</a:t>
            </a:r>
          </a:p>
          <a:p>
            <a:r>
              <a:rPr lang="en-LK" sz="1200" dirty="0"/>
              <a:t>        super().__init__()</a:t>
            </a:r>
          </a:p>
          <a:p>
            <a:endParaRPr lang="en-LK" sz="1200" dirty="0"/>
          </a:p>
          <a:p>
            <a:r>
              <a:rPr lang="en-LK" sz="1200" dirty="0"/>
              <a:t>        # Token embedding: vocab_size × d_model lookup table</a:t>
            </a:r>
          </a:p>
          <a:p>
            <a:r>
              <a:rPr lang="en-LK" sz="1200" dirty="0"/>
              <a:t>        # Each token ID maps to a d_model-dim learned vector</a:t>
            </a:r>
          </a:p>
          <a:p>
            <a:r>
              <a:rPr lang="en-LK" sz="1200" dirty="0"/>
              <a:t>        self.tok_emb = nn.Embedding(cfg.vocab_size, cfg.d_model)</a:t>
            </a:r>
          </a:p>
          <a:p>
            <a:endParaRPr lang="en-LK" sz="1200" dirty="0"/>
          </a:p>
          <a:p>
            <a:r>
              <a:rPr lang="en-LK" sz="1200" dirty="0"/>
              <a:t>        # Positional embedding: seq_len × d_model lookup table</a:t>
            </a:r>
          </a:p>
          <a:p>
            <a:r>
              <a:rPr lang="en-LK" sz="1200" dirty="0"/>
              <a:t>        # Each position 0..seq_len-1 maps to a d_model-dim learned vector</a:t>
            </a:r>
          </a:p>
          <a:p>
            <a:r>
              <a:rPr lang="en-LK" sz="1200" dirty="0"/>
              <a:t>        # Note: GPT uses LEARNED position embeddings, not sinusoidal</a:t>
            </a:r>
          </a:p>
          <a:p>
            <a:r>
              <a:rPr lang="en-LK" sz="1200" dirty="0"/>
              <a:t>        self.pos_emb = nn.Embedding(cfg.seq_len, cfg.d_model)</a:t>
            </a:r>
          </a:p>
          <a:p>
            <a:endParaRPr lang="en-LK" sz="1200" dirty="0"/>
          </a:p>
          <a:p>
            <a:r>
              <a:rPr lang="en-LK" sz="1200" dirty="0"/>
              <a:t>        self.dropout = nn.Dropout(cfg.dropout)</a:t>
            </a:r>
          </a:p>
          <a:p>
            <a:r>
              <a:rPr lang="en-LK" sz="1200" dirty="0"/>
              <a:t>        self.seq_len = cfg.seq_len</a:t>
            </a:r>
          </a:p>
          <a:p>
            <a:endParaRPr lang="en-LK" sz="1200" dirty="0"/>
          </a:p>
          <a:p>
            <a:r>
              <a:rPr lang="en-LK" sz="1200" dirty="0"/>
              <a:t>    def forward(self, x):</a:t>
            </a:r>
          </a:p>
          <a:p>
            <a:r>
              <a:rPr lang="en-LK" sz="1200" dirty="0"/>
              <a:t>        # x shape: [batch_size, seq_len]</a:t>
            </a:r>
          </a:p>
          <a:p>
            <a:r>
              <a:rPr lang="en-LK" sz="1200" dirty="0"/>
              <a:t>        B, T = x.shape</a:t>
            </a:r>
          </a:p>
          <a:p>
            <a:endParaRPr lang="en-LK" sz="1200" dirty="0"/>
          </a:p>
          <a:p>
            <a:r>
              <a:rPr lang="en-LK" sz="1200" dirty="0"/>
              <a:t>        # Token embeddings</a:t>
            </a:r>
          </a:p>
          <a:p>
            <a:r>
              <a:rPr lang="en-LK" sz="1200" dirty="0"/>
              <a:t>        tok = self.tok_emb(x)           # [B, T, d_model]</a:t>
            </a:r>
          </a:p>
          <a:p>
            <a:endParaRPr lang="en-LK" sz="1200" dirty="0"/>
          </a:p>
          <a:p>
            <a:r>
              <a:rPr lang="en-LK" sz="1200" dirty="0"/>
              <a:t>        # Position embeddings</a:t>
            </a:r>
          </a:p>
          <a:p>
            <a:r>
              <a:rPr lang="en-LK" sz="1200" dirty="0"/>
              <a:t>        pos = torch.arange(T, device=x.device)   # [0, 1, 2, ..., T-1]</a:t>
            </a:r>
          </a:p>
          <a:p>
            <a:r>
              <a:rPr lang="en-LK" sz="1200" dirty="0"/>
              <a:t>        pos = self.pos_emb(pos)         # [T, d_model]</a:t>
            </a:r>
          </a:p>
          <a:p>
            <a:endParaRPr lang="en-LK" sz="1200" dirty="0"/>
          </a:p>
          <a:p>
            <a:r>
              <a:rPr lang="en-LK" sz="1200" dirty="0"/>
              <a:t>        # Add together (broadcasting: pos goes from [T,d] to [1,T,d])</a:t>
            </a:r>
          </a:p>
          <a:p>
            <a:r>
              <a:rPr lang="en-LK" sz="1200" dirty="0"/>
              <a:t>        out = self.dropout(tok + pos)   # [B, T, d_model]</a:t>
            </a:r>
          </a:p>
          <a:p>
            <a:r>
              <a:rPr lang="en-LK" sz="1200" dirty="0"/>
              <a:t>        return out</a:t>
            </a:r>
          </a:p>
          <a:p>
            <a:endParaRPr lang="en-LK" sz="1200" dirty="0"/>
          </a:p>
        </p:txBody>
      </p:sp>
    </p:spTree>
    <p:extLst>
      <p:ext uri="{BB962C8B-B14F-4D97-AF65-F5344CB8AC3E}">
        <p14:creationId xmlns:p14="http://schemas.microsoft.com/office/powerpoint/2010/main" val="3595960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A657D6-CE28-60FB-584A-DFBAB950ABFA}"/>
              </a:ext>
            </a:extLst>
          </p:cNvPr>
          <p:cNvSpPr txBox="1"/>
          <p:nvPr/>
        </p:nvSpPr>
        <p:spPr>
          <a:xfrm>
            <a:off x="540834" y="211203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Step 6 — Multi-Head Attention</a:t>
            </a:r>
            <a:endParaRPr lang="en-L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67907-DDCA-CD0A-CC8D-A81E3D021882}"/>
              </a:ext>
            </a:extLst>
          </p:cNvPr>
          <p:cNvSpPr txBox="1"/>
          <p:nvPr/>
        </p:nvSpPr>
        <p:spPr>
          <a:xfrm>
            <a:off x="540834" y="580535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latin typeface="Courier New" panose="02070309020205020404" pitchFamily="49" charset="0"/>
              </a:rPr>
              <a:t>model.py</a:t>
            </a:r>
            <a:r>
              <a:rPr lang="en-GB" dirty="0"/>
              <a:t> — Part 2</a:t>
            </a:r>
            <a:endParaRPr lang="en-L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05636-11AF-7523-4450-0745745854B5}"/>
              </a:ext>
            </a:extLst>
          </p:cNvPr>
          <p:cNvSpPr txBox="1"/>
          <p:nvPr/>
        </p:nvSpPr>
        <p:spPr>
          <a:xfrm>
            <a:off x="3852748" y="211203"/>
            <a:ext cx="9684834" cy="670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sz="1000" dirty="0"/>
              <a:t>class MultiHeadAttention(nn.Module):</a:t>
            </a:r>
          </a:p>
          <a:p>
            <a:r>
              <a:rPr lang="en-LK" sz="1000" dirty="0"/>
              <a:t>    def __init__(self, cfg):</a:t>
            </a:r>
          </a:p>
          <a:p>
            <a:r>
              <a:rPr lang="en-LK" sz="1000" dirty="0"/>
              <a:t>        super().__init__()</a:t>
            </a:r>
          </a:p>
          <a:p>
            <a:r>
              <a:rPr lang="en-LK" sz="1000" dirty="0"/>
              <a:t>        assert cfg.d_model % cfg.n_heads == 0</a:t>
            </a:r>
          </a:p>
          <a:p>
            <a:r>
              <a:rPr lang="en-LK" sz="1000" dirty="0"/>
              <a:t>        self.n_heads = cfg.n_heads</a:t>
            </a:r>
          </a:p>
          <a:p>
            <a:r>
              <a:rPr lang="en-LK" sz="1000" dirty="0"/>
              <a:t>        self.head_dim = cfg.d_model // cfg.n_heads</a:t>
            </a:r>
          </a:p>
          <a:p>
            <a:r>
              <a:rPr lang="en-LK" sz="1000" dirty="0"/>
              <a:t>        self.seq_len = cfg.seq_len</a:t>
            </a:r>
          </a:p>
          <a:p>
            <a:r>
              <a:rPr lang="en-LK" sz="1000" dirty="0"/>
              <a:t>        self.W_q = nn.Linear(cfg.d_model, cfg.d_model, bias=False)</a:t>
            </a:r>
          </a:p>
          <a:p>
            <a:r>
              <a:rPr lang="en-LK" sz="1000" dirty="0"/>
              <a:t>        self.W_k = nn.Linear(cfg.d_model, cfg.d_model, bias=False)</a:t>
            </a:r>
          </a:p>
          <a:p>
            <a:r>
              <a:rPr lang="en-LK" sz="1000" dirty="0"/>
              <a:t>        self.W_v = nn.Linear(cfg.d_model, cfg.d_model, bias=False)</a:t>
            </a:r>
          </a:p>
          <a:p>
            <a:r>
              <a:rPr lang="en-LK" sz="1000" dirty="0"/>
              <a:t>        self.out_proj = nn.Linear(cfg.d_model, cfg.d_model, bias=False)</a:t>
            </a:r>
          </a:p>
          <a:p>
            <a:r>
              <a:rPr lang="en-LK" sz="1000" dirty="0"/>
              <a:t>        self.attn_dropout = nn.Dropout(cfg.dropout)</a:t>
            </a:r>
          </a:p>
          <a:p>
            <a:r>
              <a:rPr lang="en-LK" sz="1000" dirty="0"/>
              <a:t>        self.out_dropout = nn.Dropout(cfg.dropout)</a:t>
            </a:r>
          </a:p>
          <a:p>
            <a:r>
              <a:rPr lang="en-LK" sz="1000" dirty="0"/>
              <a:t>        self.register_buffer(</a:t>
            </a:r>
          </a:p>
          <a:p>
            <a:r>
              <a:rPr lang="en-LK" sz="1000" dirty="0"/>
              <a:t>            "mask",</a:t>
            </a:r>
          </a:p>
          <a:p>
            <a:r>
              <a:rPr lang="en-LK" sz="1000" dirty="0"/>
              <a:t>            torch.triu(torch.ones(cfg.seq_len, cfg.seq_len), diagonal=1).bool()</a:t>
            </a:r>
          </a:p>
          <a:p>
            <a:r>
              <a:rPr lang="en-LK" sz="1000" dirty="0"/>
              <a:t>        )</a:t>
            </a:r>
          </a:p>
          <a:p>
            <a:endParaRPr lang="en-LK" sz="1000" dirty="0"/>
          </a:p>
          <a:p>
            <a:r>
              <a:rPr lang="en-LK" sz="1000" dirty="0"/>
              <a:t>    def forward(self, x):</a:t>
            </a:r>
          </a:p>
          <a:p>
            <a:r>
              <a:rPr lang="en-LK" sz="1000" dirty="0"/>
              <a:t>        B, T, C = x.shape</a:t>
            </a:r>
          </a:p>
          <a:p>
            <a:r>
              <a:rPr lang="en-LK" sz="1000" dirty="0"/>
              <a:t>        Q = self.W_q(x)</a:t>
            </a:r>
          </a:p>
          <a:p>
            <a:r>
              <a:rPr lang="en-LK" sz="1000" dirty="0"/>
              <a:t>        K = self.W_k(x)</a:t>
            </a:r>
          </a:p>
          <a:p>
            <a:r>
              <a:rPr lang="en-LK" sz="1000" dirty="0"/>
              <a:t>        V = self.W_v(x)</a:t>
            </a:r>
          </a:p>
          <a:p>
            <a:r>
              <a:rPr lang="en-LK" sz="1000" dirty="0"/>
              <a:t>        Q = Q.view(B, T, self.n_heads, self.head_dim).transpose(1, 2)</a:t>
            </a:r>
          </a:p>
          <a:p>
            <a:r>
              <a:rPr lang="en-LK" sz="1000" dirty="0"/>
              <a:t>        K = K.view(B, T, self.n_heads, self.head_dim).transpose(1, 2)</a:t>
            </a:r>
          </a:p>
          <a:p>
            <a:r>
              <a:rPr lang="en-LK" sz="1000" dirty="0"/>
              <a:t>        V = V.view(B, T, self.n_heads, self.head_dim).transpose(1, 2)</a:t>
            </a:r>
          </a:p>
          <a:p>
            <a:r>
              <a:rPr lang="en-LK" sz="1000" dirty="0"/>
              <a:t>        scores = (Q @ K.transpose(-2, -1)) / math.sqrt(self.head_dim)</a:t>
            </a:r>
          </a:p>
          <a:p>
            <a:r>
              <a:rPr lang="en-LK" sz="1000" dirty="0"/>
              <a:t>        scores = scores.masked_fill(</a:t>
            </a:r>
          </a:p>
          <a:p>
            <a:r>
              <a:rPr lang="en-LK" sz="1000" dirty="0"/>
              <a:t>            self.mask[:T, :T],</a:t>
            </a:r>
          </a:p>
          <a:p>
            <a:r>
              <a:rPr lang="en-LK" sz="1000" dirty="0"/>
              <a:t>            torch.finfo(scores.dtype).min</a:t>
            </a:r>
          </a:p>
          <a:p>
            <a:r>
              <a:rPr lang="en-LK" sz="1000" dirty="0"/>
              <a:t>        )</a:t>
            </a:r>
          </a:p>
          <a:p>
            <a:endParaRPr lang="en-LK" sz="1000" dirty="0"/>
          </a:p>
          <a:p>
            <a:r>
              <a:rPr lang="en-LK" sz="1000" dirty="0"/>
              <a:t>        weights = F.softmax(scores, dim=-1)</a:t>
            </a:r>
          </a:p>
          <a:p>
            <a:r>
              <a:rPr lang="en-LK" sz="1000" dirty="0"/>
              <a:t>        weights = self.attn_dropout(weights)</a:t>
            </a:r>
          </a:p>
          <a:p>
            <a:endParaRPr lang="en-LK" sz="1000" dirty="0"/>
          </a:p>
          <a:p>
            <a:r>
              <a:rPr lang="en-LK" sz="1000" dirty="0"/>
              <a:t>        out = weights @ V</a:t>
            </a:r>
          </a:p>
          <a:p>
            <a:r>
              <a:rPr lang="en-LK" sz="1000" dirty="0"/>
              <a:t>        out = out.transpose(1, 2).contiguous().view(B, T, C)</a:t>
            </a:r>
          </a:p>
          <a:p>
            <a:endParaRPr lang="en-LK" sz="1000" dirty="0"/>
          </a:p>
          <a:p>
            <a:r>
              <a:rPr lang="en-LK" sz="1000" dirty="0"/>
              <a:t>        out = self.out_proj(out)</a:t>
            </a:r>
          </a:p>
          <a:p>
            <a:r>
              <a:rPr lang="en-LK" sz="1000" dirty="0"/>
              <a:t>        out = self.out_dropout(out)</a:t>
            </a:r>
          </a:p>
          <a:p>
            <a:endParaRPr lang="en-LK" sz="1000" dirty="0"/>
          </a:p>
          <a:p>
            <a:r>
              <a:rPr lang="en-LK" sz="1000" dirty="0"/>
              <a:t>        return out</a:t>
            </a:r>
          </a:p>
        </p:txBody>
      </p:sp>
    </p:spTree>
    <p:extLst>
      <p:ext uri="{BB962C8B-B14F-4D97-AF65-F5344CB8AC3E}">
        <p14:creationId xmlns:p14="http://schemas.microsoft.com/office/powerpoint/2010/main" val="2895650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26A2EF-3E02-F0C7-3E78-BA7FA90579B9}"/>
              </a:ext>
            </a:extLst>
          </p:cNvPr>
          <p:cNvSpPr txBox="1"/>
          <p:nvPr/>
        </p:nvSpPr>
        <p:spPr>
          <a:xfrm>
            <a:off x="369277" y="111512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Step 7 — FFN Block</a:t>
            </a:r>
            <a:endParaRPr lang="en-LK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7A4187E-ED59-529C-7F34-49917F631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77" y="48084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LK" altLang="en-LK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model.py</a:t>
            </a:r>
            <a:r>
              <a:rPr kumimoji="0" lang="en-LK" altLang="en-LK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Part 3</a:t>
            </a:r>
            <a:endParaRPr kumimoji="0" lang="en-LK" altLang="en-L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LK" altLang="en-L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C26D67-B157-4C91-D63E-1E985641F10A}"/>
              </a:ext>
            </a:extLst>
          </p:cNvPr>
          <p:cNvSpPr txBox="1"/>
          <p:nvPr/>
        </p:nvSpPr>
        <p:spPr>
          <a:xfrm>
            <a:off x="369276" y="1117553"/>
            <a:ext cx="965566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class FFN(nn.Module):</a:t>
            </a:r>
          </a:p>
          <a:p>
            <a:r>
              <a:rPr lang="en-LK" dirty="0"/>
              <a:t>    def __init__(self, cfg: GPTConfig):</a:t>
            </a:r>
          </a:p>
          <a:p>
            <a:r>
              <a:rPr lang="en-LK" dirty="0"/>
              <a:t>        super().__init__()</a:t>
            </a:r>
          </a:p>
          <a:p>
            <a:r>
              <a:rPr lang="en-LK" dirty="0"/>
              <a:t>        self.net = nn.Sequential(</a:t>
            </a:r>
          </a:p>
          <a:p>
            <a:r>
              <a:rPr lang="en-LK" dirty="0"/>
              <a:t>            # W1: expand d_model → d_ff (4× expansion)</a:t>
            </a:r>
          </a:p>
          <a:p>
            <a:r>
              <a:rPr lang="en-LK" dirty="0"/>
              <a:t>            nn.Linear(cfg.d_model, cfg.d_ff),</a:t>
            </a:r>
          </a:p>
          <a:p>
            <a:r>
              <a:rPr lang="en-LK" dirty="0"/>
              <a:t>            # GELU activation</a:t>
            </a:r>
          </a:p>
          <a:p>
            <a:r>
              <a:rPr lang="en-LK" dirty="0"/>
              <a:t>            nn.GELU(),</a:t>
            </a:r>
          </a:p>
          <a:p>
            <a:r>
              <a:rPr lang="en-LK" dirty="0"/>
              <a:t>            # W2: compress d_ff → d_model</a:t>
            </a:r>
          </a:p>
          <a:p>
            <a:r>
              <a:rPr lang="en-LK" dirty="0"/>
              <a:t>            nn.Linear(cfg.d_ff, cfg.d_model),</a:t>
            </a:r>
          </a:p>
          <a:p>
            <a:r>
              <a:rPr lang="en-LK" dirty="0"/>
              <a:t>            # Dropout</a:t>
            </a:r>
          </a:p>
          <a:p>
            <a:r>
              <a:rPr lang="en-LK" dirty="0"/>
              <a:t>            nn.Dropout(cfg.dropout),</a:t>
            </a:r>
          </a:p>
          <a:p>
            <a:r>
              <a:rPr lang="en-LK" dirty="0"/>
              <a:t>        )</a:t>
            </a:r>
          </a:p>
          <a:p>
            <a:endParaRPr lang="en-LK" dirty="0"/>
          </a:p>
          <a:p>
            <a:r>
              <a:rPr lang="en-LK" dirty="0"/>
              <a:t>    def forward(self, x):</a:t>
            </a:r>
          </a:p>
          <a:p>
            <a:r>
              <a:rPr lang="en-LK" dirty="0"/>
              <a:t>        # x: [B, T, d_model]</a:t>
            </a:r>
          </a:p>
          <a:p>
            <a:r>
              <a:rPr lang="en-LK" dirty="0"/>
              <a:t>        return self.net(x)   # [B, T, d_model]</a:t>
            </a:r>
          </a:p>
        </p:txBody>
      </p:sp>
    </p:spTree>
    <p:extLst>
      <p:ext uri="{BB962C8B-B14F-4D97-AF65-F5344CB8AC3E}">
        <p14:creationId xmlns:p14="http://schemas.microsoft.com/office/powerpoint/2010/main" val="3354759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1D7976-72AA-05A9-C605-69FB13BD5238}"/>
              </a:ext>
            </a:extLst>
          </p:cNvPr>
          <p:cNvSpPr txBox="1"/>
          <p:nvPr/>
        </p:nvSpPr>
        <p:spPr>
          <a:xfrm>
            <a:off x="540835" y="155446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Step 8 — Transformer Block</a:t>
            </a:r>
            <a:endParaRPr lang="en-LK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6ED2380-8D78-36BC-C973-2189C83FC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835" y="52477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LK" altLang="en-LK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model.py</a:t>
            </a:r>
            <a:r>
              <a:rPr kumimoji="0" lang="en-LK" altLang="en-LK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— Part 4</a:t>
            </a:r>
            <a:endParaRPr kumimoji="0" lang="en-LK" altLang="en-L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LK" altLang="en-L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BD4DF7-6AEC-2374-354A-008469DC46FF}"/>
              </a:ext>
            </a:extLst>
          </p:cNvPr>
          <p:cNvSpPr txBox="1"/>
          <p:nvPr/>
        </p:nvSpPr>
        <p:spPr>
          <a:xfrm>
            <a:off x="540835" y="894110"/>
            <a:ext cx="970713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class TransformerBlock(nn.Module):</a:t>
            </a:r>
          </a:p>
          <a:p>
            <a:r>
              <a:rPr lang="en-LK" dirty="0"/>
              <a:t>    def __init__(self, cfg: GPTConfig):</a:t>
            </a:r>
          </a:p>
          <a:p>
            <a:r>
              <a:rPr lang="en-LK" dirty="0"/>
              <a:t>        super().__init__()</a:t>
            </a:r>
          </a:p>
          <a:p>
            <a:r>
              <a:rPr lang="en-LK" dirty="0"/>
              <a:t>        self.ln1  = nn.LayerNorm(cfg.d_model)</a:t>
            </a:r>
          </a:p>
          <a:p>
            <a:r>
              <a:rPr lang="en-LK" dirty="0"/>
              <a:t>        self.attn = MultiHeadAttention(cfg)</a:t>
            </a:r>
          </a:p>
          <a:p>
            <a:r>
              <a:rPr lang="en-LK" dirty="0"/>
              <a:t>        self.ln2  = nn.LayerNorm(cfg.d_model)</a:t>
            </a:r>
          </a:p>
          <a:p>
            <a:r>
              <a:rPr lang="en-LK" dirty="0"/>
              <a:t>        self.ffn  = FFN(cfg)</a:t>
            </a:r>
          </a:p>
          <a:p>
            <a:endParaRPr lang="en-LK" dirty="0"/>
          </a:p>
          <a:p>
            <a:r>
              <a:rPr lang="en-LK" dirty="0"/>
              <a:t>    def forward(self, x):</a:t>
            </a:r>
          </a:p>
          <a:p>
            <a:r>
              <a:rPr lang="en-LK" dirty="0"/>
              <a:t>        # Pre-norm style (normalize BEFORE sublayer, then add residual)</a:t>
            </a:r>
          </a:p>
          <a:p>
            <a:r>
              <a:rPr lang="en-LK" dirty="0"/>
              <a:t>        # This is more stable than post-norm</a:t>
            </a:r>
          </a:p>
          <a:p>
            <a:endParaRPr lang="en-LK" dirty="0"/>
          </a:p>
          <a:p>
            <a:r>
              <a:rPr lang="en-LK" dirty="0"/>
              <a:t>        # Attention sublayer</a:t>
            </a:r>
          </a:p>
          <a:p>
            <a:r>
              <a:rPr lang="en-LK" dirty="0"/>
              <a:t>        x = x + self.attn(self.ln1(x))</a:t>
            </a:r>
          </a:p>
          <a:p>
            <a:r>
              <a:rPr lang="en-LK" dirty="0"/>
              <a:t>        #   ↑ residual        ↑ attention on normalized x</a:t>
            </a:r>
          </a:p>
          <a:p>
            <a:endParaRPr lang="en-LK" dirty="0"/>
          </a:p>
          <a:p>
            <a:r>
              <a:rPr lang="en-LK" dirty="0"/>
              <a:t>        # FFN sublayer</a:t>
            </a:r>
          </a:p>
          <a:p>
            <a:r>
              <a:rPr lang="en-LK" dirty="0"/>
              <a:t>        x = x + self.ffn(self.ln2(x))</a:t>
            </a:r>
          </a:p>
          <a:p>
            <a:r>
              <a:rPr lang="en-LK" dirty="0"/>
              <a:t>        #   ↑ residual       ↑ FFN on normalized x</a:t>
            </a:r>
          </a:p>
          <a:p>
            <a:endParaRPr lang="en-LK" dirty="0"/>
          </a:p>
          <a:p>
            <a:r>
              <a:rPr lang="en-LK" dirty="0"/>
              <a:t>        return x   # [B, T, d_model]</a:t>
            </a:r>
          </a:p>
        </p:txBody>
      </p:sp>
    </p:spTree>
    <p:extLst>
      <p:ext uri="{BB962C8B-B14F-4D97-AF65-F5344CB8AC3E}">
        <p14:creationId xmlns:p14="http://schemas.microsoft.com/office/powerpoint/2010/main" val="3372360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2E2268-A50A-86A9-36B1-109CE580815E}"/>
              </a:ext>
            </a:extLst>
          </p:cNvPr>
          <p:cNvSpPr txBox="1"/>
          <p:nvPr/>
        </p:nvSpPr>
        <p:spPr>
          <a:xfrm>
            <a:off x="407020" y="144295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Step 9 — Full GPT Model</a:t>
            </a:r>
            <a:endParaRPr lang="en-LK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6FCF9AC-85FA-C46D-8176-16BA35596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020" y="57005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LK" altLang="en-LK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model.py</a:t>
            </a:r>
            <a:r>
              <a:rPr kumimoji="0" lang="en-LK" altLang="en-LK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— Part 5</a:t>
            </a:r>
            <a:endParaRPr kumimoji="0" lang="en-LK" altLang="en-L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LK" altLang="en-L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46266B-E86F-41FA-0406-64B0819F369A}"/>
              </a:ext>
            </a:extLst>
          </p:cNvPr>
          <p:cNvSpPr txBox="1"/>
          <p:nvPr/>
        </p:nvSpPr>
        <p:spPr>
          <a:xfrm>
            <a:off x="407020" y="1166842"/>
            <a:ext cx="825747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class GPT(nn.Module):</a:t>
            </a:r>
          </a:p>
          <a:p>
            <a:r>
              <a:rPr lang="en-LK" dirty="0"/>
              <a:t>    def __init__(self, cfg: GPTConfig):</a:t>
            </a:r>
          </a:p>
          <a:p>
            <a:r>
              <a:rPr lang="en-LK" dirty="0"/>
              <a:t>        super().__init__()</a:t>
            </a:r>
          </a:p>
          <a:p>
            <a:r>
              <a:rPr lang="en-LK" dirty="0"/>
              <a:t>        self.embed = Embeddings(cfg)</a:t>
            </a:r>
          </a:p>
          <a:p>
            <a:r>
              <a:rPr lang="en-LK" dirty="0"/>
              <a:t>        self.blocks = nn.Sequential(</a:t>
            </a:r>
          </a:p>
          <a:p>
            <a:r>
              <a:rPr lang="en-LK" dirty="0"/>
              <a:t>            *[TransformerBlock(cfg) for _ in range(cfg.n_layers)]</a:t>
            </a:r>
          </a:p>
          <a:p>
            <a:r>
              <a:rPr lang="en-LK" dirty="0"/>
              <a:t>        )</a:t>
            </a:r>
          </a:p>
          <a:p>
            <a:r>
              <a:rPr lang="en-LK" dirty="0"/>
              <a:t>        self.final_norm = nn.LayerNorm(cfg.d_model)</a:t>
            </a:r>
          </a:p>
          <a:p>
            <a:r>
              <a:rPr lang="en-LK" dirty="0"/>
              <a:t>        self.out_head = nn.Linear(cfg.d_model, cfg.vocab_size, bias=False)</a:t>
            </a:r>
          </a:p>
          <a:p>
            <a:endParaRPr lang="en-LK" dirty="0"/>
          </a:p>
          <a:p>
            <a:r>
              <a:rPr lang="en-LK" dirty="0"/>
              <a:t>    def forward(self, x):</a:t>
            </a:r>
          </a:p>
          <a:p>
            <a:r>
              <a:rPr lang="en-LK" dirty="0"/>
              <a:t>        x = self.embed(x)</a:t>
            </a:r>
          </a:p>
          <a:p>
            <a:r>
              <a:rPr lang="en-LK" dirty="0"/>
              <a:t>        x = self.blocks(x)</a:t>
            </a:r>
          </a:p>
          <a:p>
            <a:r>
              <a:rPr lang="en-LK" dirty="0"/>
              <a:t>        x = self.final_norm(x)</a:t>
            </a:r>
          </a:p>
          <a:p>
            <a:r>
              <a:rPr lang="en-LK" dirty="0"/>
              <a:t>        return self.out_head(x)</a:t>
            </a:r>
          </a:p>
        </p:txBody>
      </p:sp>
    </p:spTree>
    <p:extLst>
      <p:ext uri="{BB962C8B-B14F-4D97-AF65-F5344CB8AC3E}">
        <p14:creationId xmlns:p14="http://schemas.microsoft.com/office/powerpoint/2010/main" val="3811802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659EE8-0B35-8363-9C46-5A2B13FD9D05}"/>
              </a:ext>
            </a:extLst>
          </p:cNvPr>
          <p:cNvSpPr txBox="1"/>
          <p:nvPr/>
        </p:nvSpPr>
        <p:spPr>
          <a:xfrm>
            <a:off x="563137" y="110841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Step 10 — Training Loop</a:t>
            </a:r>
            <a:endParaRPr lang="en-LK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7B0BE54-5388-85F1-C758-0640963A9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137" y="48017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LK" altLang="en-LK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train.py</a:t>
            </a:r>
            <a:endParaRPr kumimoji="0" lang="en-LK" altLang="en-LK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LK" altLang="en-L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AB9E34-B316-E0D4-57E7-C7F5F9427B19}"/>
              </a:ext>
            </a:extLst>
          </p:cNvPr>
          <p:cNvSpPr txBox="1"/>
          <p:nvPr/>
        </p:nvSpPr>
        <p:spPr>
          <a:xfrm>
            <a:off x="3155795" y="480173"/>
            <a:ext cx="12656634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sz="1000" dirty="0"/>
              <a:t>import torch</a:t>
            </a:r>
          </a:p>
          <a:p>
            <a:r>
              <a:rPr lang="en-LK" sz="1000" dirty="0"/>
              <a:t>import os</a:t>
            </a:r>
          </a:p>
          <a:p>
            <a:r>
              <a:rPr lang="en-LK" sz="1000" dirty="0"/>
              <a:t>from config import GPTConfig</a:t>
            </a:r>
          </a:p>
          <a:p>
            <a:r>
              <a:rPr lang="en-LK" sz="1000" dirty="0"/>
              <a:t>from model import GPT</a:t>
            </a:r>
          </a:p>
          <a:p>
            <a:r>
              <a:rPr lang="en-LK" sz="1000" dirty="0"/>
              <a:t>from dataset import get_data</a:t>
            </a:r>
          </a:p>
          <a:p>
            <a:r>
              <a:rPr lang="en-LK" sz="1000" dirty="0"/>
              <a:t>import torch.nn as nn</a:t>
            </a:r>
          </a:p>
          <a:p>
            <a:r>
              <a:rPr lang="en-LK" sz="1000" dirty="0"/>
              <a:t>import time</a:t>
            </a:r>
          </a:p>
          <a:p>
            <a:endParaRPr lang="en-LK" sz="1000" dirty="0"/>
          </a:p>
          <a:p>
            <a:r>
              <a:rPr lang="en-LK" sz="1000" dirty="0"/>
              <a:t>cfg = GPTConfig(</a:t>
            </a:r>
          </a:p>
          <a:p>
            <a:r>
              <a:rPr lang="en-LK" sz="1000" dirty="0"/>
              <a:t>    vocab_size=50257,</a:t>
            </a:r>
          </a:p>
          <a:p>
            <a:r>
              <a:rPr lang="en-LK" sz="1000" dirty="0"/>
              <a:t>    seq_len=64,</a:t>
            </a:r>
          </a:p>
          <a:p>
            <a:r>
              <a:rPr lang="en-LK" sz="1000" dirty="0"/>
              <a:t>    d_model=64,</a:t>
            </a:r>
          </a:p>
          <a:p>
            <a:r>
              <a:rPr lang="en-LK" sz="1000" dirty="0"/>
              <a:t>    n_heads=4,</a:t>
            </a:r>
          </a:p>
          <a:p>
            <a:r>
              <a:rPr lang="en-LK" sz="1000" dirty="0"/>
              <a:t>    n_layers=4,</a:t>
            </a:r>
          </a:p>
          <a:p>
            <a:r>
              <a:rPr lang="en-LK" sz="1000" dirty="0"/>
              <a:t>    d_ff=256,</a:t>
            </a:r>
          </a:p>
          <a:p>
            <a:r>
              <a:rPr lang="en-LK" sz="1000" dirty="0"/>
              <a:t>    dropout=0.1,</a:t>
            </a:r>
          </a:p>
          <a:p>
            <a:r>
              <a:rPr lang="en-LK" sz="1000" dirty="0"/>
              <a:t>    batch_size=16,</a:t>
            </a:r>
          </a:p>
          <a:p>
            <a:r>
              <a:rPr lang="en-LK" sz="1000" dirty="0"/>
              <a:t>    lr=3e-4,</a:t>
            </a:r>
          </a:p>
          <a:p>
            <a:r>
              <a:rPr lang="en-LK" sz="1000" dirty="0"/>
              <a:t>    max_iters=5000,</a:t>
            </a:r>
          </a:p>
          <a:p>
            <a:r>
              <a:rPr lang="en-LK" sz="1000" dirty="0"/>
              <a:t>)</a:t>
            </a:r>
          </a:p>
          <a:p>
            <a:endParaRPr lang="en-LK" sz="1000" dirty="0"/>
          </a:p>
          <a:p>
            <a:r>
              <a:rPr lang="en-LK" sz="1000" dirty="0"/>
              <a:t>train_loader, val_loader = get_data(cfg.seq_len, cfg.batch_size)</a:t>
            </a:r>
          </a:p>
          <a:p>
            <a:r>
              <a:rPr lang="en-LK" sz="1000" dirty="0"/>
              <a:t>model = GPT(cfg).to(cfg.device)</a:t>
            </a:r>
          </a:p>
          <a:p>
            <a:endParaRPr lang="en-LK" sz="1000" dirty="0"/>
          </a:p>
          <a:p>
            <a:r>
              <a:rPr lang="en-LK" sz="1000" dirty="0"/>
              <a:t>optimizer = torch.optim.AdamW(</a:t>
            </a:r>
          </a:p>
          <a:p>
            <a:r>
              <a:rPr lang="en-LK" sz="1000" dirty="0"/>
              <a:t>    model.parameters(),</a:t>
            </a:r>
          </a:p>
          <a:p>
            <a:r>
              <a:rPr lang="en-LK" sz="1000" dirty="0"/>
              <a:t>    lr=cfg.lr,</a:t>
            </a:r>
          </a:p>
          <a:p>
            <a:r>
              <a:rPr lang="en-LK" sz="1000" dirty="0"/>
              <a:t>    weight_decay=0.1,</a:t>
            </a:r>
          </a:p>
          <a:p>
            <a:r>
              <a:rPr lang="en-LK" sz="1000" dirty="0"/>
              <a:t>    betas=(0.9, 0.95),</a:t>
            </a:r>
          </a:p>
          <a:p>
            <a:r>
              <a:rPr lang="en-LK" sz="1000" dirty="0"/>
              <a:t>)</a:t>
            </a:r>
          </a:p>
          <a:p>
            <a:endParaRPr lang="en-LK" sz="1000" dirty="0"/>
          </a:p>
          <a:p>
            <a:r>
              <a:rPr lang="en-LK" sz="1000" dirty="0"/>
              <a:t>total_params = sum(p.numel() for p in model.parameters())</a:t>
            </a:r>
          </a:p>
          <a:p>
            <a:r>
              <a:rPr lang="en-LK" sz="1000" dirty="0"/>
              <a:t>print(f"Total parameters: {total_params:,}")</a:t>
            </a:r>
          </a:p>
          <a:p>
            <a:endParaRPr lang="en-LK" sz="1000" dirty="0"/>
          </a:p>
          <a:p>
            <a:r>
              <a:rPr lang="en-LK" sz="1000" dirty="0"/>
              <a:t>trainable_params = sum(p.numel() for p in model.parameters() if p.requires_grad)</a:t>
            </a:r>
          </a:p>
          <a:p>
            <a:r>
              <a:rPr lang="en-LK" sz="1000" dirty="0"/>
              <a:t>print(f"Trainable parameters: {trainable_params:,}")</a:t>
            </a:r>
          </a:p>
          <a:p>
            <a:endParaRPr lang="en-LK" sz="1000" dirty="0"/>
          </a:p>
          <a:p>
            <a:r>
              <a:rPr lang="en-LK" sz="1000" dirty="0"/>
              <a:t>criterion = nn.CrossEntropyLoss()</a:t>
            </a:r>
          </a:p>
        </p:txBody>
      </p:sp>
    </p:spTree>
    <p:extLst>
      <p:ext uri="{BB962C8B-B14F-4D97-AF65-F5344CB8AC3E}">
        <p14:creationId xmlns:p14="http://schemas.microsoft.com/office/powerpoint/2010/main" val="2957930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01AEEF-36B0-E710-C946-4A98793D4E84}"/>
              </a:ext>
            </a:extLst>
          </p:cNvPr>
          <p:cNvSpPr txBox="1"/>
          <p:nvPr/>
        </p:nvSpPr>
        <p:spPr>
          <a:xfrm>
            <a:off x="306659" y="330699"/>
            <a:ext cx="6099716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sz="1000" dirty="0"/>
              <a:t>def train():</a:t>
            </a:r>
          </a:p>
          <a:p>
            <a:r>
              <a:rPr lang="en-LK" sz="1000" dirty="0"/>
              <a:t>    print(f"Training on:{cfg.device}")</a:t>
            </a:r>
          </a:p>
          <a:p>
            <a:r>
              <a:rPr lang="en-LK" sz="1000" dirty="0"/>
              <a:t>    model.train()</a:t>
            </a:r>
          </a:p>
          <a:p>
            <a:r>
              <a:rPr lang="en-LK" sz="1000" dirty="0"/>
              <a:t>    step = 0</a:t>
            </a:r>
          </a:p>
          <a:p>
            <a:r>
              <a:rPr lang="en-LK" sz="1000" dirty="0"/>
              <a:t>    start_time = time.time()</a:t>
            </a:r>
          </a:p>
          <a:p>
            <a:endParaRPr lang="en-LK" sz="1000" dirty="0"/>
          </a:p>
          <a:p>
            <a:r>
              <a:rPr lang="en-LK" sz="1000" dirty="0"/>
              <a:t>    for epoch in range(cfg.max_iters):</a:t>
            </a:r>
          </a:p>
          <a:p>
            <a:r>
              <a:rPr lang="en-LK" sz="1000" dirty="0"/>
              <a:t>        for x, y in train_loader:</a:t>
            </a:r>
          </a:p>
          <a:p>
            <a:r>
              <a:rPr lang="en-LK" sz="1000" dirty="0"/>
              <a:t>            x = x.to(cfg.device)</a:t>
            </a:r>
          </a:p>
          <a:p>
            <a:r>
              <a:rPr lang="en-LK" sz="1000" dirty="0"/>
              <a:t>            y = y.to(cfg.device)</a:t>
            </a:r>
          </a:p>
          <a:p>
            <a:endParaRPr lang="en-LK" sz="1000" dirty="0"/>
          </a:p>
          <a:p>
            <a:r>
              <a:rPr lang="en-LK" sz="1000" dirty="0"/>
              <a:t>            logits = model(x)</a:t>
            </a:r>
          </a:p>
          <a:p>
            <a:endParaRPr lang="en-LK" sz="1000" dirty="0"/>
          </a:p>
          <a:p>
            <a:r>
              <a:rPr lang="en-LK" sz="1000" dirty="0"/>
              <a:t>            loss = criterion(</a:t>
            </a:r>
          </a:p>
          <a:p>
            <a:r>
              <a:rPr lang="en-LK" sz="1000" dirty="0"/>
              <a:t>                logits.view(-1, logits.size(-1)),</a:t>
            </a:r>
          </a:p>
          <a:p>
            <a:r>
              <a:rPr lang="en-LK" sz="1000" dirty="0"/>
              <a:t>                y.view(-1)</a:t>
            </a:r>
          </a:p>
          <a:p>
            <a:r>
              <a:rPr lang="en-LK" sz="1000" dirty="0"/>
              <a:t>            )</a:t>
            </a:r>
          </a:p>
          <a:p>
            <a:endParaRPr lang="en-LK" sz="1000" dirty="0"/>
          </a:p>
          <a:p>
            <a:r>
              <a:rPr lang="en-LK" sz="1000" dirty="0"/>
              <a:t>            optimizer.zero_grad()</a:t>
            </a:r>
          </a:p>
          <a:p>
            <a:r>
              <a:rPr lang="en-LK" sz="1000" dirty="0"/>
              <a:t>            loss.backward()</a:t>
            </a:r>
          </a:p>
          <a:p>
            <a:r>
              <a:rPr lang="en-LK" sz="1000" dirty="0"/>
              <a:t>            optimizer.step()</a:t>
            </a:r>
          </a:p>
          <a:p>
            <a:endParaRPr lang="en-LK" sz="1000" dirty="0"/>
          </a:p>
          <a:p>
            <a:r>
              <a:rPr lang="en-LK" sz="1000" dirty="0"/>
              <a:t>            step += 1</a:t>
            </a:r>
          </a:p>
          <a:p>
            <a:endParaRPr lang="en-LK" sz="1000" dirty="0"/>
          </a:p>
          <a:p>
            <a:r>
              <a:rPr lang="en-LK" sz="1000" dirty="0"/>
              <a:t>            if step % 10 == 0:</a:t>
            </a:r>
          </a:p>
          <a:p>
            <a:r>
              <a:rPr lang="en-LK" sz="1000" dirty="0"/>
              <a:t>                elapsed = time.time() - start_time</a:t>
            </a:r>
          </a:p>
          <a:p>
            <a:r>
              <a:rPr lang="en-LK" sz="1000" dirty="0"/>
              <a:t>                print(f"Step {step} | Loss: {loss.item():.4f} | Time: {elapsed:.2f}s")</a:t>
            </a:r>
          </a:p>
          <a:p>
            <a:endParaRPr lang="en-LK" sz="1000" dirty="0"/>
          </a:p>
          <a:p>
            <a:r>
              <a:rPr lang="en-LK" sz="1000" dirty="0"/>
              <a:t>            if step % 500 == 0:</a:t>
            </a:r>
          </a:p>
          <a:p>
            <a:r>
              <a:rPr lang="en-LK" sz="1000" dirty="0"/>
              <a:t>                save_checkpoint(step)</a:t>
            </a:r>
          </a:p>
          <a:p>
            <a:endParaRPr lang="en-LK" sz="1000" dirty="0"/>
          </a:p>
          <a:p>
            <a:r>
              <a:rPr lang="en-LK" sz="1000" dirty="0"/>
              <a:t>            if step &gt;= cfg.max_iters:</a:t>
            </a:r>
          </a:p>
          <a:p>
            <a:r>
              <a:rPr lang="en-LK" sz="1000" dirty="0"/>
              <a:t>                print("Training complete.")</a:t>
            </a:r>
          </a:p>
          <a:p>
            <a:r>
              <a:rPr lang="en-LK" sz="1000" dirty="0"/>
              <a:t>                return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2F444E-9532-2DD2-F9B4-C59ACF6BDF94}"/>
              </a:ext>
            </a:extLst>
          </p:cNvPr>
          <p:cNvSpPr txBox="1"/>
          <p:nvPr/>
        </p:nvSpPr>
        <p:spPr>
          <a:xfrm>
            <a:off x="5785625" y="330699"/>
            <a:ext cx="609971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sz="1000" dirty="0"/>
              <a:t>def save_checkpoint(step):</a:t>
            </a:r>
          </a:p>
          <a:p>
            <a:r>
              <a:rPr lang="en-LK" sz="1000" dirty="0"/>
              <a:t>    os.makedirs("checkpoints", exist_ok=True)</a:t>
            </a:r>
          </a:p>
          <a:p>
            <a:r>
              <a:rPr lang="en-LK" sz="1000" dirty="0"/>
              <a:t>    path = f"checkpoints/gpt_step_{step}.pt"</a:t>
            </a:r>
          </a:p>
          <a:p>
            <a:r>
              <a:rPr lang="en-LK" sz="1000" dirty="0"/>
              <a:t>    torch.save({</a:t>
            </a:r>
          </a:p>
          <a:p>
            <a:r>
              <a:rPr lang="en-LK" sz="1000" dirty="0"/>
              <a:t>        "model": model.state_dict(),</a:t>
            </a:r>
          </a:p>
          <a:p>
            <a:r>
              <a:rPr lang="en-LK" sz="1000" dirty="0"/>
              <a:t>        "optimizer": optimizer.state_dict(),</a:t>
            </a:r>
          </a:p>
          <a:p>
            <a:r>
              <a:rPr lang="en-LK" sz="1000" dirty="0"/>
              <a:t>        "step": step,</a:t>
            </a:r>
          </a:p>
          <a:p>
            <a:r>
              <a:rPr lang="en-LK" sz="1000" dirty="0"/>
              <a:t>        "config": cfg.__dict__,</a:t>
            </a:r>
          </a:p>
          <a:p>
            <a:r>
              <a:rPr lang="en-LK" sz="1000" dirty="0"/>
              <a:t>    }, path)</a:t>
            </a:r>
          </a:p>
          <a:p>
            <a:r>
              <a:rPr lang="en-LK" sz="1000" dirty="0"/>
              <a:t>    print(f"Saved checkpoint: {path}")</a:t>
            </a:r>
          </a:p>
          <a:p>
            <a:endParaRPr lang="en-LK" sz="1000" dirty="0"/>
          </a:p>
          <a:p>
            <a:endParaRPr lang="en-LK" sz="1000" dirty="0"/>
          </a:p>
          <a:p>
            <a:r>
              <a:rPr lang="en-LK" sz="1000" dirty="0"/>
              <a:t>if __name__ == "__main__":</a:t>
            </a:r>
          </a:p>
          <a:p>
            <a:r>
              <a:rPr lang="en-LK" sz="1000" dirty="0"/>
              <a:t>    train()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9B0A82-FAFC-CFF0-B832-170CAE676C57}"/>
              </a:ext>
            </a:extLst>
          </p:cNvPr>
          <p:cNvSpPr txBox="1"/>
          <p:nvPr/>
        </p:nvSpPr>
        <p:spPr>
          <a:xfrm>
            <a:off x="5785625" y="4280533"/>
            <a:ext cx="60997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Loss = 10.8   →  model outputs random garbage  (start)</a:t>
            </a:r>
          </a:p>
          <a:p>
            <a:r>
              <a:rPr lang="en-LK" dirty="0"/>
              <a:t>Loss =  4.0   →  model learned basic word patterns</a:t>
            </a:r>
          </a:p>
          <a:p>
            <a:r>
              <a:rPr lang="en-LK" dirty="0"/>
              <a:t>Loss =  3.0   →  model generates Shakespeare-like text</a:t>
            </a:r>
          </a:p>
          <a:p>
            <a:r>
              <a:rPr lang="en-LK" dirty="0"/>
              <a:t>Loss =  2.5   →  good fluent text</a:t>
            </a:r>
          </a:p>
          <a:p>
            <a:r>
              <a:rPr lang="en-LK" dirty="0"/>
              <a:t>Loss =  2.0   →  very good (close to GPT-2 small on this data)</a:t>
            </a:r>
          </a:p>
        </p:txBody>
      </p:sp>
    </p:spTree>
    <p:extLst>
      <p:ext uri="{BB962C8B-B14F-4D97-AF65-F5344CB8AC3E}">
        <p14:creationId xmlns:p14="http://schemas.microsoft.com/office/powerpoint/2010/main" val="17638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F3E721-4602-391B-FF83-250DB7FDC549}"/>
              </a:ext>
            </a:extLst>
          </p:cNvPr>
          <p:cNvSpPr txBox="1"/>
          <p:nvPr/>
        </p:nvSpPr>
        <p:spPr>
          <a:xfrm>
            <a:off x="551986" y="121993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Step 11 — Text Generation</a:t>
            </a:r>
            <a:endParaRPr lang="en-LK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A8AF2B1-2D72-89B2-4F11-26708C0F8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86" y="4913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LK" altLang="en-LK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generate.py</a:t>
            </a:r>
            <a:endParaRPr kumimoji="0" lang="en-LK" altLang="en-LK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LK" altLang="en-L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A2EFB8-D494-3912-E957-5F2CAE27D0BA}"/>
              </a:ext>
            </a:extLst>
          </p:cNvPr>
          <p:cNvSpPr txBox="1"/>
          <p:nvPr/>
        </p:nvSpPr>
        <p:spPr>
          <a:xfrm>
            <a:off x="3397405" y="121993"/>
            <a:ext cx="12191999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sz="1000" dirty="0"/>
              <a:t>import torch</a:t>
            </a:r>
          </a:p>
          <a:p>
            <a:r>
              <a:rPr lang="en-LK" sz="1000" dirty="0"/>
              <a:t>import torch.nn.functional as F</a:t>
            </a:r>
          </a:p>
          <a:p>
            <a:endParaRPr lang="en-LK" sz="1000" dirty="0"/>
          </a:p>
          <a:p>
            <a:r>
              <a:rPr lang="en-LK" sz="1000" dirty="0"/>
              <a:t>from config import GPTConfig</a:t>
            </a:r>
          </a:p>
          <a:p>
            <a:r>
              <a:rPr lang="en-LK" sz="1000" dirty="0"/>
              <a:t>from model import GPTModel</a:t>
            </a:r>
          </a:p>
          <a:p>
            <a:r>
              <a:rPr lang="en-LK" sz="1000" dirty="0"/>
              <a:t>from tokenizer import Tokenizer</a:t>
            </a:r>
          </a:p>
          <a:p>
            <a:endParaRPr lang="en-LK" sz="1000" dirty="0"/>
          </a:p>
          <a:p>
            <a:r>
              <a:rPr lang="en-LK" sz="1000" dirty="0"/>
              <a:t>device = "cuda" if torch.cuda.is_available() else "cpu"</a:t>
            </a:r>
          </a:p>
          <a:p>
            <a:r>
              <a:rPr lang="en-LK" sz="1000" dirty="0"/>
              <a:t>tokenizer = Tokenizer()</a:t>
            </a:r>
          </a:p>
          <a:p>
            <a:endParaRPr lang="en-LK" sz="1000" dirty="0"/>
          </a:p>
          <a:p>
            <a:r>
              <a:rPr lang="en-LK" sz="1000" dirty="0"/>
              <a:t>def load_model(checkpoint_path):</a:t>
            </a:r>
          </a:p>
          <a:p>
            <a:r>
              <a:rPr lang="en-LK" sz="1000" dirty="0"/>
              <a:t>    ckpt = torch.load(checkpoint_path, map_location=device)</a:t>
            </a:r>
          </a:p>
          <a:p>
            <a:r>
              <a:rPr lang="en-LK" sz="1000" dirty="0"/>
              <a:t>    cfg = GPTConfig(**ckpt["config"])</a:t>
            </a:r>
          </a:p>
          <a:p>
            <a:r>
              <a:rPr lang="en-LK" sz="1000" dirty="0"/>
              <a:t>    model = GPTModel(cfg).to(device)</a:t>
            </a:r>
          </a:p>
          <a:p>
            <a:r>
              <a:rPr lang="en-LK" sz="1000" dirty="0"/>
              <a:t>    model.load_state_dict(ckpt["model"])</a:t>
            </a:r>
          </a:p>
          <a:p>
            <a:r>
              <a:rPr lang="en-LK" sz="1000" dirty="0"/>
              <a:t>    model.eval()</a:t>
            </a:r>
          </a:p>
          <a:p>
            <a:r>
              <a:rPr lang="en-LK" sz="1000" dirty="0"/>
              <a:t>    return model, cfg</a:t>
            </a:r>
          </a:p>
          <a:p>
            <a:endParaRPr lang="en-LK" sz="1000" dirty="0"/>
          </a:p>
          <a:p>
            <a:r>
              <a:rPr lang="en-LK" sz="1000" dirty="0"/>
              <a:t>def top_k_logits(logits, k):</a:t>
            </a:r>
          </a:p>
          <a:p>
            <a:r>
              <a:rPr lang="en-LK" sz="1000" dirty="0"/>
              <a:t>    v, _ = torch.topk(logits, k)</a:t>
            </a:r>
          </a:p>
          <a:p>
            <a:r>
              <a:rPr lang="en-LK" sz="1000" dirty="0"/>
              <a:t>    cutoff = v[:, -1].unsqueeze(-1)</a:t>
            </a:r>
          </a:p>
          <a:p>
            <a:r>
              <a:rPr lang="en-LK" sz="1000" dirty="0"/>
              <a:t>    return torch.where(</a:t>
            </a:r>
          </a:p>
          <a:p>
            <a:r>
              <a:rPr lang="en-LK" sz="1000" dirty="0"/>
              <a:t>        logits &lt; cutoff,</a:t>
            </a:r>
          </a:p>
          <a:p>
            <a:r>
              <a:rPr lang="en-LK" sz="1000" dirty="0"/>
              <a:t>        torch.full_like(logits, -float("inf")),</a:t>
            </a:r>
          </a:p>
          <a:p>
            <a:r>
              <a:rPr lang="en-LK" sz="1000" dirty="0"/>
              <a:t>        logits</a:t>
            </a:r>
          </a:p>
          <a:p>
            <a:r>
              <a:rPr lang="en-LK" sz="1000" dirty="0"/>
              <a:t>    )</a:t>
            </a:r>
          </a:p>
          <a:p>
            <a:endParaRPr lang="en-LK" sz="1000" dirty="0"/>
          </a:p>
          <a:p>
            <a:r>
              <a:rPr lang="en-LK" sz="1000" dirty="0"/>
              <a:t>@torch.no_grad()</a:t>
            </a:r>
          </a:p>
          <a:p>
            <a:r>
              <a:rPr lang="en-LK" sz="1000" dirty="0"/>
              <a:t>def generate(model, idx, cfg, max_new_tokens=100, temperature=1.0, top_k=50):</a:t>
            </a:r>
          </a:p>
          <a:p>
            <a:r>
              <a:rPr lang="en-LK" sz="1000" dirty="0"/>
              <a:t>    for _ in range(max_new_tokens):</a:t>
            </a:r>
          </a:p>
          <a:p>
            <a:r>
              <a:rPr lang="en-LK" sz="1000" dirty="0"/>
              <a:t>        idx_cond = idx[:, -cfg.seq_len:]</a:t>
            </a:r>
          </a:p>
          <a:p>
            <a:r>
              <a:rPr lang="en-LK" sz="1000" dirty="0"/>
              <a:t>        logits = model(idx_cond)</a:t>
            </a:r>
          </a:p>
          <a:p>
            <a:r>
              <a:rPr lang="en-LK" sz="1000" dirty="0"/>
              <a:t>        logits = logits[:, -1, :]</a:t>
            </a:r>
          </a:p>
          <a:p>
            <a:r>
              <a:rPr lang="en-LK" sz="1000" dirty="0"/>
              <a:t>        logits = logits / temperature</a:t>
            </a:r>
          </a:p>
          <a:p>
            <a:endParaRPr lang="en-LK" sz="1000" dirty="0"/>
          </a:p>
          <a:p>
            <a:r>
              <a:rPr lang="en-LK" sz="1000" dirty="0"/>
              <a:t>        if top_k is not None:</a:t>
            </a:r>
          </a:p>
          <a:p>
            <a:r>
              <a:rPr lang="en-LK" sz="1000" dirty="0"/>
              <a:t>            logits = top_k_logits(logits, top_k)</a:t>
            </a:r>
          </a:p>
          <a:p>
            <a:endParaRPr lang="en-LK" sz="1000" dirty="0"/>
          </a:p>
          <a:p>
            <a:r>
              <a:rPr lang="en-LK" sz="1000" dirty="0"/>
              <a:t>        probs = F.softmax(logits, dim=-1)</a:t>
            </a:r>
          </a:p>
          <a:p>
            <a:r>
              <a:rPr lang="en-LK" sz="1000" dirty="0"/>
              <a:t>        next_token = torch.multinomial(probs, num_samples=1)</a:t>
            </a:r>
          </a:p>
          <a:p>
            <a:r>
              <a:rPr lang="en-LK" sz="1000" dirty="0"/>
              <a:t>        idx = torch.cat((idx, next_token), dim=1)</a:t>
            </a:r>
          </a:p>
          <a:p>
            <a:endParaRPr lang="en-LK" sz="1000" dirty="0"/>
          </a:p>
          <a:p>
            <a:r>
              <a:rPr lang="en-LK" sz="1000" dirty="0"/>
              <a:t>    return idx</a:t>
            </a:r>
          </a:p>
          <a:p>
            <a:endParaRPr lang="en-LK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55E578-B62C-4EED-0A7D-68B9927F7CF4}"/>
              </a:ext>
            </a:extLst>
          </p:cNvPr>
          <p:cNvSpPr txBox="1"/>
          <p:nvPr/>
        </p:nvSpPr>
        <p:spPr>
          <a:xfrm>
            <a:off x="8703527" y="117089"/>
            <a:ext cx="779470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sz="1000" dirty="0"/>
              <a:t>def main():</a:t>
            </a:r>
          </a:p>
          <a:p>
            <a:r>
              <a:rPr lang="en-LK" sz="1000" dirty="0"/>
              <a:t>    checkpoint_path = "checkpoints/gpt_step_5000.pt"</a:t>
            </a:r>
          </a:p>
          <a:p>
            <a:r>
              <a:rPr lang="en-LK" sz="1000" dirty="0"/>
              <a:t>    model, cfg = load_model(checkpoint_path)</a:t>
            </a:r>
          </a:p>
          <a:p>
            <a:endParaRPr lang="en-LK" sz="1000" dirty="0"/>
          </a:p>
          <a:p>
            <a:r>
              <a:rPr lang="en-LK" sz="1000" dirty="0"/>
              <a:t>    prompt = "hello world"</a:t>
            </a:r>
          </a:p>
          <a:p>
            <a:endParaRPr lang="en-LK" sz="1000" dirty="0"/>
          </a:p>
          <a:p>
            <a:r>
              <a:rPr lang="en-LK" sz="1000" dirty="0"/>
              <a:t>    idx = torch.tensor(</a:t>
            </a:r>
          </a:p>
          <a:p>
            <a:r>
              <a:rPr lang="en-LK" sz="1000" dirty="0"/>
              <a:t>        [tokenizer.encode(prompt)],</a:t>
            </a:r>
          </a:p>
          <a:p>
            <a:r>
              <a:rPr lang="en-LK" sz="1000" dirty="0"/>
              <a:t>        dtype=torch.long,</a:t>
            </a:r>
          </a:p>
          <a:p>
            <a:r>
              <a:rPr lang="en-LK" sz="1000" dirty="0"/>
              <a:t>        device=device</a:t>
            </a:r>
          </a:p>
          <a:p>
            <a:r>
              <a:rPr lang="en-LK" sz="1000" dirty="0"/>
              <a:t>    )</a:t>
            </a:r>
          </a:p>
          <a:p>
            <a:endParaRPr lang="en-LK" sz="1000" dirty="0"/>
          </a:p>
          <a:p>
            <a:r>
              <a:rPr lang="en-LK" sz="1000" dirty="0"/>
              <a:t>    out = generate(</a:t>
            </a:r>
          </a:p>
          <a:p>
            <a:r>
              <a:rPr lang="en-LK" sz="1000" dirty="0"/>
              <a:t>        model,</a:t>
            </a:r>
          </a:p>
          <a:p>
            <a:r>
              <a:rPr lang="en-LK" sz="1000" dirty="0"/>
              <a:t>        idx,</a:t>
            </a:r>
          </a:p>
          <a:p>
            <a:r>
              <a:rPr lang="en-LK" sz="1000" dirty="0"/>
              <a:t>        cfg,</a:t>
            </a:r>
          </a:p>
          <a:p>
            <a:r>
              <a:rPr lang="en-LK" sz="1000" dirty="0"/>
              <a:t>        max_new_tokens=100,</a:t>
            </a:r>
          </a:p>
          <a:p>
            <a:r>
              <a:rPr lang="en-LK" sz="1000" dirty="0"/>
              <a:t>        temperature=0.8,</a:t>
            </a:r>
          </a:p>
          <a:p>
            <a:r>
              <a:rPr lang="en-LK" sz="1000" dirty="0"/>
              <a:t>        top_k=50</a:t>
            </a:r>
          </a:p>
          <a:p>
            <a:r>
              <a:rPr lang="en-LK" sz="1000" dirty="0"/>
              <a:t>    )</a:t>
            </a:r>
          </a:p>
          <a:p>
            <a:endParaRPr lang="en-LK" sz="1000" dirty="0"/>
          </a:p>
          <a:p>
            <a:r>
              <a:rPr lang="en-LK" sz="1000" dirty="0"/>
              <a:t>    print("\n--- Generated Text ---\n")</a:t>
            </a:r>
          </a:p>
          <a:p>
            <a:r>
              <a:rPr lang="en-LK" sz="1000" dirty="0"/>
              <a:t>    print(tokenizer.decode(out[0].tolist()))</a:t>
            </a:r>
          </a:p>
          <a:p>
            <a:endParaRPr lang="en-LK" sz="1000" dirty="0"/>
          </a:p>
          <a:p>
            <a:r>
              <a:rPr lang="en-LK" sz="1000" dirty="0"/>
              <a:t>if __name__ == "__main__":</a:t>
            </a:r>
          </a:p>
          <a:p>
            <a:r>
              <a:rPr lang="en-LK" sz="1000" dirty="0"/>
              <a:t>    main()</a:t>
            </a:r>
          </a:p>
        </p:txBody>
      </p:sp>
    </p:spTree>
    <p:extLst>
      <p:ext uri="{BB962C8B-B14F-4D97-AF65-F5344CB8AC3E}">
        <p14:creationId xmlns:p14="http://schemas.microsoft.com/office/powerpoint/2010/main" val="2989803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1522</TotalTime>
  <Words>3245</Words>
  <Application>Microsoft Macintosh PowerPoint</Application>
  <PresentationFormat>Widescreen</PresentationFormat>
  <Paragraphs>400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 Unicode MS</vt:lpstr>
      <vt:lpstr>Aptos</vt:lpstr>
      <vt:lpstr>Aptos Display</vt:lpstr>
      <vt:lpstr>Arial</vt:lpstr>
      <vt:lpstr>Courier New</vt:lpstr>
      <vt:lpstr>Office Theme</vt:lpstr>
      <vt:lpstr>Implementing a GPT Model from Scratch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Maneesha</dc:creator>
  <cp:lastModifiedBy>Maneesha</cp:lastModifiedBy>
  <cp:revision>5</cp:revision>
  <dcterms:created xsi:type="dcterms:W3CDTF">2026-04-28T12:55:42Z</dcterms:created>
  <dcterms:modified xsi:type="dcterms:W3CDTF">2026-05-01T15:59:18Z</dcterms:modified>
</cp:coreProperties>
</file>