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0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L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6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58"/>
  </p:normalViewPr>
  <p:slideViewPr>
    <p:cSldViewPr snapToGrid="0">
      <p:cViewPr varScale="1">
        <p:scale>
          <a:sx n="115" d="100"/>
          <a:sy n="115" d="100"/>
        </p:scale>
        <p:origin x="4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495F-9984-DB3A-B169-2810A8A03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8AF18C-CDF8-7276-B269-6CBCFD0DC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7A71F-17AE-7690-B848-5BF98E3E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5999-58EA-7F4C-9765-AFB26A277DE7}" type="datetimeFigureOut">
              <a:rPr lang="en-LK" smtClean="0"/>
              <a:t>2026-04-29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2C07-EF23-FA30-F69F-3D80E7E4E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CED70-035F-9756-6BD3-CC8D76BC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68BAC-7F26-4A42-8AC7-27F48B6EB075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842649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EE8F-A539-D1B0-1839-E1499F6C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16465-48F9-B075-239A-2E66AADC3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573DC-292C-3346-32F5-FDEDC5B08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5999-58EA-7F4C-9765-AFB26A277DE7}" type="datetimeFigureOut">
              <a:rPr lang="en-LK" smtClean="0"/>
              <a:t>2026-04-29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C42BF-9394-DE20-9A6A-EAA762C11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B82F1-08E9-9C22-2728-BC7DBE9B9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68BAC-7F26-4A42-8AC7-27F48B6EB075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469874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72AE0-0AFA-6BC1-0FF2-EB4607FB0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E5937-FF83-287F-A4AB-D759F7F29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BDD57-EB32-044F-B030-90BD1F6EA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5999-58EA-7F4C-9765-AFB26A277DE7}" type="datetimeFigureOut">
              <a:rPr lang="en-LK" smtClean="0"/>
              <a:t>2026-04-29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62AAE-453F-3868-DA2D-0825EA78F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A68D4-D1E0-B316-F0C7-7BA4BB390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68BAC-7F26-4A42-8AC7-27F48B6EB075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048273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08E9-A21C-C746-3543-22819D744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5B8EF-CD04-2031-E8DC-B684765AB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AEB7D-9278-7705-33A2-5F0B3E679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0E46B-5EAE-C74D-4EEC-48A25DA6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5999-58EA-7F4C-9765-AFB26A277DE7}" type="datetimeFigureOut">
              <a:rPr lang="en-LK" smtClean="0"/>
              <a:t>2026-04-29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F5BBD-5FA0-5FBF-70D6-3BDA95008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BAC09-EB8C-E4D3-7E6A-B23A9346E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68BAC-7F26-4A42-8AC7-27F48B6EB075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62497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E438D-7483-E9B8-C59C-1898272E7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C3AFB-CB65-40B6-4A7A-48BC7BE22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AA752-7A96-280F-261E-2BF8500D2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CA80D-5EC7-408F-A9A1-AB1BC30237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A42242-14F1-9341-B50A-169E09A79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8F1E42-5F2A-999C-A93E-FB43EA4F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5999-58EA-7F4C-9765-AFB26A277DE7}" type="datetimeFigureOut">
              <a:rPr lang="en-LK" smtClean="0"/>
              <a:t>2026-04-29</a:t>
            </a:fld>
            <a:endParaRPr lang="en-L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A5A0B9-27F6-0660-FF97-F4A766910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E783DD-0BFF-2AF4-F4DE-C2CCD4D6D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68BAC-7F26-4A42-8AC7-27F48B6EB075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79168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1DFA-9EC6-A521-AFE6-FF2F6348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0859A-6E36-5AB6-D107-6B062A70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5999-58EA-7F4C-9765-AFB26A277DE7}" type="datetimeFigureOut">
              <a:rPr lang="en-LK" smtClean="0"/>
              <a:t>2026-04-29</a:t>
            </a:fld>
            <a:endParaRPr lang="en-L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4E4B9A-7490-278A-4431-007B4189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8450B-D029-086F-6BBF-E5978C7C0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68BAC-7F26-4A42-8AC7-27F48B6EB075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60342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7ACA9-E437-6337-1BCD-11CA8417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5999-58EA-7F4C-9765-AFB26A277DE7}" type="datetimeFigureOut">
              <a:rPr lang="en-LK" smtClean="0"/>
              <a:t>2026-04-29</a:t>
            </a:fld>
            <a:endParaRPr lang="en-L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E4641B-A3D4-D7C1-5996-E1D665CA9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0148D-FC31-665D-0FFB-784B4A14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68BAC-7F26-4A42-8AC7-27F48B6EB075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248079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C8338-258A-FE45-D130-981E42DD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C0FE9-7FE8-AA97-C3CE-FFA9EB1F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2BC67-4EDD-51D9-8F06-4980EDD9E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7A125-2451-62CB-2D17-4EA6A5037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5999-58EA-7F4C-9765-AFB26A277DE7}" type="datetimeFigureOut">
              <a:rPr lang="en-LK" smtClean="0"/>
              <a:t>2026-04-29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F43FF-1141-CA4B-D0BC-EBC3B590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38511-C8FF-C1CB-F5D5-1BC339A82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68BAC-7F26-4A42-8AC7-27F48B6EB075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575145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5278F-17E2-4466-870E-68115DA7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75C60F-E7A0-2862-963F-BBA84B601C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E4D9C-8E6D-5413-6D8F-F378CE03E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90A67-8B73-115E-B706-75AC0E98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5999-58EA-7F4C-9765-AFB26A277DE7}" type="datetimeFigureOut">
              <a:rPr lang="en-LK" smtClean="0"/>
              <a:t>2026-04-29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61A45-AEF1-E252-6AF9-A43B7C3FA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CE885-D12B-44A0-8E13-1D4D2FED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68BAC-7F26-4A42-8AC7-27F48B6EB075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963688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741BD-C7FB-514E-5FAC-9AB9EC665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2036C3-7DF6-DC7E-DC97-60821F125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BC807-959D-208C-2578-26B95F082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5999-58EA-7F4C-9765-AFB26A277DE7}" type="datetimeFigureOut">
              <a:rPr lang="en-LK" smtClean="0"/>
              <a:t>2026-04-29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F8674-55AE-52E6-AB09-39B1B993E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20510-EB9B-3B82-57CD-959ED07B0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68BAC-7F26-4A42-8AC7-27F48B6EB075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565380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2F43DF-B93E-56AA-40A3-4F9BB7922F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CED83B-2F6D-8B1A-82EA-87C07F6F5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5E3E1-0433-0038-EC48-CB5D3006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5999-58EA-7F4C-9765-AFB26A277DE7}" type="datetimeFigureOut">
              <a:rPr lang="en-LK" smtClean="0"/>
              <a:t>2026-04-29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753E0-BAD0-2DA8-E692-84D84735F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A2D6D-F26C-0386-FBC4-4FFDF8009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68BAC-7F26-4A42-8AC7-27F48B6EB075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35476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EBCA1-09D3-E87E-1D82-638A1FEA0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24114-739F-6D35-26EF-2532595EE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E0E36-0C3A-444C-A977-B15FF2807D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D5999-58EA-7F4C-9765-AFB26A277DE7}" type="datetimeFigureOut">
              <a:rPr lang="en-LK" smtClean="0"/>
              <a:t>2026-04-29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98150-82C2-498E-7F43-D92DA8DB3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72ABE-9B51-58AE-F271-93D38694C1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68BAC-7F26-4A42-8AC7-27F48B6EB075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73615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8112-6B43-054A-E591-D49C3D3F0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47574"/>
            <a:ext cx="9144000" cy="2387600"/>
          </a:xfrm>
        </p:spPr>
        <p:txBody>
          <a:bodyPr>
            <a:normAutofit/>
          </a:bodyPr>
          <a:lstStyle/>
          <a:p>
            <a:r>
              <a:rPr lang="en-GB" dirty="0"/>
              <a:t>Attention mechanism</a:t>
            </a:r>
            <a:endParaRPr lang="en-L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3F9C7-2AEE-F2F3-0882-32822014D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en-LK" dirty="0"/>
              <a:t>A lecture by Maneesha Rajapaksha</a:t>
            </a:r>
          </a:p>
        </p:txBody>
      </p:sp>
      <p:pic>
        <p:nvPicPr>
          <p:cNvPr id="5" name="Picture 4" descr="A blue and yellow logo&#10;&#10;AI-generated content may be incorrect.">
            <a:extLst>
              <a:ext uri="{FF2B5EF4-FFF2-40B4-BE49-F238E27FC236}">
                <a16:creationId xmlns:a16="http://schemas.microsoft.com/office/drawing/2014/main" id="{BA2089B0-C097-D1B2-A433-95FD27A98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272" y="2017907"/>
            <a:ext cx="3035455" cy="303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33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28F57E-2F37-FF2F-F485-F6E01123E995}"/>
              </a:ext>
            </a:extLst>
          </p:cNvPr>
          <p:cNvSpPr txBox="1"/>
          <p:nvPr/>
        </p:nvSpPr>
        <p:spPr>
          <a:xfrm>
            <a:off x="630045" y="222353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What Attention Actually Does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483E9D-6181-974A-5639-E8F6B9441CF6}"/>
              </a:ext>
            </a:extLst>
          </p:cNvPr>
          <p:cNvSpPr txBox="1"/>
          <p:nvPr/>
        </p:nvSpPr>
        <p:spPr>
          <a:xfrm>
            <a:off x="630045" y="1273010"/>
            <a:ext cx="60997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Self-attention takes </a:t>
            </a:r>
            <a:r>
              <a:rPr lang="en-GB" b="1" dirty="0"/>
              <a:t>static embeddings</a:t>
            </a:r>
            <a:r>
              <a:rPr lang="en-GB" dirty="0"/>
              <a:t> and turns them into </a:t>
            </a:r>
            <a:r>
              <a:rPr lang="en-GB" b="1" dirty="0"/>
              <a:t>contextual embeddings</a:t>
            </a:r>
            <a:r>
              <a:rPr lang="en-GB" dirty="0"/>
              <a:t>.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b="1" dirty="0"/>
              <a:t>Before attention:</a:t>
            </a:r>
          </a:p>
          <a:p>
            <a:pPr>
              <a:buNone/>
            </a:pPr>
            <a:r>
              <a:rPr lang="en-GB" dirty="0"/>
              <a:t>Each word has a fixed meaning: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“bank” → same vector everywhere</a:t>
            </a:r>
          </a:p>
          <a:p>
            <a:endParaRPr lang="en-GB" dirty="0"/>
          </a:p>
          <a:p>
            <a:pPr>
              <a:buNone/>
            </a:pPr>
            <a:r>
              <a:rPr lang="en-GB" b="1" dirty="0"/>
              <a:t>After attention:</a:t>
            </a:r>
          </a:p>
          <a:p>
            <a:pPr>
              <a:buNone/>
            </a:pPr>
            <a:r>
              <a:rPr lang="en-GB" dirty="0"/>
              <a:t>The embedding changes based on context: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“river bank” → nature meaning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“money bank” → financial meaning</a:t>
            </a:r>
          </a:p>
          <a:p>
            <a:endParaRPr lang="en-GB" dirty="0"/>
          </a:p>
          <a:p>
            <a:pPr>
              <a:buNone/>
            </a:pPr>
            <a:r>
              <a:rPr lang="en-GB" dirty="0"/>
              <a:t>So attention = </a:t>
            </a:r>
            <a:r>
              <a:rPr lang="en-GB" b="1" dirty="0"/>
              <a:t>context-aware transformation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39108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software components&#10;&#10;AI-generated content may be incorrect.">
            <a:extLst>
              <a:ext uri="{FF2B5EF4-FFF2-40B4-BE49-F238E27FC236}">
                <a16:creationId xmlns:a16="http://schemas.microsoft.com/office/drawing/2014/main" id="{ABFB1420-D882-FC96-BFCB-5B7B2B1B2E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986" b="23889"/>
          <a:stretch>
            <a:fillRect/>
          </a:stretch>
        </p:blipFill>
        <p:spPr>
          <a:xfrm>
            <a:off x="332719" y="1393902"/>
            <a:ext cx="11658601" cy="44827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AA8DA9-2AA2-801D-8A35-D099C68DD2FB}"/>
              </a:ext>
            </a:extLst>
          </p:cNvPr>
          <p:cNvSpPr txBox="1"/>
          <p:nvPr/>
        </p:nvSpPr>
        <p:spPr>
          <a:xfrm>
            <a:off x="423746" y="401444"/>
            <a:ext cx="1876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b="1" dirty="0"/>
              <a:t>Love apple juice</a:t>
            </a:r>
          </a:p>
        </p:txBody>
      </p:sp>
    </p:spTree>
    <p:extLst>
      <p:ext uri="{BB962C8B-B14F-4D97-AF65-F5344CB8AC3E}">
        <p14:creationId xmlns:p14="http://schemas.microsoft.com/office/powerpoint/2010/main" val="4041426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3C7030-B3C2-76B7-3CFF-78214D56DD83}"/>
              </a:ext>
            </a:extLst>
          </p:cNvPr>
          <p:cNvSpPr txBox="1"/>
          <p:nvPr/>
        </p:nvSpPr>
        <p:spPr>
          <a:xfrm>
            <a:off x="641196" y="100361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Setup &amp; Notation</a:t>
            </a:r>
            <a:endParaRPr lang="en-LK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CEE825-3EDB-D2C0-9DF1-A6BB50DFD0D4}"/>
              </a:ext>
            </a:extLst>
          </p:cNvPr>
          <p:cNvSpPr txBox="1"/>
          <p:nvPr/>
        </p:nvSpPr>
        <p:spPr>
          <a:xfrm>
            <a:off x="641196" y="596129"/>
            <a:ext cx="66517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Input X  →  shape: [T × d_model]</a:t>
            </a:r>
          </a:p>
          <a:p>
            <a:endParaRPr lang="en-LK" dirty="0"/>
          </a:p>
          <a:p>
            <a:r>
              <a:rPr lang="en-LK" dirty="0"/>
              <a:t>Example: T=5 tokens, d_model=8</a:t>
            </a:r>
          </a:p>
          <a:p>
            <a:r>
              <a:rPr lang="en-LK" dirty="0"/>
              <a:t>X = [</a:t>
            </a:r>
          </a:p>
          <a:p>
            <a:r>
              <a:rPr lang="en-LK" dirty="0"/>
              <a:t>  [0.2,  0.9,  0.1, -0.3,  0.7,  0.4, -0.1,  0.5],  ← token 0: "The"</a:t>
            </a:r>
          </a:p>
          <a:p>
            <a:r>
              <a:rPr lang="en-LK" dirty="0"/>
              <a:t>  [0.8, -0.2,  0.6,  0.4, -0.5,  0.3,  0.9, -0.1],  ← token 1: "cat"</a:t>
            </a:r>
          </a:p>
          <a:p>
            <a:r>
              <a:rPr lang="en-LK" dirty="0"/>
              <a:t>  [0.1,  0.7, -0.4,  0.8,  0.2, -0.6,  0.3,  0.5],  ← token 2: "sat"</a:t>
            </a:r>
          </a:p>
          <a:p>
            <a:r>
              <a:rPr lang="en-LK" dirty="0"/>
              <a:t>  ...</a:t>
            </a:r>
          </a:p>
          <a:p>
            <a:r>
              <a:rPr lang="en-LK" dirty="0"/>
              <a:t>]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A2BBE49-5597-07D3-27DA-C1C34475C5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519508"/>
              </p:ext>
            </p:extLst>
          </p:nvPr>
        </p:nvGraphicFramePr>
        <p:xfrm>
          <a:off x="641196" y="3886200"/>
          <a:ext cx="10515600" cy="24688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5211393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394235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655116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Example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264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d_model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Input/output embedding dim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LK"/>
                        <a:t>512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139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H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Number of heads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LK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757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>
                          <a:latin typeface="Courier New" panose="02070309020205020404" pitchFamily="49" charset="0"/>
                        </a:rPr>
                        <a:t>d_k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Key/Query dim per head = </a:t>
                      </a:r>
                      <a:r>
                        <a:rPr lang="en-GB" dirty="0" err="1"/>
                        <a:t>d_model</a:t>
                      </a:r>
                      <a:r>
                        <a:rPr lang="en-GB" dirty="0"/>
                        <a:t>/H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LK"/>
                        <a:t>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555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d_v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Value dim per head = d_model/H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LK"/>
                        <a:t>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99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T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Sequence 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varies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013147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5584916A-FDA8-2EBC-AC02-B3039F868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96" y="3434796"/>
            <a:ext cx="439094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LK" altLang="en-L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multi-head attention with H heads: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LK" altLang="en-L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736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391BEF-9217-D481-B60D-B85AFF3B588D}"/>
              </a:ext>
            </a:extLst>
          </p:cNvPr>
          <p:cNvSpPr txBox="1"/>
          <p:nvPr/>
        </p:nvSpPr>
        <p:spPr>
          <a:xfrm>
            <a:off x="540835" y="133144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Step 1 — The Q, K, V Projections</a:t>
            </a:r>
            <a:endParaRPr lang="en-LK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97D31A-B21D-F09E-3474-0278753689F4}"/>
              </a:ext>
            </a:extLst>
          </p:cNvPr>
          <p:cNvSpPr txBox="1"/>
          <p:nvPr/>
        </p:nvSpPr>
        <p:spPr>
          <a:xfrm>
            <a:off x="540835" y="502476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Each head </a:t>
            </a:r>
            <a:r>
              <a:rPr lang="en-GB" dirty="0">
                <a:latin typeface="Courier New" panose="02070309020205020404" pitchFamily="49" charset="0"/>
              </a:rPr>
              <a:t>h</a:t>
            </a:r>
            <a:r>
              <a:rPr lang="en-GB" dirty="0"/>
              <a:t> has its own three learned weight matrices:</a:t>
            </a:r>
            <a:endParaRPr lang="en-L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AA7B47-9B7F-C6A1-4668-A39FD577E4EF}"/>
              </a:ext>
            </a:extLst>
          </p:cNvPr>
          <p:cNvSpPr txBox="1"/>
          <p:nvPr/>
        </p:nvSpPr>
        <p:spPr>
          <a:xfrm>
            <a:off x="540835" y="871808"/>
            <a:ext cx="6099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W_Q^h  ∈  ℝ^(d_model × d_k)</a:t>
            </a:r>
          </a:p>
          <a:p>
            <a:r>
              <a:rPr lang="en-LK" dirty="0"/>
              <a:t>W_K^h  ∈  ℝ^(d_model × d_k)</a:t>
            </a:r>
          </a:p>
          <a:p>
            <a:r>
              <a:rPr lang="en-LK" dirty="0"/>
              <a:t>W_V^h  ∈  ℝ^(d_model × d_v)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508ED3-B4F1-0372-7A4C-CC46B10E6736}"/>
              </a:ext>
            </a:extLst>
          </p:cNvPr>
          <p:cNvSpPr txBox="1"/>
          <p:nvPr/>
        </p:nvSpPr>
        <p:spPr>
          <a:xfrm>
            <a:off x="540835" y="2505670"/>
            <a:ext cx="93168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Q^h = X · W_Q^h    shape: [T × d_k]   ← "What am I looking for?"</a:t>
            </a:r>
          </a:p>
          <a:p>
            <a:r>
              <a:rPr lang="en-LK" dirty="0"/>
              <a:t>K^h = X · W_K^h    shape: [T × d_k]   ← "What do I contain?"</a:t>
            </a:r>
          </a:p>
          <a:p>
            <a:r>
              <a:rPr lang="en-LK" dirty="0"/>
              <a:t>V^h = X · W_V^h    shape: [T × d_v]   ← "What do I broadcast if attended to?"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9B11B7F-B4B7-ABB0-05D7-D27B5A80A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835" y="1951672"/>
            <a:ext cx="64812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LK" altLang="en-L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each head, we project the input X into three matrices: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LK" altLang="en-L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0AA995-CAE0-342A-A0EE-6C82A08616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96" t="35514" r="18054" b="34699"/>
          <a:stretch>
            <a:fillRect/>
          </a:stretch>
        </p:blipFill>
        <p:spPr>
          <a:xfrm>
            <a:off x="540835" y="3677867"/>
            <a:ext cx="7298472" cy="29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583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56F3B0-A2C1-474A-40EF-3D74B033F47C}"/>
              </a:ext>
            </a:extLst>
          </p:cNvPr>
          <p:cNvSpPr txBox="1"/>
          <p:nvPr/>
        </p:nvSpPr>
        <p:spPr>
          <a:xfrm>
            <a:off x="596591" y="177749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Step 2 — Scaled Dot-Product Attention (per head)</a:t>
            </a:r>
            <a:endParaRPr lang="en-LK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EC8EB7-5E0B-BB93-C4B0-BDB5D1ADBD6F}"/>
              </a:ext>
            </a:extLst>
          </p:cNvPr>
          <p:cNvSpPr txBox="1"/>
          <p:nvPr/>
        </p:nvSpPr>
        <p:spPr>
          <a:xfrm>
            <a:off x="596591" y="880275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Compute raw attention scores:</a:t>
            </a:r>
            <a:endParaRPr lang="en-LK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2AA09E-CF9F-FA59-48D0-66698CDA06CB}"/>
              </a:ext>
            </a:extLst>
          </p:cNvPr>
          <p:cNvSpPr txBox="1"/>
          <p:nvPr/>
        </p:nvSpPr>
        <p:spPr>
          <a:xfrm>
            <a:off x="596591" y="1249607"/>
            <a:ext cx="90492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scores = Q^h · (K^h)ᵀ         shape: [T × T]</a:t>
            </a:r>
          </a:p>
          <a:p>
            <a:endParaRPr lang="en-LK" dirty="0"/>
          </a:p>
          <a:p>
            <a:r>
              <a:rPr lang="en-LK" dirty="0"/>
              <a:t>Each entry scores[i][j] = dot product of query_i and key_j</a:t>
            </a:r>
          </a:p>
          <a:p>
            <a:r>
              <a:rPr lang="en-LK" dirty="0"/>
              <a:t>                         = "how much does token i attend to token j?"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C83989-4F4F-59FA-2DF3-602D23A15566}"/>
              </a:ext>
            </a:extLst>
          </p:cNvPr>
          <p:cNvSpPr txBox="1"/>
          <p:nvPr/>
        </p:nvSpPr>
        <p:spPr>
          <a:xfrm>
            <a:off x="596591" y="2783130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Scale by √</a:t>
            </a:r>
            <a:r>
              <a:rPr lang="en-GB" b="1" dirty="0" err="1"/>
              <a:t>d_k</a:t>
            </a:r>
            <a:r>
              <a:rPr lang="en-GB" b="1" dirty="0"/>
              <a:t> (prevents gradient vanishing):</a:t>
            </a:r>
            <a:endParaRPr lang="en-LK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AD4166-3164-EC8E-7C43-4F51336FF7F5}"/>
              </a:ext>
            </a:extLst>
          </p:cNvPr>
          <p:cNvSpPr txBox="1"/>
          <p:nvPr/>
        </p:nvSpPr>
        <p:spPr>
          <a:xfrm>
            <a:off x="596591" y="3336207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scaled_scores = scores / √d_k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271FF0-DF8C-B7C1-3E3E-07DD9510321F}"/>
              </a:ext>
            </a:extLst>
          </p:cNvPr>
          <p:cNvSpPr txBox="1"/>
          <p:nvPr/>
        </p:nvSpPr>
        <p:spPr>
          <a:xfrm>
            <a:off x="596591" y="4038733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Apply </a:t>
            </a:r>
            <a:r>
              <a:rPr lang="en-GB" b="1" dirty="0" err="1"/>
              <a:t>Softmax</a:t>
            </a:r>
            <a:r>
              <a:rPr lang="en-GB" b="1" dirty="0"/>
              <a:t> (row-wise → each row sums to 1):</a:t>
            </a:r>
            <a:endParaRPr lang="en-LK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C15C55-14FB-1F3B-B49B-28EE6426F483}"/>
              </a:ext>
            </a:extLst>
          </p:cNvPr>
          <p:cNvSpPr txBox="1"/>
          <p:nvPr/>
        </p:nvSpPr>
        <p:spPr>
          <a:xfrm>
            <a:off x="596591" y="4595413"/>
            <a:ext cx="6099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A^h = softmax(scaled_scores)   shape: [T × T]</a:t>
            </a:r>
          </a:p>
          <a:p>
            <a:endParaRPr lang="en-LK" dirty="0"/>
          </a:p>
          <a:p>
            <a:r>
              <a:rPr lang="en-LK" dirty="0"/>
              <a:t>A^h[i][j] = probability that token i attends to token j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049785-CFC6-F009-45DE-0BABA23D1645}"/>
              </a:ext>
            </a:extLst>
          </p:cNvPr>
          <p:cNvSpPr txBox="1"/>
          <p:nvPr/>
        </p:nvSpPr>
        <p:spPr>
          <a:xfrm>
            <a:off x="596591" y="5706091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Weighted sum of Values:</a:t>
            </a:r>
            <a:endParaRPr lang="en-LK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412943-E544-00BC-846F-696B685ED5C4}"/>
              </a:ext>
            </a:extLst>
          </p:cNvPr>
          <p:cNvSpPr txBox="1"/>
          <p:nvPr/>
        </p:nvSpPr>
        <p:spPr>
          <a:xfrm>
            <a:off x="596591" y="6075423"/>
            <a:ext cx="6099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head^h = A^h · V^h             shape: [T × d_v]</a:t>
            </a:r>
          </a:p>
          <a:p>
            <a:r>
              <a:rPr lang="en-LK" dirty="0"/>
              <a:t>Output for token i = Σ_j  A^h[i][j] · V^h[j]</a:t>
            </a:r>
          </a:p>
        </p:txBody>
      </p:sp>
      <p:pic>
        <p:nvPicPr>
          <p:cNvPr id="26" name="Picture 25" descr="A white background with colorful squares and text&#10;&#10;AI-generated content may be incorrect.">
            <a:extLst>
              <a:ext uri="{FF2B5EF4-FFF2-40B4-BE49-F238E27FC236}">
                <a16:creationId xmlns:a16="http://schemas.microsoft.com/office/drawing/2014/main" id="{B2EDDC4A-8AF7-9D7C-A57A-7D324AF738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13" r="9227" b="36057"/>
          <a:stretch>
            <a:fillRect/>
          </a:stretch>
        </p:blipFill>
        <p:spPr>
          <a:xfrm>
            <a:off x="6096000" y="2262587"/>
            <a:ext cx="5843240" cy="190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579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E1D8D5-CC97-AE85-47BD-D69C9D1F1C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92" t="15663" r="13463" b="38671"/>
          <a:stretch>
            <a:fillRect/>
          </a:stretch>
        </p:blipFill>
        <p:spPr>
          <a:xfrm>
            <a:off x="1103971" y="856717"/>
            <a:ext cx="9344722" cy="514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63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440525-E22B-BD77-5077-E29F320CC4AA}"/>
              </a:ext>
            </a:extLst>
          </p:cNvPr>
          <p:cNvSpPr txBox="1"/>
          <p:nvPr/>
        </p:nvSpPr>
        <p:spPr>
          <a:xfrm>
            <a:off x="797313" y="233505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Masking (Decoder-Only Models like GPT)</a:t>
            </a:r>
            <a:endParaRPr lang="en-LK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247B92-0A3F-7380-7446-8402B1484760}"/>
              </a:ext>
            </a:extLst>
          </p:cNvPr>
          <p:cNvSpPr txBox="1"/>
          <p:nvPr/>
        </p:nvSpPr>
        <p:spPr>
          <a:xfrm>
            <a:off x="797313" y="882056"/>
            <a:ext cx="6099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 a </a:t>
            </a:r>
            <a:r>
              <a:rPr lang="en-GB" b="1" dirty="0"/>
              <a:t>decoder</a:t>
            </a:r>
            <a:r>
              <a:rPr lang="en-GB" dirty="0"/>
              <a:t> (autoregressive generation), token </a:t>
            </a:r>
            <a:r>
              <a:rPr lang="en-GB" dirty="0" err="1">
                <a:latin typeface="Courier New" panose="02070309020205020404" pitchFamily="49" charset="0"/>
              </a:rPr>
              <a:t>i</a:t>
            </a:r>
            <a:r>
              <a:rPr lang="en-GB" dirty="0"/>
              <a:t> must </a:t>
            </a:r>
            <a:r>
              <a:rPr lang="en-GB" b="1" dirty="0"/>
              <a:t>not</a:t>
            </a:r>
            <a:r>
              <a:rPr lang="en-GB" dirty="0"/>
              <a:t> attend to future tokens </a:t>
            </a:r>
            <a:r>
              <a:rPr lang="en-GB" dirty="0">
                <a:latin typeface="Courier New" panose="02070309020205020404" pitchFamily="49" charset="0"/>
              </a:rPr>
              <a:t>j &gt; </a:t>
            </a:r>
            <a:r>
              <a:rPr lang="en-GB" dirty="0" err="1">
                <a:latin typeface="Courier New" panose="02070309020205020404" pitchFamily="49" charset="0"/>
              </a:rPr>
              <a:t>i</a:t>
            </a:r>
            <a:r>
              <a:rPr lang="en-GB" dirty="0"/>
              <a:t>. We achieve this with a </a:t>
            </a:r>
            <a:r>
              <a:rPr lang="en-GB" b="1" dirty="0"/>
              <a:t>causal mask</a:t>
            </a:r>
            <a:r>
              <a:rPr lang="en-GB" dirty="0"/>
              <a:t> applied before </a:t>
            </a:r>
            <a:r>
              <a:rPr lang="en-GB" dirty="0" err="1"/>
              <a:t>softmax</a:t>
            </a:r>
            <a:r>
              <a:rPr lang="en-GB" dirty="0"/>
              <a:t>:</a:t>
            </a:r>
            <a:endParaRPr lang="en-L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43BF88-B0E6-161A-D457-9A617EA5B01B}"/>
              </a:ext>
            </a:extLst>
          </p:cNvPr>
          <p:cNvSpPr txBox="1"/>
          <p:nvPr/>
        </p:nvSpPr>
        <p:spPr>
          <a:xfrm>
            <a:off x="797313" y="2084605"/>
            <a:ext cx="906036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# Causal mask: upper triangle = -∞</a:t>
            </a:r>
          </a:p>
          <a:p>
            <a:r>
              <a:rPr lang="en-LK" dirty="0"/>
              <a:t>mask = torch.triu(torch.full((T, T), float('-inf')), diagonal=1)</a:t>
            </a:r>
          </a:p>
          <a:p>
            <a:r>
              <a:rPr lang="en-LK" dirty="0"/>
              <a:t>scaled_scores = scaled_scores + mask   # -∞ → exp(-∞) = 0 after softmax</a:t>
            </a:r>
          </a:p>
          <a:p>
            <a:endParaRPr lang="en-LK" dirty="0"/>
          </a:p>
          <a:p>
            <a:r>
              <a:rPr lang="en-LK" dirty="0"/>
              <a:t># Result: lower-triangular attention matrix</a:t>
            </a:r>
          </a:p>
          <a:p>
            <a:r>
              <a:rPr lang="en-LK" dirty="0"/>
              <a:t>A[i][j] = 0   if j &gt; i   (future tokens are invisible)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02EE2E-B871-AFA1-E234-2A3D3F4DA2F6}"/>
              </a:ext>
            </a:extLst>
          </p:cNvPr>
          <p:cNvSpPr txBox="1"/>
          <p:nvPr/>
        </p:nvSpPr>
        <p:spPr>
          <a:xfrm>
            <a:off x="797313" y="4331348"/>
            <a:ext cx="60997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Attention matrix for 4-token sequence (GPT-style):</a:t>
            </a:r>
          </a:p>
          <a:p>
            <a:endParaRPr lang="en-LK" dirty="0"/>
          </a:p>
          <a:p>
            <a:r>
              <a:rPr lang="en-LK" dirty="0"/>
              <a:t>        tok0  tok1  tok2  tok3</a:t>
            </a:r>
          </a:p>
          <a:p>
            <a:r>
              <a:rPr lang="en-LK" dirty="0"/>
              <a:t>tok0  [ 1.00  0     0     0   ]  ← can only see itself</a:t>
            </a:r>
          </a:p>
          <a:p>
            <a:r>
              <a:rPr lang="en-LK" dirty="0"/>
              <a:t>tok1  [ 0.38  0.62  0     0   ]</a:t>
            </a:r>
          </a:p>
          <a:p>
            <a:r>
              <a:rPr lang="en-LK" dirty="0"/>
              <a:t>tok2  [ 0.21  0.35  0.44  0   ]</a:t>
            </a:r>
          </a:p>
          <a:p>
            <a:r>
              <a:rPr lang="en-LK" dirty="0"/>
              <a:t>tok3  [ 0.15  0.26  0.22  0.37]  ← sees all previous + itself</a:t>
            </a:r>
          </a:p>
        </p:txBody>
      </p:sp>
    </p:spTree>
    <p:extLst>
      <p:ext uri="{BB962C8B-B14F-4D97-AF65-F5344CB8AC3E}">
        <p14:creationId xmlns:p14="http://schemas.microsoft.com/office/powerpoint/2010/main" val="1020727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DE1EBC7-F3B3-587A-B21C-BDB8C71982F5}"/>
              </a:ext>
            </a:extLst>
          </p:cNvPr>
          <p:cNvSpPr txBox="1"/>
          <p:nvPr/>
        </p:nvSpPr>
        <p:spPr>
          <a:xfrm>
            <a:off x="786161" y="268740"/>
            <a:ext cx="10766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effectLst/>
                <a:latin typeface="Helvetica Neue" panose="02000503000000020004" pitchFamily="2" charset="0"/>
              </a:rPr>
              <a:t>One transformer block combines everything: </a:t>
            </a:r>
            <a:r>
              <a:rPr lang="en-GB" dirty="0" err="1">
                <a:effectLst/>
                <a:latin typeface="Helvetica Neue" panose="02000503000000020004" pitchFamily="2" charset="0"/>
              </a:rPr>
              <a:t>LayerNorm</a:t>
            </a:r>
            <a:r>
              <a:rPr lang="en-GB" dirty="0">
                <a:effectLst/>
                <a:latin typeface="Helvetica Neue" panose="02000503000000020004" pitchFamily="2" charset="0"/>
              </a:rPr>
              <a:t> → Multi-Head Attention → Residual → </a:t>
            </a:r>
            <a:r>
              <a:rPr lang="en-GB" dirty="0" err="1">
                <a:effectLst/>
                <a:latin typeface="Helvetica Neue" panose="02000503000000020004" pitchFamily="2" charset="0"/>
              </a:rPr>
              <a:t>LayerNorm</a:t>
            </a:r>
            <a:r>
              <a:rPr lang="en-GB" dirty="0">
                <a:effectLst/>
                <a:latin typeface="Helvetica Neue" panose="02000503000000020004" pitchFamily="2" charset="0"/>
              </a:rPr>
              <a:t> → FFN → Residual. GPT-2 uses </a:t>
            </a:r>
            <a:r>
              <a:rPr lang="en-GB" b="1" dirty="0">
                <a:effectLst/>
                <a:latin typeface="Helvetica Neue" panose="02000503000000020004" pitchFamily="2" charset="0"/>
              </a:rPr>
              <a:t>Pre-Norm</a:t>
            </a:r>
            <a:r>
              <a:rPr lang="en-GB" dirty="0">
                <a:effectLst/>
                <a:latin typeface="Helvetica Neue" panose="02000503000000020004" pitchFamily="2" charset="0"/>
              </a:rPr>
              <a:t> (LN before sublayer).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52FD3B-8715-ED80-F914-5DD2EF4481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79" t="27135" r="47897" b="25213"/>
          <a:stretch>
            <a:fillRect/>
          </a:stretch>
        </p:blipFill>
        <p:spPr>
          <a:xfrm>
            <a:off x="786161" y="1215483"/>
            <a:ext cx="4912112" cy="5226677"/>
          </a:xfrm>
          <a:prstGeom prst="rect">
            <a:avLst/>
          </a:prstGeom>
        </p:spPr>
      </p:pic>
      <p:pic>
        <p:nvPicPr>
          <p:cNvPr id="3" name="Picture 2" descr="A diagram of a matrix&#10;&#10;AI-generated content may be incorrect.">
            <a:extLst>
              <a:ext uri="{FF2B5EF4-FFF2-40B4-BE49-F238E27FC236}">
                <a16:creationId xmlns:a16="http://schemas.microsoft.com/office/drawing/2014/main" id="{DB5BB077-1831-AD01-C05B-8F70BC86B1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66"/>
          <a:stretch>
            <a:fillRect/>
          </a:stretch>
        </p:blipFill>
        <p:spPr>
          <a:xfrm>
            <a:off x="6002454" y="1197060"/>
            <a:ext cx="5740400" cy="495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94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AFA4210-A325-A322-F110-B3AC392AA1FA}"/>
              </a:ext>
            </a:extLst>
          </p:cNvPr>
          <p:cNvSpPr txBox="1"/>
          <p:nvPr/>
        </p:nvSpPr>
        <p:spPr>
          <a:xfrm>
            <a:off x="189571" y="84911"/>
            <a:ext cx="11307335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sz="1100" dirty="0"/>
              <a:t>class MultiHeadAttention(nn.Module):</a:t>
            </a:r>
          </a:p>
          <a:p>
            <a:r>
              <a:rPr lang="en-LK" sz="1100" dirty="0"/>
              <a:t>    def __init__(self, d_model, n_heads, dropout=0.1):</a:t>
            </a:r>
          </a:p>
          <a:p>
            <a:r>
              <a:rPr lang="en-LK" sz="1100" dirty="0"/>
              <a:t>        super().__init__()</a:t>
            </a:r>
          </a:p>
          <a:p>
            <a:r>
              <a:rPr lang="en-LK" sz="1100" dirty="0"/>
              <a:t>        assert d_model % n_heads == 0</a:t>
            </a:r>
          </a:p>
          <a:p>
            <a:r>
              <a:rPr lang="en-LK" sz="1100" dirty="0"/>
              <a:t>        self.n_heads  = n_heads</a:t>
            </a:r>
          </a:p>
          <a:p>
            <a:r>
              <a:rPr lang="en-LK" sz="1100" dirty="0"/>
              <a:t>        self.head_dim = d_model // n_heads  # d_k</a:t>
            </a:r>
          </a:p>
          <a:p>
            <a:endParaRPr lang="en-LK" sz="1100" dirty="0"/>
          </a:p>
          <a:p>
            <a:r>
              <a:rPr lang="en-LK" sz="1100" dirty="0"/>
              <a:t>        # H separate sets of [d_model → d_k] projections</a:t>
            </a:r>
          </a:p>
          <a:p>
            <a:r>
              <a:rPr lang="en-LK" sz="1100" dirty="0"/>
              <a:t>        self.W_q = nn.ModuleList([nn.Linear(d_model, self.head_dim, bias=False) for _ in range(n_heads)])</a:t>
            </a:r>
          </a:p>
          <a:p>
            <a:r>
              <a:rPr lang="en-LK" sz="1100" dirty="0"/>
              <a:t>        self.W_k = nn.ModuleList([nn.Linear(d_model, self.head_dim, bias=False) for _ in range(n_heads)])</a:t>
            </a:r>
          </a:p>
          <a:p>
            <a:r>
              <a:rPr lang="en-LK" sz="1100" dirty="0"/>
              <a:t>        self.W_v = nn.ModuleList([nn.Linear(d_model, self.head_dim, bias=False) for _ in range(n_heads)])</a:t>
            </a:r>
          </a:p>
          <a:p>
            <a:endParaRPr lang="en-LK" sz="1100" dirty="0"/>
          </a:p>
          <a:p>
            <a:r>
              <a:rPr lang="en-LK" sz="1100" dirty="0"/>
              <a:t>        self.out_proj = nn.Linear(d_model, d_model, bias=False)</a:t>
            </a:r>
          </a:p>
          <a:p>
            <a:r>
              <a:rPr lang="en-LK" sz="1100" dirty="0"/>
              <a:t>        self.dropout  = nn.Dropout(dropout)</a:t>
            </a:r>
          </a:p>
          <a:p>
            <a:endParaRPr lang="en-LK" sz="1100" dirty="0"/>
          </a:p>
          <a:p>
            <a:r>
              <a:rPr lang="en-LK" sz="1100" dirty="0"/>
              <a:t>    def forward(self, x):</a:t>
            </a:r>
          </a:p>
          <a:p>
            <a:r>
              <a:rPr lang="en-LK" sz="1100" dirty="0"/>
              <a:t>        B, T, C = x.shape</a:t>
            </a:r>
          </a:p>
          <a:p>
            <a:endParaRPr lang="en-LK" sz="1100" dirty="0"/>
          </a:p>
          <a:p>
            <a:r>
              <a:rPr lang="en-LK" sz="1100" dirty="0"/>
              <a:t>        head_outputs = []</a:t>
            </a:r>
          </a:p>
          <a:p>
            <a:endParaRPr lang="en-LK" sz="1100" dirty="0"/>
          </a:p>
          <a:p>
            <a:r>
              <a:rPr lang="en-LK" sz="1100" dirty="0"/>
              <a:t>        for h in range(self.n_heads):</a:t>
            </a:r>
          </a:p>
          <a:p>
            <a:r>
              <a:rPr lang="en-LK" sz="1100" dirty="0"/>
              <a:t>            # each head has its own independent projection to d_k</a:t>
            </a:r>
          </a:p>
          <a:p>
            <a:r>
              <a:rPr lang="en-LK" sz="1100" dirty="0"/>
              <a:t>            Q_h = self.W_q[h](x)   # [B, T, d_k]</a:t>
            </a:r>
          </a:p>
          <a:p>
            <a:r>
              <a:rPr lang="en-LK" sz="1100" dirty="0"/>
              <a:t>            K_h = self.W_k[h](x)   # [B, T, d_k]</a:t>
            </a:r>
          </a:p>
          <a:p>
            <a:r>
              <a:rPr lang="en-LK" sz="1100" dirty="0"/>
              <a:t>            V_h = self.W_v[h](x)   # [B, T, d_k]</a:t>
            </a:r>
          </a:p>
          <a:p>
            <a:endParaRPr lang="en-LK" sz="1100" dirty="0"/>
          </a:p>
          <a:p>
            <a:r>
              <a:rPr lang="en-LK" sz="1100" dirty="0"/>
              <a:t>            # scaled dot-product attention</a:t>
            </a:r>
          </a:p>
          <a:p>
            <a:r>
              <a:rPr lang="en-LK" sz="1100" dirty="0"/>
              <a:t>            scores  = (Q_h @ K_h.transpose(-2, -1)) / (self.head_dim ** 0.5)  # [B, T, T]</a:t>
            </a:r>
          </a:p>
          <a:p>
            <a:r>
              <a:rPr lang="en-LK" sz="1100" dirty="0"/>
              <a:t>            mask    = torch.triu(torch.ones(T, T, device=x.device), diagonal=1).bool()</a:t>
            </a:r>
          </a:p>
          <a:p>
            <a:r>
              <a:rPr lang="en-LK" sz="1100" dirty="0"/>
              <a:t>            scores  = scores.masked_fill(mask, float('-inf'))</a:t>
            </a:r>
          </a:p>
          <a:p>
            <a:r>
              <a:rPr lang="en-LK" sz="1100" dirty="0"/>
              <a:t>            weights = F.softmax(scores, dim=-1)   # [B, T, T]</a:t>
            </a:r>
          </a:p>
          <a:p>
            <a:r>
              <a:rPr lang="en-LK" sz="1100" dirty="0"/>
              <a:t>            weights = self.dropout(weights)</a:t>
            </a:r>
          </a:p>
          <a:p>
            <a:endParaRPr lang="en-LK" sz="1100" dirty="0"/>
          </a:p>
          <a:p>
            <a:r>
              <a:rPr lang="en-LK" sz="1100" dirty="0"/>
              <a:t>            out_h = weights @ V_h   # [B, T, d_k]</a:t>
            </a:r>
          </a:p>
          <a:p>
            <a:r>
              <a:rPr lang="en-LK" sz="1100" dirty="0"/>
              <a:t>            head_outputs.append(out_h)</a:t>
            </a:r>
          </a:p>
          <a:p>
            <a:endParaRPr lang="en-LK" sz="1100" dirty="0"/>
          </a:p>
          <a:p>
            <a:r>
              <a:rPr lang="en-LK" sz="1100" dirty="0"/>
              <a:t>        # explicit concatenation of all head outputs along last dim</a:t>
            </a:r>
          </a:p>
          <a:p>
            <a:r>
              <a:rPr lang="en-LK" sz="1100" dirty="0"/>
              <a:t>        out = torch.cat(head_outputs, dim=-1)   # [B, T, n_heads*d_k] = [B, T, d_model]</a:t>
            </a:r>
          </a:p>
          <a:p>
            <a:endParaRPr lang="en-LK" sz="1100" dirty="0"/>
          </a:p>
          <a:p>
            <a:r>
              <a:rPr lang="en-LK" sz="1100" dirty="0"/>
              <a:t>        return self.out_proj(out)</a:t>
            </a:r>
          </a:p>
        </p:txBody>
      </p:sp>
    </p:spTree>
    <p:extLst>
      <p:ext uri="{BB962C8B-B14F-4D97-AF65-F5344CB8AC3E}">
        <p14:creationId xmlns:p14="http://schemas.microsoft.com/office/powerpoint/2010/main" val="4115996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65F846-6CD2-F4D6-D354-F869A7A9C729}"/>
              </a:ext>
            </a:extLst>
          </p:cNvPr>
          <p:cNvSpPr txBox="1"/>
          <p:nvPr/>
        </p:nvSpPr>
        <p:spPr>
          <a:xfrm>
            <a:off x="234175" y="0"/>
            <a:ext cx="9394902" cy="7032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sz="1100" dirty="0"/>
              <a:t>class MultiHeadAttention(nn.Module):</a:t>
            </a:r>
          </a:p>
          <a:p>
            <a:r>
              <a:rPr lang="en-LK" sz="1100" dirty="0"/>
              <a:t>    def __init__(self, d_model, n_heads, dropout=0.1):</a:t>
            </a:r>
          </a:p>
          <a:p>
            <a:r>
              <a:rPr lang="en-LK" sz="1100" dirty="0"/>
              <a:t>        super().__init__()</a:t>
            </a:r>
          </a:p>
          <a:p>
            <a:r>
              <a:rPr lang="en-LK" sz="1100" dirty="0"/>
              <a:t>        assert d_model % n_heads == 0</a:t>
            </a:r>
          </a:p>
          <a:p>
            <a:r>
              <a:rPr lang="en-LK" sz="1100" dirty="0"/>
              <a:t>        self.n_heads  = n_heads</a:t>
            </a:r>
          </a:p>
          <a:p>
            <a:r>
              <a:rPr lang="en-LK" sz="1100" dirty="0"/>
              <a:t>        self.head_dim = d_model // n_heads</a:t>
            </a:r>
          </a:p>
          <a:p>
            <a:r>
              <a:rPr lang="en-LK" sz="1100" dirty="0"/>
              <a:t>        # fused: equivalent to H separate [d_model, d_k] matrices stacked</a:t>
            </a:r>
          </a:p>
          <a:p>
            <a:r>
              <a:rPr lang="en-LK" sz="1100" dirty="0"/>
              <a:t>        self.W_q = nn.Linear(d_model, d_model, bias=False)</a:t>
            </a:r>
          </a:p>
          <a:p>
            <a:r>
              <a:rPr lang="en-LK" sz="1100" dirty="0"/>
              <a:t>        self.W_k = nn.Linear(d_model, d_model, bias=False)</a:t>
            </a:r>
          </a:p>
          <a:p>
            <a:r>
              <a:rPr lang="en-LK" sz="1100" dirty="0"/>
              <a:t>        self.W_v = nn.Linear(d_model, d_model, bias=False)</a:t>
            </a:r>
          </a:p>
          <a:p>
            <a:endParaRPr lang="en-LK" sz="1100" dirty="0"/>
          </a:p>
          <a:p>
            <a:r>
              <a:rPr lang="en-LK" sz="1100" dirty="0"/>
              <a:t>        self.out_proj = nn.Linear(d_model, d_model, bias=False)</a:t>
            </a:r>
          </a:p>
          <a:p>
            <a:r>
              <a:rPr lang="en-LK" sz="1100" dirty="0"/>
              <a:t>        self.dropout  = nn.Dropout(dropout)</a:t>
            </a:r>
          </a:p>
          <a:p>
            <a:endParaRPr lang="en-LK" sz="1100" dirty="0"/>
          </a:p>
          <a:p>
            <a:r>
              <a:rPr lang="en-LK" sz="1100" dirty="0"/>
              <a:t>    def forward(self, x):</a:t>
            </a:r>
          </a:p>
          <a:p>
            <a:r>
              <a:rPr lang="en-LK" sz="1100" dirty="0"/>
              <a:t>        B, T, C = x.shape</a:t>
            </a:r>
          </a:p>
          <a:p>
            <a:endParaRPr lang="en-LK" sz="1100" dirty="0"/>
          </a:p>
          <a:p>
            <a:r>
              <a:rPr lang="en-LK" sz="1100" dirty="0"/>
              <a:t>        # one big matmul instead of H small ones</a:t>
            </a:r>
          </a:p>
          <a:p>
            <a:r>
              <a:rPr lang="en-LK" sz="1100" dirty="0"/>
              <a:t>        Q = self.W_q(x)   # [B, T, d_model]</a:t>
            </a:r>
          </a:p>
          <a:p>
            <a:r>
              <a:rPr lang="en-LK" sz="1100" dirty="0"/>
              <a:t>        K = self.W_k(x)   # [B, T, d_model]</a:t>
            </a:r>
          </a:p>
          <a:p>
            <a:r>
              <a:rPr lang="en-LK" sz="1100" dirty="0"/>
              <a:t>        V = self.W_v(x)   # [B, T, d_model]</a:t>
            </a:r>
          </a:p>
          <a:p>
            <a:endParaRPr lang="en-LK" sz="1100" dirty="0"/>
          </a:p>
          <a:p>
            <a:r>
              <a:rPr lang="en-LK" sz="1100" dirty="0"/>
              <a:t>        # unstack H heads: [B, T, d_model] → [B, n_heads, T, head_dim]</a:t>
            </a:r>
          </a:p>
          <a:p>
            <a:r>
              <a:rPr lang="en-LK" sz="1100" dirty="0"/>
              <a:t>        Q = Q.reshape(B, T, self.n_heads, self.head_dim).transpose(1, 2)</a:t>
            </a:r>
          </a:p>
          <a:p>
            <a:r>
              <a:rPr lang="en-LK" sz="1100" dirty="0"/>
              <a:t>        K = K.reshape(B, T, self.n_heads, self.head_dim).transpose(1, 2)</a:t>
            </a:r>
          </a:p>
          <a:p>
            <a:r>
              <a:rPr lang="en-LK" sz="1100" dirty="0"/>
              <a:t>        V = V.reshape(B, T, self.n_heads, self.head_dim).transpose(1, 2)</a:t>
            </a:r>
          </a:p>
          <a:p>
            <a:endParaRPr lang="en-LK" sz="1100" dirty="0"/>
          </a:p>
          <a:p>
            <a:r>
              <a:rPr lang="en-LK" sz="1100" dirty="0"/>
              <a:t>        # scaled dot-product attention across all heads simultaneously</a:t>
            </a:r>
          </a:p>
          <a:p>
            <a:r>
              <a:rPr lang="en-LK" sz="1100" dirty="0"/>
              <a:t>        scores  = (Q @ K.transpose(-2, -1)) / (self.head_dim ** 0.5)  # [B, n_heads, T, T]</a:t>
            </a:r>
          </a:p>
          <a:p>
            <a:r>
              <a:rPr lang="en-LK" sz="1100" dirty="0"/>
              <a:t>        mask    = torch.triu(torch.ones(T, T, device=x.device), diagonal=1).bool()</a:t>
            </a:r>
          </a:p>
          <a:p>
            <a:r>
              <a:rPr lang="en-LK" sz="1100" dirty="0"/>
              <a:t>        scores  = scores.masked_fill(mask, float('-inf'))</a:t>
            </a:r>
          </a:p>
          <a:p>
            <a:r>
              <a:rPr lang="en-LK" sz="1100" dirty="0"/>
              <a:t>        weights = F.softmax(scores, dim=-1)                            # [B, n_heads, T, T]</a:t>
            </a:r>
          </a:p>
          <a:p>
            <a:r>
              <a:rPr lang="en-LK" sz="1100" dirty="0"/>
              <a:t>        weights = self.dropout(weights)</a:t>
            </a:r>
          </a:p>
          <a:p>
            <a:endParaRPr lang="en-LK" sz="1100" dirty="0"/>
          </a:p>
          <a:p>
            <a:r>
              <a:rPr lang="en-LK" sz="1100" dirty="0"/>
              <a:t>        out = weights @ V                          # [B, n_heads, T, head_dim]</a:t>
            </a:r>
          </a:p>
          <a:p>
            <a:endParaRPr lang="en-LK" sz="1100" dirty="0"/>
          </a:p>
          <a:p>
            <a:r>
              <a:rPr lang="en-LK" sz="1100" dirty="0"/>
              <a:t>        # concat heads: [B, n_heads, T, head_dim] → [B, T, d_model]</a:t>
            </a:r>
          </a:p>
          <a:p>
            <a:r>
              <a:rPr lang="en-LK" sz="1100" dirty="0"/>
              <a:t>        out = out.transpose(1, 2).reshape(B, T, C)</a:t>
            </a:r>
          </a:p>
          <a:p>
            <a:endParaRPr lang="en-LK" sz="1100" dirty="0"/>
          </a:p>
          <a:p>
            <a:r>
              <a:rPr lang="en-LK" sz="1100" dirty="0"/>
              <a:t>        return self.out_proj(out)</a:t>
            </a:r>
          </a:p>
        </p:txBody>
      </p:sp>
    </p:spTree>
    <p:extLst>
      <p:ext uri="{BB962C8B-B14F-4D97-AF65-F5344CB8AC3E}">
        <p14:creationId xmlns:p14="http://schemas.microsoft.com/office/powerpoint/2010/main" val="1410509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52C832A-CA84-5050-366C-EFE805EA0A69}"/>
              </a:ext>
            </a:extLst>
          </p:cNvPr>
          <p:cNvSpPr txBox="1"/>
          <p:nvPr/>
        </p:nvSpPr>
        <p:spPr>
          <a:xfrm>
            <a:off x="752707" y="335647"/>
            <a:ext cx="10175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 err="1">
                <a:effectLst/>
                <a:latin typeface="Helvetica Neue" panose="02000503000000020004" pitchFamily="2" charset="0"/>
              </a:rPr>
              <a:t>Feedfoward</a:t>
            </a:r>
            <a:endParaRPr lang="en-GB" b="1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endParaRPr lang="en-GB" b="1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GB" dirty="0">
                <a:effectLst/>
                <a:latin typeface="Helvetica Neue" panose="02000503000000020004" pitchFamily="2" charset="0"/>
              </a:rPr>
              <a:t>After attention, each position is processed independently through a 2-layer MLP with a GELU activation. The inner dimension is typically 4× </a:t>
            </a:r>
            <a:r>
              <a:rPr lang="en-GB" dirty="0" err="1">
                <a:effectLst/>
                <a:latin typeface="Helvetica Neue" panose="02000503000000020004" pitchFamily="2" charset="0"/>
              </a:rPr>
              <a:t>d_model</a:t>
            </a:r>
            <a:r>
              <a:rPr lang="en-GB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0B6C3-C64F-AE03-F889-A74C0B300F55}"/>
              </a:ext>
            </a:extLst>
          </p:cNvPr>
          <p:cNvSpPr txBox="1"/>
          <p:nvPr/>
        </p:nvSpPr>
        <p:spPr>
          <a:xfrm>
            <a:off x="752707" y="1899260"/>
            <a:ext cx="60997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class FeedForward(nn.Module):</a:t>
            </a:r>
          </a:p>
          <a:p>
            <a:r>
              <a:rPr lang="en-LK" dirty="0"/>
              <a:t>    def __init__(self,d_model,dropout=0.1):</a:t>
            </a:r>
          </a:p>
          <a:p>
            <a:r>
              <a:rPr lang="en-LK" dirty="0"/>
              <a:t>        super().__init__()</a:t>
            </a:r>
          </a:p>
          <a:p>
            <a:r>
              <a:rPr lang="en-LK" dirty="0"/>
              <a:t>        self.net=nn.Sequential(</a:t>
            </a:r>
          </a:p>
          <a:p>
            <a:r>
              <a:rPr lang="en-LK" dirty="0"/>
              <a:t>            nn.Linear(d_model,4*d_model),</a:t>
            </a:r>
          </a:p>
          <a:p>
            <a:r>
              <a:rPr lang="en-LK" dirty="0"/>
              <a:t>            nn.GELU(),</a:t>
            </a:r>
          </a:p>
          <a:p>
            <a:r>
              <a:rPr lang="en-LK" dirty="0"/>
              <a:t>            nn.Linear(4*d_model,d_model),</a:t>
            </a:r>
          </a:p>
          <a:p>
            <a:r>
              <a:rPr lang="en-LK" dirty="0"/>
              <a:t>            nn.Dropout(dropout),</a:t>
            </a:r>
          </a:p>
          <a:p>
            <a:r>
              <a:rPr lang="en-LK" dirty="0"/>
              <a:t>        )</a:t>
            </a:r>
          </a:p>
          <a:p>
            <a:endParaRPr lang="en-LK" dirty="0"/>
          </a:p>
          <a:p>
            <a:r>
              <a:rPr lang="en-LK" dirty="0"/>
              <a:t>    def forward(self,x):</a:t>
            </a:r>
          </a:p>
          <a:p>
            <a:r>
              <a:rPr lang="en-LK" dirty="0"/>
              <a:t>        return self.net(x)</a:t>
            </a:r>
          </a:p>
        </p:txBody>
      </p:sp>
    </p:spTree>
    <p:extLst>
      <p:ext uri="{BB962C8B-B14F-4D97-AF65-F5344CB8AC3E}">
        <p14:creationId xmlns:p14="http://schemas.microsoft.com/office/powerpoint/2010/main" val="1662661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353CF10-C330-E1CC-6A67-488520D307EF}"/>
              </a:ext>
            </a:extLst>
          </p:cNvPr>
          <p:cNvSpPr txBox="1"/>
          <p:nvPr/>
        </p:nvSpPr>
        <p:spPr>
          <a:xfrm>
            <a:off x="429322" y="1281258"/>
            <a:ext cx="928338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class TransformerBlock(nn.Module):</a:t>
            </a:r>
          </a:p>
          <a:p>
            <a:r>
              <a:rPr lang="en-LK" dirty="0"/>
              <a:t>    def __init__(self,d_model,n_heads,dropout=0.1):</a:t>
            </a:r>
          </a:p>
          <a:p>
            <a:r>
              <a:rPr lang="en-LK" dirty="0"/>
              <a:t>        super().__init__()</a:t>
            </a:r>
          </a:p>
          <a:p>
            <a:r>
              <a:rPr lang="en-LK" dirty="0"/>
              <a:t>        self.ln1=nn.LayerNorm(d_model)</a:t>
            </a:r>
          </a:p>
          <a:p>
            <a:r>
              <a:rPr lang="en-LK" dirty="0"/>
              <a:t>        self.attn=MultiHeadAttention(d_model,n_heads,dropout)</a:t>
            </a:r>
          </a:p>
          <a:p>
            <a:r>
              <a:rPr lang="en-LK" dirty="0"/>
              <a:t>        self.ln2=nn.LayerNorm(d_model)</a:t>
            </a:r>
          </a:p>
          <a:p>
            <a:r>
              <a:rPr lang="en-LK" dirty="0"/>
              <a:t>        self.ffn=FeedForward(d_model,dropout)</a:t>
            </a:r>
          </a:p>
          <a:p>
            <a:endParaRPr lang="en-LK" dirty="0"/>
          </a:p>
          <a:p>
            <a:r>
              <a:rPr lang="en-LK" dirty="0"/>
              <a:t>    def forward(self,x):</a:t>
            </a:r>
          </a:p>
          <a:p>
            <a:r>
              <a:rPr lang="en-LK" dirty="0"/>
              <a:t>        x=x+self.attn(self.ln1(x))</a:t>
            </a:r>
          </a:p>
          <a:p>
            <a:r>
              <a:rPr lang="en-LK" dirty="0"/>
              <a:t>        x=x+self.ffn(self.ln2(x))</a:t>
            </a:r>
          </a:p>
          <a:p>
            <a:r>
              <a:rPr lang="en-LK" dirty="0"/>
              <a:t>        return 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4285EE-246B-0486-C918-8904E0D09188}"/>
              </a:ext>
            </a:extLst>
          </p:cNvPr>
          <p:cNvSpPr txBox="1"/>
          <p:nvPr/>
        </p:nvSpPr>
        <p:spPr>
          <a:xfrm>
            <a:off x="429323" y="691376"/>
            <a:ext cx="2092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b="1" dirty="0"/>
              <a:t>Transformer block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295783-D807-D182-A18F-348BBADACD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79" t="27135" r="47897" b="25213"/>
          <a:stretch>
            <a:fillRect/>
          </a:stretch>
        </p:blipFill>
        <p:spPr>
          <a:xfrm>
            <a:off x="6850565" y="815661"/>
            <a:ext cx="4912112" cy="522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86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6F98BF-4946-9C31-60C6-F9D46A9523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27" t="28679" r="21928" b="38449"/>
          <a:stretch>
            <a:fillRect/>
          </a:stretch>
        </p:blipFill>
        <p:spPr>
          <a:xfrm>
            <a:off x="944919" y="814039"/>
            <a:ext cx="10302161" cy="38471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1308F8-BF5D-602F-652C-A8DD06938F0A}"/>
              </a:ext>
            </a:extLst>
          </p:cNvPr>
          <p:cNvSpPr/>
          <p:nvPr/>
        </p:nvSpPr>
        <p:spPr>
          <a:xfrm>
            <a:off x="1996068" y="1683834"/>
            <a:ext cx="501805" cy="256478"/>
          </a:xfrm>
          <a:prstGeom prst="rect">
            <a:avLst/>
          </a:prstGeom>
          <a:solidFill>
            <a:srgbClr val="1116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874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1442</TotalTime>
  <Words>2196</Words>
  <Application>Microsoft Macintosh PowerPoint</Application>
  <PresentationFormat>Widescreen</PresentationFormat>
  <Paragraphs>193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Helvetica Neue</vt:lpstr>
      <vt:lpstr>Office Theme</vt:lpstr>
      <vt:lpstr>Attention mechanism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Maneesha</dc:creator>
  <cp:lastModifiedBy>Maneesha</cp:lastModifiedBy>
  <cp:revision>9</cp:revision>
  <dcterms:created xsi:type="dcterms:W3CDTF">2026-04-27T10:03:30Z</dcterms:created>
  <dcterms:modified xsi:type="dcterms:W3CDTF">2026-04-29T14:02:33Z</dcterms:modified>
</cp:coreProperties>
</file>