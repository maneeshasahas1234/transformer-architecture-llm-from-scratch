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10"/>
  </p:normalViewPr>
  <p:slideViewPr>
    <p:cSldViewPr snapToGrid="0">
      <p:cViewPr varScale="1">
        <p:scale>
          <a:sx n="116" d="100"/>
          <a:sy n="116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5F91-9E00-7F33-1CB2-EF5CDF714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389E7-D6D5-319C-49AD-20FCFB40E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4D45C-BA8F-B090-236C-7466189B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2FB1-9437-874E-BBF3-254B0A3C1D98}" type="datetimeFigureOut">
              <a:rPr lang="en-LK" smtClean="0"/>
              <a:t>2026-04-27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3F501-9E59-C41C-A138-BB2D3502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9998F-BAF3-2B50-29DF-A66B1360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894D0-331D-CF4B-A1B9-9960F7874F7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97258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C052F-7CA2-3889-9A77-B90CD182E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806FA-8B0F-56C0-8E97-1ECEC122D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246F4-8381-414F-B700-0E9A8A63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2FB1-9437-874E-BBF3-254B0A3C1D98}" type="datetimeFigureOut">
              <a:rPr lang="en-LK" smtClean="0"/>
              <a:t>2026-04-27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8076B-0E7E-595B-53C0-CAF94A77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1E26B-2339-667F-00CA-5601DDFC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894D0-331D-CF4B-A1B9-9960F7874F7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53785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4884-DCE9-7979-6C4C-3FCDD68BE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63D77-A2FD-88C0-8A5A-505B5FE74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72B21-AADA-2F46-AE27-2C21CC2A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2FB1-9437-874E-BBF3-254B0A3C1D98}" type="datetimeFigureOut">
              <a:rPr lang="en-LK" smtClean="0"/>
              <a:t>2026-04-27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498EF-85F4-E49F-5FA4-BACFC1386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C33C0-5A80-C78A-E51B-D5D2F0E0A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894D0-331D-CF4B-A1B9-9960F7874F7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18982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604D-5FBA-7B71-75E9-25ADD3FB2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4216C-3A16-DE44-7354-479110C986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6175F4-CA3C-7359-20F4-3E17056AC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D8571-DF80-C7C6-B920-D7F8E1FB3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2FB1-9437-874E-BBF3-254B0A3C1D98}" type="datetimeFigureOut">
              <a:rPr lang="en-LK" smtClean="0"/>
              <a:t>2026-04-27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320A9-2B8F-B340-C346-D9F171756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C6525-52F8-31EA-2EEA-64977920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894D0-331D-CF4B-A1B9-9960F7874F7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70021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0ECCF-52CA-ED86-C263-E149A1B4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28AC8-6761-06E3-9C7B-983C194B3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C81E3-8299-5165-E065-2337839BE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425D5E-F0AF-2CA4-8D91-7016014E2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54EEDB-2C61-D32F-FEC1-50CB396CF0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7A9543-12D9-01D7-8060-67CB3614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2FB1-9437-874E-BBF3-254B0A3C1D98}" type="datetimeFigureOut">
              <a:rPr lang="en-LK" smtClean="0"/>
              <a:t>2026-04-27</a:t>
            </a:fld>
            <a:endParaRPr lang="en-L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BC6D1-8CCF-E4B7-FC96-2D62907E8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DCAC0A-0A28-D0C5-4370-9CB4D7BF2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894D0-331D-CF4B-A1B9-9960F7874F7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089453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3FFC1-CBCB-0437-C3C6-DF928C1E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FFF5FA-7459-E588-18B0-20072B626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2FB1-9437-874E-BBF3-254B0A3C1D98}" type="datetimeFigureOut">
              <a:rPr lang="en-LK" smtClean="0"/>
              <a:t>2026-04-27</a:t>
            </a:fld>
            <a:endParaRPr lang="en-L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77B10-B6AD-7727-EDBA-ACC037AE3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2EB7B-E531-F235-6AD9-61886E63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894D0-331D-CF4B-A1B9-9960F7874F7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76833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CE9BD-FD41-6074-5CAD-F37DA095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2FB1-9437-874E-BBF3-254B0A3C1D98}" type="datetimeFigureOut">
              <a:rPr lang="en-LK" smtClean="0"/>
              <a:t>2026-04-27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D3BE7F-9009-8E34-11C5-4D7C1AFA7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B934E-3D04-36BA-0A05-FC8BA994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894D0-331D-CF4B-A1B9-9960F7874F7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362412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8E7D-887C-ACC8-E6E3-3735774BD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F4E4B-6024-1430-13DC-D7453BA0C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473C2-7C04-703C-2C7A-B36A109FC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A7630-17C6-AD3C-AA08-F4ECB2AD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2FB1-9437-874E-BBF3-254B0A3C1D98}" type="datetimeFigureOut">
              <a:rPr lang="en-LK" smtClean="0"/>
              <a:t>2026-04-27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BD1A5-DDF3-A6A3-779D-BD632766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27EF1-D134-C310-440F-FACC9AA2D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894D0-331D-CF4B-A1B9-9960F7874F7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98505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A4889-038F-0357-63B3-049BEE97F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4F257C-E10D-9FCB-DD4D-63D839F11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A0902-E902-A702-DC50-36764C365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92E4B-7B0A-3757-887D-BB3D239AE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2FB1-9437-874E-BBF3-254B0A3C1D98}" type="datetimeFigureOut">
              <a:rPr lang="en-LK" smtClean="0"/>
              <a:t>2026-04-27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71C5D-1AF2-DF21-C1E7-4750FC1C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653B8-0988-2306-2249-C9AA48D08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894D0-331D-CF4B-A1B9-9960F7874F7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744870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FBA7-BDAE-2155-39BA-CA45E171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F207C-06ED-39FA-2BCF-4942EC949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12F70-ECD8-107E-8A3E-6597937D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2FB1-9437-874E-BBF3-254B0A3C1D98}" type="datetimeFigureOut">
              <a:rPr lang="en-LK" smtClean="0"/>
              <a:t>2026-04-27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FE248-63E8-6970-C79B-A8DA31EB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0C823-0277-8531-AFBD-EC8F800A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894D0-331D-CF4B-A1B9-9960F7874F7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182821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CC632C-7B1A-992B-2EA1-3069E8253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168BA2-5C55-1D45-950F-91287411C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BAAAD-E6B3-FD7B-22B7-00EE36B40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2FB1-9437-874E-BBF3-254B0A3C1D98}" type="datetimeFigureOut">
              <a:rPr lang="en-LK" smtClean="0"/>
              <a:t>2026-04-27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58143-195D-305C-1534-58D68057A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41475-3735-8B63-A1B4-9177C247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894D0-331D-CF4B-A1B9-9960F7874F7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130174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E9E9E-F971-9548-2EFB-F3EAD899A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81D83-D03B-5C74-1960-37ACA3528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76E97-60B6-711B-9163-6A0CA942D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E2FB1-9437-874E-BBF3-254B0A3C1D98}" type="datetimeFigureOut">
              <a:rPr lang="en-LK" smtClean="0"/>
              <a:t>2026-04-27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3D1D5-87EA-B538-2906-148FCF58D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A0FB4-4345-6C37-3169-0F3DBCEC0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894D0-331D-CF4B-A1B9-9960F7874F7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20377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8112-6B43-054A-E591-D49C3D3F0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86903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 </a:t>
            </a:r>
            <a:r>
              <a:rPr lang="en-GB" b="1" dirty="0"/>
              <a:t>Layer Normalization</a:t>
            </a:r>
            <a:br>
              <a:rPr lang="en-GB" b="1" dirty="0"/>
            </a:br>
            <a:r>
              <a:rPr lang="en-GB" b="1" dirty="0"/>
              <a:t> and Dropout</a:t>
            </a:r>
            <a:br>
              <a:rPr lang="en-GB" b="1" dirty="0"/>
            </a:br>
            <a:br>
              <a:rPr lang="en-GB" dirty="0"/>
            </a:br>
            <a:br>
              <a:rPr lang="en-GB" dirty="0"/>
            </a:br>
            <a:endParaRPr lang="en-L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3F9C7-2AEE-F2F3-0882-32822014D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en-LK" dirty="0"/>
              <a:t>A lecture by Maneesha Rajapaksha</a:t>
            </a:r>
          </a:p>
        </p:txBody>
      </p:sp>
      <p:pic>
        <p:nvPicPr>
          <p:cNvPr id="5" name="Picture 4" descr="A blue and yellow logo&#10;&#10;AI-generated content may be incorrect.">
            <a:extLst>
              <a:ext uri="{FF2B5EF4-FFF2-40B4-BE49-F238E27FC236}">
                <a16:creationId xmlns:a16="http://schemas.microsoft.com/office/drawing/2014/main" id="{BA2089B0-C097-D1B2-A433-95FD27A98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272" y="2017907"/>
            <a:ext cx="3035455" cy="303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3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54446-08F8-EF8F-56FF-CA65246F8C54}"/>
              </a:ext>
            </a:extLst>
          </p:cNvPr>
          <p:cNvSpPr txBox="1"/>
          <p:nvPr/>
        </p:nvSpPr>
        <p:spPr>
          <a:xfrm>
            <a:off x="625206" y="248922"/>
            <a:ext cx="6205251" cy="940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94A3B8"/>
                </a:solidFill>
                <a:effectLst/>
                <a:latin typeface="DM Sans" pitchFamily="2" charset="77"/>
              </a:rPr>
              <a:t>GPT-2 uses </a:t>
            </a:r>
            <a:r>
              <a:rPr lang="en-GB" b="1" i="0" dirty="0">
                <a:solidFill>
                  <a:srgbClr val="94A3B8"/>
                </a:solidFill>
                <a:effectLst/>
                <a:latin typeface="DM Sans" pitchFamily="2" charset="77"/>
              </a:rPr>
              <a:t>Layer Normalization</a:t>
            </a:r>
            <a:r>
              <a:rPr lang="en-GB" b="0" i="0" dirty="0">
                <a:solidFill>
                  <a:srgbClr val="94A3B8"/>
                </a:solidFill>
                <a:effectLst/>
                <a:latin typeface="DM Sans" pitchFamily="2" charset="77"/>
              </a:rPr>
              <a:t> (not Batch Norm). It normalizes across the feature dimension (</a:t>
            </a:r>
            <a:r>
              <a:rPr lang="en-GB" b="0" i="0" dirty="0" err="1">
                <a:solidFill>
                  <a:srgbClr val="94A3B8"/>
                </a:solidFill>
                <a:effectLst/>
                <a:latin typeface="DM Sans" pitchFamily="2" charset="77"/>
              </a:rPr>
              <a:t>d_model</a:t>
            </a:r>
            <a:r>
              <a:rPr lang="en-GB" b="0" i="0" dirty="0">
                <a:solidFill>
                  <a:srgbClr val="94A3B8"/>
                </a:solidFill>
                <a:effectLst/>
                <a:latin typeface="DM Sans" pitchFamily="2" charset="77"/>
              </a:rPr>
              <a:t>=768) independently for each token position.</a:t>
            </a:r>
            <a:endParaRPr lang="en-L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0EAB1-C20A-E8B2-2CAA-FE67376E44D1}"/>
              </a:ext>
            </a:extLst>
          </p:cNvPr>
          <p:cNvSpPr txBox="1"/>
          <p:nvPr/>
        </p:nvSpPr>
        <p:spPr>
          <a:xfrm>
            <a:off x="625206" y="1504834"/>
            <a:ext cx="60978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effectLst/>
                <a:latin typeface=".AppleSystemUIFontMonospaced"/>
              </a:rPr>
              <a:t># For each token vector x of shape (768,):</a:t>
            </a:r>
          </a:p>
          <a:p>
            <a:pPr>
              <a:buNone/>
            </a:pPr>
            <a:r>
              <a:rPr lang="el-GR" dirty="0">
                <a:effectLst/>
                <a:latin typeface=".AppleSystemUIFontMonospaced"/>
              </a:rPr>
              <a:t>μ  = </a:t>
            </a:r>
            <a:r>
              <a:rPr lang="en-GB" dirty="0">
                <a:effectLst/>
                <a:latin typeface=".AppleSystemUIFontMonospaced"/>
              </a:rPr>
              <a:t>mean(x)                        # scalar</a:t>
            </a:r>
          </a:p>
          <a:p>
            <a:pPr>
              <a:buNone/>
            </a:pPr>
            <a:r>
              <a:rPr lang="el-GR" dirty="0">
                <a:effectLst/>
                <a:latin typeface=".AppleSystemUIFontMonospaced"/>
              </a:rPr>
              <a:t>σ² = </a:t>
            </a:r>
            <a:r>
              <a:rPr lang="en-GB" dirty="0">
                <a:effectLst/>
                <a:latin typeface=".AppleSystemUIFontMonospaced"/>
              </a:rPr>
              <a:t>var(x)                         # scalar</a:t>
            </a:r>
          </a:p>
          <a:p>
            <a:pPr>
              <a:buNone/>
            </a:pPr>
            <a:r>
              <a:rPr lang="en-GB" dirty="0">
                <a:effectLst/>
                <a:latin typeface=".AppleSystemUIFontMonospaced"/>
              </a:rPr>
              <a:t>x̂  = (x - </a:t>
            </a:r>
            <a:r>
              <a:rPr lang="el-GR" dirty="0">
                <a:effectLst/>
                <a:latin typeface=".AppleSystemUIFontMonospaced"/>
              </a:rPr>
              <a:t>μ) / √(σ² + ε)          # </a:t>
            </a:r>
            <a:r>
              <a:rPr lang="en-GB" dirty="0">
                <a:effectLst/>
                <a:latin typeface=".AppleSystemUIFontMonospaced"/>
              </a:rPr>
              <a:t>normalize to zero mean, unit var</a:t>
            </a:r>
          </a:p>
          <a:p>
            <a:pPr>
              <a:buNone/>
            </a:pPr>
            <a:r>
              <a:rPr lang="en-GB" dirty="0">
                <a:effectLst/>
                <a:latin typeface=".AppleSystemUIFontMonospaced"/>
              </a:rPr>
              <a:t>y  = </a:t>
            </a:r>
            <a:r>
              <a:rPr lang="el-GR" dirty="0">
                <a:effectLst/>
                <a:latin typeface=".AppleSystemUIFontMonospaced"/>
              </a:rPr>
              <a:t>γ </a:t>
            </a:r>
            <a:r>
              <a:rPr lang="el-GR" dirty="0">
                <a:effectLst/>
                <a:latin typeface="Menlo" panose="020B0609030804020204" pitchFamily="49" charset="0"/>
              </a:rPr>
              <a:t>⊙</a:t>
            </a:r>
            <a:r>
              <a:rPr lang="el-GR" dirty="0">
                <a:effectLst/>
                <a:latin typeface=".AppleSystemUIFontMonospaced"/>
              </a:rPr>
              <a:t> </a:t>
            </a:r>
            <a:r>
              <a:rPr lang="en-GB" dirty="0">
                <a:effectLst/>
                <a:latin typeface=".AppleSystemUIFontMonospaced"/>
              </a:rPr>
              <a:t>x̂ + </a:t>
            </a:r>
            <a:r>
              <a:rPr lang="el-GR" dirty="0">
                <a:effectLst/>
                <a:latin typeface=".AppleSystemUIFontMonospaced"/>
              </a:rPr>
              <a:t>β                     # </a:t>
            </a:r>
            <a:r>
              <a:rPr lang="en-GB" dirty="0">
                <a:effectLst/>
                <a:latin typeface=".AppleSystemUIFontMonospaced"/>
              </a:rPr>
              <a:t>scale &amp; shift (learnable)</a:t>
            </a:r>
          </a:p>
          <a:p>
            <a:pPr>
              <a:buNone/>
            </a:pPr>
            <a:br>
              <a:rPr lang="en-GB" dirty="0">
                <a:effectLst/>
                <a:latin typeface=".AppleSystemUIFontMonospaced"/>
              </a:rPr>
            </a:br>
            <a:endParaRPr lang="en-GB" dirty="0">
              <a:effectLst/>
              <a:latin typeface=".AppleSystemUIFontMonospaced"/>
            </a:endParaRPr>
          </a:p>
          <a:p>
            <a:pPr>
              <a:buNone/>
            </a:pPr>
            <a:r>
              <a:rPr lang="en-GB" dirty="0">
                <a:effectLst/>
                <a:latin typeface=".AppleSystemUIFontMonospaced"/>
              </a:rPr>
              <a:t># </a:t>
            </a:r>
            <a:r>
              <a:rPr lang="el-GR" dirty="0">
                <a:effectLst/>
                <a:latin typeface=".AppleSystemUIFontMonospaced"/>
              </a:rPr>
              <a:t>γ (</a:t>
            </a:r>
            <a:r>
              <a:rPr lang="en-GB" dirty="0">
                <a:effectLst/>
                <a:latin typeface=".AppleSystemUIFontMonospaced"/>
              </a:rPr>
              <a:t>gain) initialized to 1.0, shape (768,)</a:t>
            </a:r>
          </a:p>
          <a:p>
            <a:pPr>
              <a:buNone/>
            </a:pPr>
            <a:r>
              <a:rPr lang="en-GB" dirty="0">
                <a:effectLst/>
                <a:latin typeface=".AppleSystemUIFontMonospaced"/>
              </a:rPr>
              <a:t># </a:t>
            </a:r>
            <a:r>
              <a:rPr lang="el-GR" dirty="0">
                <a:effectLst/>
                <a:latin typeface=".AppleSystemUIFontMonospaced"/>
              </a:rPr>
              <a:t>β (</a:t>
            </a:r>
            <a:r>
              <a:rPr lang="en-GB" dirty="0">
                <a:effectLst/>
                <a:latin typeface=".AppleSystemUIFontMonospaced"/>
              </a:rPr>
              <a:t>bias) initialized to 0.0, shape (768,)</a:t>
            </a:r>
          </a:p>
          <a:p>
            <a:pPr>
              <a:buNone/>
            </a:pPr>
            <a:r>
              <a:rPr lang="en-GB" dirty="0">
                <a:effectLst/>
                <a:latin typeface=".AppleSystemUIFontMonospaced"/>
              </a:rPr>
              <a:t># </a:t>
            </a:r>
            <a:r>
              <a:rPr lang="el-GR" dirty="0">
                <a:effectLst/>
                <a:latin typeface=".AppleSystemUIFontMonospaced"/>
              </a:rPr>
              <a:t>ε = 1</a:t>
            </a:r>
            <a:r>
              <a:rPr lang="en-GB" dirty="0">
                <a:effectLst/>
                <a:latin typeface=".AppleSystemUIFontMonospaced"/>
              </a:rPr>
              <a:t>e-5 for numerical stability</a:t>
            </a:r>
          </a:p>
        </p:txBody>
      </p:sp>
    </p:spTree>
    <p:extLst>
      <p:ext uri="{BB962C8B-B14F-4D97-AF65-F5344CB8AC3E}">
        <p14:creationId xmlns:p14="http://schemas.microsoft.com/office/powerpoint/2010/main" val="205618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BB17EF-C830-C61A-5C15-F63739DA35D2}"/>
              </a:ext>
            </a:extLst>
          </p:cNvPr>
          <p:cNvSpPr txBox="1"/>
          <p:nvPr/>
        </p:nvSpPr>
        <p:spPr>
          <a:xfrm>
            <a:off x="515037" y="1305341"/>
            <a:ext cx="88933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class LayerNorm(nn.Module):</a:t>
            </a:r>
          </a:p>
          <a:p>
            <a:r>
              <a:rPr lang="en-LK" dirty="0"/>
              <a:t>    def __init__(self,d_model,bias=True,eps=1e-5):</a:t>
            </a:r>
          </a:p>
          <a:p>
            <a:r>
              <a:rPr lang="en-LK" dirty="0"/>
              <a:t>        super().__init__()</a:t>
            </a:r>
          </a:p>
          <a:p>
            <a:r>
              <a:rPr lang="en-LK" dirty="0"/>
              <a:t>        self.weight=nn.Parameter(torch.ones(d_model))</a:t>
            </a:r>
          </a:p>
          <a:p>
            <a:r>
              <a:rPr lang="en-LK" dirty="0"/>
              <a:t>        self.bias=nn.Parameter(torch.zeros(d_model)) if bias else None</a:t>
            </a:r>
          </a:p>
          <a:p>
            <a:r>
              <a:rPr lang="en-LK" dirty="0"/>
              <a:t>        self.eps=eps</a:t>
            </a:r>
          </a:p>
          <a:p>
            <a:r>
              <a:rPr lang="en-LK" dirty="0"/>
              <a:t>    def forward(self,x):</a:t>
            </a:r>
          </a:p>
          <a:p>
            <a:r>
              <a:rPr lang="en-LK" dirty="0"/>
              <a:t>        mean=x.mean(dim=-1,keepdim=True)</a:t>
            </a:r>
          </a:p>
          <a:p>
            <a:r>
              <a:rPr lang="en-LK" dirty="0"/>
              <a:t>        var=x.var(dim=-1,keepdim=True,unbiased=False)</a:t>
            </a:r>
          </a:p>
          <a:p>
            <a:r>
              <a:rPr lang="en-LK" dirty="0"/>
              <a:t>        x_norm=(x-mean)/torch.sqrt(var+self.eps)</a:t>
            </a:r>
          </a:p>
          <a:p>
            <a:r>
              <a:rPr lang="en-LK" dirty="0"/>
              <a:t>        out=self.weight*x_norm</a:t>
            </a:r>
          </a:p>
          <a:p>
            <a:r>
              <a:rPr lang="en-LK" dirty="0"/>
              <a:t>        if self.bias is not None:</a:t>
            </a:r>
          </a:p>
          <a:p>
            <a:r>
              <a:rPr lang="en-LK" dirty="0"/>
              <a:t>            out=out+self.bias</a:t>
            </a:r>
          </a:p>
          <a:p>
            <a:r>
              <a:rPr lang="en-LK" dirty="0"/>
              <a:t>        return out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EB1C9B-FF92-38D7-B458-863E52795AE4}"/>
              </a:ext>
            </a:extLst>
          </p:cNvPr>
          <p:cNvSpPr txBox="1"/>
          <p:nvPr/>
        </p:nvSpPr>
        <p:spPr>
          <a:xfrm>
            <a:off x="515037" y="51779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b="1" dirty="0"/>
              <a:t>From scratch</a:t>
            </a:r>
          </a:p>
        </p:txBody>
      </p:sp>
    </p:spTree>
    <p:extLst>
      <p:ext uri="{BB962C8B-B14F-4D97-AF65-F5344CB8AC3E}">
        <p14:creationId xmlns:p14="http://schemas.microsoft.com/office/powerpoint/2010/main" val="4042264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9D75F2-EF2C-2D01-90E7-AC940BC3C569}"/>
              </a:ext>
            </a:extLst>
          </p:cNvPr>
          <p:cNvSpPr txBox="1"/>
          <p:nvPr/>
        </p:nvSpPr>
        <p:spPr>
          <a:xfrm>
            <a:off x="559106" y="1485943"/>
            <a:ext cx="609783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import torch</a:t>
            </a:r>
          </a:p>
          <a:p>
            <a:r>
              <a:rPr lang="en-LK" dirty="0"/>
              <a:t>import torch.nn as nn</a:t>
            </a:r>
          </a:p>
          <a:p>
            <a:endParaRPr lang="en-LK" dirty="0"/>
          </a:p>
          <a:p>
            <a:r>
              <a:rPr lang="en-LK" dirty="0"/>
              <a:t>ln = nn.LayerNorm(normalized_shape=3)  # normalize over last dim (size 3)</a:t>
            </a:r>
          </a:p>
          <a:p>
            <a:endParaRPr lang="en-LK" dirty="0"/>
          </a:p>
          <a:p>
            <a:r>
              <a:rPr lang="en-LK" dirty="0"/>
              <a:t>x = torch.tensor([</a:t>
            </a:r>
          </a:p>
          <a:p>
            <a:r>
              <a:rPr lang="en-LK" dirty="0"/>
              <a:t>    [1.0, 2.0, 3.0],</a:t>
            </a:r>
          </a:p>
          <a:p>
            <a:r>
              <a:rPr lang="en-LK" dirty="0"/>
              <a:t>    [4.0, 5.0, 6.0]</a:t>
            </a:r>
          </a:p>
          <a:p>
            <a:r>
              <a:rPr lang="en-LK" dirty="0"/>
              <a:t>])</a:t>
            </a:r>
          </a:p>
          <a:p>
            <a:endParaRPr lang="en-LK" dirty="0"/>
          </a:p>
          <a:p>
            <a:r>
              <a:rPr lang="en-LK" dirty="0"/>
              <a:t>out = ln(x)</a:t>
            </a:r>
          </a:p>
          <a:p>
            <a:r>
              <a:rPr lang="en-LK" dirty="0"/>
              <a:t>print(out)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45C5A5-48C5-0B91-7DD7-A9CA6CC7A3D4}"/>
              </a:ext>
            </a:extLst>
          </p:cNvPr>
          <p:cNvSpPr txBox="1"/>
          <p:nvPr/>
        </p:nvSpPr>
        <p:spPr>
          <a:xfrm>
            <a:off x="559106" y="705080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b="1" dirty="0"/>
              <a:t>With pytorch</a:t>
            </a:r>
          </a:p>
        </p:txBody>
      </p:sp>
    </p:spTree>
    <p:extLst>
      <p:ext uri="{BB962C8B-B14F-4D97-AF65-F5344CB8AC3E}">
        <p14:creationId xmlns:p14="http://schemas.microsoft.com/office/powerpoint/2010/main" val="2744763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22B597-90EC-93BF-5626-D497AB9F8C04}"/>
              </a:ext>
            </a:extLst>
          </p:cNvPr>
          <p:cNvSpPr txBox="1"/>
          <p:nvPr/>
        </p:nvSpPr>
        <p:spPr>
          <a:xfrm>
            <a:off x="834528" y="283551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What is Dropout?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EA6F3-6744-0F2C-85FD-28BAFBC8AFAD}"/>
              </a:ext>
            </a:extLst>
          </p:cNvPr>
          <p:cNvSpPr txBox="1"/>
          <p:nvPr/>
        </p:nvSpPr>
        <p:spPr>
          <a:xfrm>
            <a:off x="834528" y="938266"/>
            <a:ext cx="609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During training, Dropout </a:t>
            </a:r>
            <a:r>
              <a:rPr lang="en-GB" b="1" dirty="0"/>
              <a:t>randomly turns off (zeros out)</a:t>
            </a:r>
            <a:r>
              <a:rPr lang="en-GB" dirty="0"/>
              <a:t> some neurons.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D13E80-E3C0-9900-D602-1F9F9C368EC8}"/>
              </a:ext>
            </a:extLst>
          </p:cNvPr>
          <p:cNvSpPr txBox="1"/>
          <p:nvPr/>
        </p:nvSpPr>
        <p:spPr>
          <a:xfrm>
            <a:off x="834528" y="1869980"/>
            <a:ext cx="609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forward pass → randomly drop some activations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Prevents model from relying too much on specific neurons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7E4AE7-ECE0-7EA6-AD33-8118BA0A2933}"/>
              </a:ext>
            </a:extLst>
          </p:cNvPr>
          <p:cNvSpPr txBox="1"/>
          <p:nvPr/>
        </p:nvSpPr>
        <p:spPr>
          <a:xfrm>
            <a:off x="834528" y="2837499"/>
            <a:ext cx="60978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How it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dirty="0">
                <a:latin typeface="Courier New" panose="02070309020205020404" pitchFamily="49" charset="0"/>
              </a:rPr>
              <a:t>p = 0.5</a:t>
            </a:r>
            <a:r>
              <a:rPr lang="en-GB" dirty="0"/>
              <a:t>: 50% of neurons are randomly set to </a:t>
            </a:r>
            <a:r>
              <a:rPr lang="en-GB" b="1" dirty="0"/>
              <a:t>0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Remaining neurons are scaled automatically</a:t>
            </a:r>
          </a:p>
          <a:p>
            <a:pPr>
              <a:buNone/>
            </a:pPr>
            <a:r>
              <a:rPr lang="en-GB" dirty="0"/>
              <a:t>Important: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Training mode (</a:t>
            </a:r>
            <a:r>
              <a:rPr lang="en-GB" b="1" dirty="0" err="1">
                <a:latin typeface="Courier New" panose="02070309020205020404" pitchFamily="49" charset="0"/>
              </a:rPr>
              <a:t>model.train</a:t>
            </a:r>
            <a:r>
              <a:rPr lang="en-GB" b="1" dirty="0">
                <a:latin typeface="Courier New" panose="02070309020205020404" pitchFamily="49" charset="0"/>
              </a:rPr>
              <a:t>()</a:t>
            </a:r>
            <a:r>
              <a:rPr lang="en-GB" b="1" dirty="0"/>
              <a:t>) → Dropout ON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Evaluation mode (</a:t>
            </a:r>
            <a:r>
              <a:rPr lang="en-GB" b="1" dirty="0" err="1">
                <a:latin typeface="Courier New" panose="02070309020205020404" pitchFamily="49" charset="0"/>
              </a:rPr>
              <a:t>model.eval</a:t>
            </a:r>
            <a:r>
              <a:rPr lang="en-GB" b="1" dirty="0">
                <a:latin typeface="Courier New" panose="02070309020205020404" pitchFamily="49" charset="0"/>
              </a:rPr>
              <a:t>()</a:t>
            </a:r>
            <a:r>
              <a:rPr lang="en-GB" b="1" dirty="0"/>
              <a:t>) → Dropout OFF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952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CF5A6D-2F3B-CD73-2C06-C660AFF9252E}"/>
              </a:ext>
            </a:extLst>
          </p:cNvPr>
          <p:cNvSpPr txBox="1"/>
          <p:nvPr/>
        </p:nvSpPr>
        <p:spPr>
          <a:xfrm>
            <a:off x="889611" y="292979"/>
            <a:ext cx="60978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import torch</a:t>
            </a:r>
          </a:p>
          <a:p>
            <a:r>
              <a:rPr lang="en-LK" dirty="0"/>
              <a:t>import torch.nn as nn</a:t>
            </a:r>
          </a:p>
          <a:p>
            <a:endParaRPr lang="en-LK" dirty="0"/>
          </a:p>
          <a:p>
            <a:r>
              <a:rPr lang="en-LK" dirty="0"/>
              <a:t>x = torch.ones(5)</a:t>
            </a:r>
          </a:p>
          <a:p>
            <a:endParaRPr lang="en-LK" dirty="0"/>
          </a:p>
          <a:p>
            <a:r>
              <a:rPr lang="en-LK" dirty="0"/>
              <a:t>drop = nn.Dropout(p=0.5)</a:t>
            </a:r>
          </a:p>
          <a:p>
            <a:endParaRPr lang="en-LK" dirty="0"/>
          </a:p>
          <a:p>
            <a:r>
              <a:rPr lang="en-LK" dirty="0"/>
              <a:t># Training mode</a:t>
            </a:r>
          </a:p>
          <a:p>
            <a:r>
              <a:rPr lang="en-LK" dirty="0"/>
              <a:t>drop.train()</a:t>
            </a:r>
          </a:p>
          <a:p>
            <a:r>
              <a:rPr lang="en-LK" dirty="0"/>
              <a:t>print(drop(x))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818495-2422-755C-6362-94ACBF99E975}"/>
              </a:ext>
            </a:extLst>
          </p:cNvPr>
          <p:cNvSpPr txBox="1"/>
          <p:nvPr/>
        </p:nvSpPr>
        <p:spPr>
          <a:xfrm>
            <a:off x="889611" y="3518034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tensor([0., 2., 0., 2., 2.])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4D8C42-ADE6-DA32-6011-934226F46A5D}"/>
              </a:ext>
            </a:extLst>
          </p:cNvPr>
          <p:cNvSpPr txBox="1"/>
          <p:nvPr/>
        </p:nvSpPr>
        <p:spPr>
          <a:xfrm>
            <a:off x="889611" y="4677703"/>
            <a:ext cx="6097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Why values become </a:t>
            </a:r>
            <a:r>
              <a:rPr lang="en-GB" dirty="0">
                <a:latin typeface="Courier New" panose="02070309020205020404" pitchFamily="49" charset="0"/>
              </a:rPr>
              <a:t>2</a:t>
            </a:r>
            <a:r>
              <a:rPr lang="en-GB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Because </a:t>
            </a:r>
            <a:r>
              <a:rPr lang="en-GB" dirty="0" err="1"/>
              <a:t>PyTorch</a:t>
            </a:r>
            <a:r>
              <a:rPr lang="en-GB" dirty="0"/>
              <a:t> scales outputs by </a:t>
            </a:r>
            <a:r>
              <a:rPr lang="en-GB" dirty="0">
                <a:latin typeface="Courier New" panose="02070309020205020404" pitchFamily="49" charset="0"/>
              </a:rPr>
              <a:t>1/(1-p)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Here → </a:t>
            </a:r>
            <a:r>
              <a:rPr lang="en-GB" dirty="0">
                <a:latin typeface="Courier New" panose="02070309020205020404" pitchFamily="49" charset="0"/>
              </a:rPr>
              <a:t>1/(1-0.5) = 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3669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525</Words>
  <Application>Microsoft Macintosh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.AppleSystemUIFontMonospaced</vt:lpstr>
      <vt:lpstr>Aptos</vt:lpstr>
      <vt:lpstr>Aptos Display</vt:lpstr>
      <vt:lpstr>Arial</vt:lpstr>
      <vt:lpstr>Courier New</vt:lpstr>
      <vt:lpstr>DM Sans</vt:lpstr>
      <vt:lpstr>Menlo</vt:lpstr>
      <vt:lpstr>Office Theme</vt:lpstr>
      <vt:lpstr> Layer Normalization  and Dropout 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Maneesha</dc:creator>
  <cp:lastModifiedBy>Maneesha</cp:lastModifiedBy>
  <cp:revision>2</cp:revision>
  <dcterms:created xsi:type="dcterms:W3CDTF">2026-04-27T09:25:22Z</dcterms:created>
  <dcterms:modified xsi:type="dcterms:W3CDTF">2026-04-27T14:57:35Z</dcterms:modified>
</cp:coreProperties>
</file>