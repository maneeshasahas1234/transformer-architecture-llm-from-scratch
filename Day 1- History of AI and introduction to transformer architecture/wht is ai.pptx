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1657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vs ML vs DL vs LLMs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Not The Same — They Are Nested Subsets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Deep Learning model is Machine Learning.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ML model is AI. But not vice versa.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9057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lecture by Maneesha Rajapaksha</a:t>
            </a:r>
            <a:endParaRPr lang="en-US" sz="1000" dirty="0"/>
          </a:p>
        </p:txBody>
      </p:sp>
      <p:pic>
        <p:nvPicPr>
          <p:cNvPr id="10" name="Picture 9" descr="A blue and yellow logo&#10;&#10;AI-generated content may be incorrect.">
            <a:extLst>
              <a:ext uri="{FF2B5EF4-FFF2-40B4-BE49-F238E27FC236}">
                <a16:creationId xmlns:a16="http://schemas.microsoft.com/office/drawing/2014/main" id="{296BBD2A-CA75-A4DA-3E65-1ABD11515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59316"/>
            <a:ext cx="1239715" cy="12397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Nested Relationship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4389120" cy="3474720"/>
          </a:xfrm>
          <a:prstGeom prst="ellipse">
            <a:avLst/>
          </a:prstGeom>
          <a:solidFill>
            <a:srgbClr val="0E4D64">
              <a:alpha val="6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234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20240" y="1554480"/>
            <a:ext cx="3474720" cy="2651760"/>
          </a:xfrm>
          <a:prstGeom prst="ellipse">
            <a:avLst/>
          </a:prstGeom>
          <a:solidFill>
            <a:srgbClr val="0E4D3A">
              <a:alpha val="6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68880" y="2011680"/>
            <a:ext cx="2560320" cy="1920240"/>
          </a:xfrm>
          <a:prstGeom prst="ellipse">
            <a:avLst/>
          </a:prstGeom>
          <a:solidFill>
            <a:srgbClr val="4D3A0E">
              <a:alpha val="6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DL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0" y="2468880"/>
            <a:ext cx="1645920" cy="1097280"/>
          </a:xfrm>
          <a:prstGeom prst="ellipse">
            <a:avLst/>
          </a:prstGeom>
          <a:solidFill>
            <a:srgbClr val="3A0E4D">
              <a:alpha val="60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LLMs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109728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188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broadest circle — any technique for intelligent behaviour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109728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103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rules from data, not hand-coded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3017520"/>
            <a:ext cx="109728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017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with many layers, auto-learns features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3931920"/>
            <a:ext cx="109728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931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DL trained on massive text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 Intelligence — The Biggest Circle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technique that enables a machine to simulate human-like intelligent behaviour — perceiving, reasoning, deciding, or acting.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737360"/>
            <a:ext cx="393192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7647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Without Machine Learning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286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expert systems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24871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fever &gt; 38°C AND cough → suspect pneumonia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27614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engines (Deep Blue)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29626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search with alpha-beta pruning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32369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 (A*, Dijkstra's)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34381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search algorithms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37124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reasoning (Prolog)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" y="39136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Logic-based knowledge representation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54880" y="1737360"/>
            <a:ext cx="3931920" cy="256032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965960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029200" y="2606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029200" y="3017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goal.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and DL are just two different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to reach that goal.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7200" y="4480560"/>
            <a:ext cx="73152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19"/>
          <p:cNvSpPr/>
          <p:nvPr/>
        </p:nvSpPr>
        <p:spPr>
          <a:xfrm>
            <a:off x="731520" y="4480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machine do this intelligent task?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— A Subset of AI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hand-coding rules, give the machine data + an objective — it learns the rules itself.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463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Algorithm(Training Data)     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   </a:t>
            </a: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 = Model(New Input)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260604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286000"/>
            <a:ext cx="260604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30428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labelled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(input → output pairs)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" y="3474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detection,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diagnosis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2286000"/>
            <a:ext cx="260604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2286000"/>
            <a:ext cx="260604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3429000" y="230428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2900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hidden patterns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unlabelled data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29000" y="3474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clustering,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26480" y="2286000"/>
            <a:ext cx="260604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26480" y="2286000"/>
            <a:ext cx="260604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6263640" y="230428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6364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by trial-and-error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rewards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63640" y="3474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AlphaGo,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bots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4480560"/>
            <a:ext cx="7315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4480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patterns can the machine extract from this data?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 ML Algorithms (Not Deep Learning)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058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06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00584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0058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606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100584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0058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2606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01168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0116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2011680"/>
            <a:ext cx="2606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201168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20116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2011680"/>
            <a:ext cx="2606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01168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0116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2606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01752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017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3017520"/>
            <a:ext cx="2606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01752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017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3017520"/>
            <a:ext cx="2606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301752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3017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1520" y="42062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Limitation: 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work well on structured/tabular data but struggle with raw images, audio, or text — you need manual feature engineering. That limitation is exactly what Deep Learning solves.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 — A Subset of ML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with many layers that automatically learn hierarchical features — no manual feature engineering.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572768"/>
            <a:ext cx="1371600" cy="658368"/>
          </a:xfrm>
          <a:prstGeom prst="rect">
            <a:avLst/>
          </a:prstGeom>
          <a:solidFill>
            <a:srgbClr val="94A3B8">
              <a:alpha val="30000"/>
            </a:srgbClr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5727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011680" y="1572768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377440" y="1572768"/>
            <a:ext cx="1371600" cy="658368"/>
          </a:xfrm>
          <a:prstGeom prst="rect">
            <a:avLst/>
          </a:prstGeom>
          <a:solidFill>
            <a:srgbClr val="67E8F9">
              <a:alpha val="30000"/>
            </a:srgbClr>
          </a:solidFill>
          <a:ln w="19050">
            <a:solidFill>
              <a:srgbClr val="67E8F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77440" y="15727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(edges)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749040" y="1572768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114800" y="1572768"/>
            <a:ext cx="1371600" cy="658368"/>
          </a:xfrm>
          <a:prstGeom prst="rect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0" y="15727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(shapes)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0" y="1572768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852160" y="1572768"/>
            <a:ext cx="1371600" cy="658368"/>
          </a:xfrm>
          <a:prstGeom prst="rect">
            <a:avLst/>
          </a:prstGeom>
          <a:solidFill>
            <a:srgbClr val="0891B2">
              <a:alpha val="30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52160" y="15727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(objects)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223760" y="1572768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589520" y="1572768"/>
            <a:ext cx="1371600" cy="658368"/>
          </a:xfrm>
          <a:prstGeom prst="rect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89520" y="15727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2606040"/>
            <a:ext cx="393192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606040"/>
            <a:ext cx="393192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26243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CNN on X-ray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3152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 → Edges and textures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3 → Shapes (ribs, lung borders)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3152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8 → Pathological patterns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754880" y="2606040"/>
            <a:ext cx="393192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54880" y="2606040"/>
            <a:ext cx="393192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6"/>
          <p:cNvSpPr/>
          <p:nvPr/>
        </p:nvSpPr>
        <p:spPr>
          <a:xfrm>
            <a:off x="4937760" y="26243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Architectures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029200" y="309067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radiology, pathology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029200" y="343814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/ LSTMs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series, early NLP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9200" y="3785616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images, audio (dominant)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029200" y="413308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 / Diffusion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2"/>
          <p:cNvSpPr/>
          <p:nvPr/>
        </p:nvSpPr>
        <p:spPr>
          <a:xfrm>
            <a:off x="457200" y="457200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3"/>
          <p:cNvSpPr/>
          <p:nvPr/>
        </p:nvSpPr>
        <p:spPr>
          <a:xfrm>
            <a:off x="731520" y="4572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neural networks learn if we make them bigger and train on more data?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LLMs — A Subset of Deep Learning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deep learning models trained on massive text corpora to predict the next token.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1581912"/>
            <a:ext cx="2011680" cy="713232"/>
          </a:xfrm>
          <a:prstGeom prst="rect">
            <a:avLst/>
          </a:prstGeom>
          <a:solidFill>
            <a:srgbClr val="94A3B8">
              <a:alpha val="30000"/>
            </a:srgbClr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581912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Corpus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(trillions of tokens)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606040" y="1581912"/>
            <a:ext cx="228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834640" y="1581912"/>
            <a:ext cx="2011680" cy="713232"/>
          </a:xfrm>
          <a:prstGeom prst="rect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34640" y="1581912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(attention layers)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46320" y="1581912"/>
            <a:ext cx="228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74920" y="1581912"/>
            <a:ext cx="1188720" cy="713232"/>
          </a:xfrm>
          <a:prstGeom prst="rect">
            <a:avLst/>
          </a:prstGeom>
          <a:solidFill>
            <a:srgbClr val="0891B2">
              <a:alpha val="30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74920" y="1581912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LLM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63640" y="1581912"/>
            <a:ext cx="228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92240" y="1581912"/>
            <a:ext cx="914400" cy="713232"/>
          </a:xfrm>
          <a:prstGeom prst="rect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1581912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06640" y="1581912"/>
            <a:ext cx="228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635240" y="1581912"/>
            <a:ext cx="985129" cy="713232"/>
          </a:xfrm>
          <a:prstGeom prst="rect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1581912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LLM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(GPT-4, Claude)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3152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Them "Large"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31520" y="3246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Billions+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— massive neural networks with hundreds of billions of weights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31520" y="3611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Trillions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— trained on essentially all text ever written on the internet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1520" y="3977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Emergent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— abilities not present in smaller models (reasoning, code, etc.)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Shape 24"/>
          <p:cNvSpPr/>
          <p:nvPr/>
        </p:nvSpPr>
        <p:spPr>
          <a:xfrm>
            <a:off x="457200" y="4572000"/>
            <a:ext cx="73152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4572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frontier of DL applied to language — GPT-4, Claude, Gemini, LLaMA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They All Relate — Comparison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595360" cy="29260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🧠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📊 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🔥 DL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💬 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subset of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mechanism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or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optimisation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Backprop through layers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+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data?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always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(lots)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(massive)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features?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(automatic)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(language)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ResNet, AlexNet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GPT-4, Claude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era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1950s–80s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1990s–2000s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2012–2017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2020–present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One-Line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1554480"/>
            <a:ext cx="6400800" cy="5943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554480"/>
            <a:ext cx="91440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5544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AI is the destination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331720"/>
            <a:ext cx="6400800" cy="5943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0" y="2331720"/>
            <a:ext cx="9144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3317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ML is one road to get there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3108960"/>
            <a:ext cx="6400800" cy="5943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0" y="3108960"/>
            <a:ext cx="9144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31089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Deep Learning is a powerful vehicle on that road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886200"/>
            <a:ext cx="6400800" cy="5943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371600" y="3886200"/>
            <a:ext cx="9144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38862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LLMs are the latest model of that vehicle, tuned for language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DL is ML. Every ML is AI. But not vice versa.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730</Words>
  <Application>Microsoft Macintosh PowerPoint</Application>
  <PresentationFormat>On-screen Show (16:9)</PresentationFormat>
  <Paragraphs>157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vs ML vs DL vs LLMs — The Complete Guide</dc:title>
  <dc:subject>PptxGenJS Presentation</dc:subject>
  <dc:creator>Claude</dc:creator>
  <cp:lastModifiedBy>Maneesha</cp:lastModifiedBy>
  <cp:revision>2</cp:revision>
  <dcterms:created xsi:type="dcterms:W3CDTF">2026-04-09T09:30:55Z</dcterms:created>
  <dcterms:modified xsi:type="dcterms:W3CDTF">2026-04-09T09:41:52Z</dcterms:modified>
</cp:coreProperties>
</file>