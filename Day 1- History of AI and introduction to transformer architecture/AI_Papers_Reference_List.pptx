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mu.edu/~epxing/Class/10715/reading/McCulloch.and.Pitts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manticscholar.org/paper/A-logical-calculus-of-the-ideas-immanent-in-nervous-McCulloch-Pitts/090c5a5df345ab60c41d6de02b3e366e1a27cf43" TargetMode="External"/><Relationship Id="rId5" Type="http://schemas.openxmlformats.org/officeDocument/2006/relationships/hyperlink" Target="https://doi.org/10.1007/BF02478259" TargetMode="External"/><Relationship Id="rId4" Type="http://schemas.openxmlformats.org/officeDocument/2006/relationships/hyperlink" Target="https://home.csulb.edu/~cwallis/382/readings/482/mccolloch.logical.calculus.ideas.1943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mind/LIX.236.433" TargetMode="External"/><Relationship Id="rId7" Type="http://schemas.openxmlformats.org/officeDocument/2006/relationships/hyperlink" Target="https://www.semanticscholar.org/paper/The-perceptron%3A-a-probabilistic-model-for-information-Rosenblatt/dd11a447-82c9-4724-a889-f22abe2aa54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37/h0042519" TargetMode="External"/><Relationship Id="rId5" Type="http://schemas.openxmlformats.org/officeDocument/2006/relationships/hyperlink" Target="https://en.wikipedia.org/wiki/Computing_Machinery_and_Intelligence" TargetMode="External"/><Relationship Id="rId4" Type="http://schemas.openxmlformats.org/officeDocument/2006/relationships/hyperlink" Target="https://www.csee.umbc.edu/courses/471/papers/turing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tpress.mit.edu/9780262631112/perceptron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Perceptrons_(book)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323533a0" TargetMode="External"/><Relationship Id="rId7" Type="http://schemas.openxmlformats.org/officeDocument/2006/relationships/hyperlink" Target="https://ieeexplore.ieee.org/document/72679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yann.lecun.com/exdb/publis/pdf/lecun-01a.pdf" TargetMode="External"/><Relationship Id="rId5" Type="http://schemas.openxmlformats.org/officeDocument/2006/relationships/hyperlink" Target="https://www.semanticscholar.org/paper/Learning-representations-by-back-propagating-errors-Rumelhart-Hinton/052b1d8ce63b07fec3de9dbb583772d860b7c769" TargetMode="External"/><Relationship Id="rId4" Type="http://schemas.openxmlformats.org/officeDocument/2006/relationships/hyperlink" Target="https://www.nature.com/articles/323533a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112764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emanticscholar.org/paper/Reducing-the-Dimensionality-of-Data-with-Neural-Hinton-Salakhutdinov/46eb79e5eec8a4e2b2f5652b66441e8a4c921c32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lr.org/papers/volume3/bengio03a/bengio03a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1310.4546" TargetMode="External"/><Relationship Id="rId5" Type="http://schemas.openxmlformats.org/officeDocument/2006/relationships/hyperlink" Target="https://arxiv.org/abs/1301.3781" TargetMode="External"/><Relationship Id="rId4" Type="http://schemas.openxmlformats.org/officeDocument/2006/relationships/hyperlink" Target="https://www.jmlr.org/papers/v3/bengio03a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5.405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lp.stanford.edu/projects/glove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1706.03762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openai.com/research-covers/language-unsupervised/language_understanding_paper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1810.04805" TargetMode="External"/><Relationship Id="rId5" Type="http://schemas.openxmlformats.org/officeDocument/2006/relationships/hyperlink" Target="https://arxiv.org/abs/1810.04805" TargetMode="External"/><Relationship Id="rId4" Type="http://schemas.openxmlformats.org/officeDocument/2006/relationships/hyperlink" Target="https://openai.com/research/language-unsupervis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openai.com/better-language-models/language_models_are_unsupervised_multitask_learners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005.14165" TargetMode="External"/><Relationship Id="rId5" Type="http://schemas.openxmlformats.org/officeDocument/2006/relationships/hyperlink" Target="https://arxiv.org/abs/2005.14165" TargetMode="External"/><Relationship Id="rId4" Type="http://schemas.openxmlformats.org/officeDocument/2006/relationships/hyperlink" Target="https://openai.com/research/better-language-model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1.0836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001.08361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212.08073" TargetMode="External"/><Relationship Id="rId5" Type="http://schemas.openxmlformats.org/officeDocument/2006/relationships/hyperlink" Target="https://arxiv.org/abs/2212.08073" TargetMode="External"/><Relationship Id="rId4" Type="http://schemas.openxmlformats.org/officeDocument/2006/relationships/hyperlink" Target="https://arxiv.org/pdf/2203.02155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877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-cdn.anthropic.com/de8ba9b01c9ab7cbabf5c33b80b7bbc618857627/Model_Card_Claude_3.pdf" TargetMode="External"/><Relationship Id="rId4" Type="http://schemas.openxmlformats.org/officeDocument/2006/relationships/hyperlink" Target="https://arxiv.org/pdf/2303.0877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12/file/c399862d3b9d6b76c8436e924a68c45b-Paper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1512.03385" TargetMode="External"/><Relationship Id="rId5" Type="http://schemas.openxmlformats.org/officeDocument/2006/relationships/hyperlink" Target="https://arxiv.org/abs/1512.03385" TargetMode="External"/><Relationship Id="rId4" Type="http://schemas.openxmlformats.org/officeDocument/2006/relationships/hyperlink" Target="https://arxiv.org/abs/1404.5997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2.03300" TargetMode="External"/><Relationship Id="rId3" Type="http://schemas.openxmlformats.org/officeDocument/2006/relationships/hyperlink" Target="https://www.deeplearningbook.org/" TargetMode="External"/><Relationship Id="rId7" Type="http://schemas.openxmlformats.org/officeDocument/2006/relationships/hyperlink" Target="https://arxiv.org/abs/2305.18290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206.07682" TargetMode="External"/><Relationship Id="rId5" Type="http://schemas.openxmlformats.org/officeDocument/2006/relationships/hyperlink" Target="https://jalammar.github.io/illustrated-gpt2/" TargetMode="External"/><Relationship Id="rId4" Type="http://schemas.openxmlformats.org/officeDocument/2006/relationships/hyperlink" Target="https://jalammar.github.io/illustrated-transformer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&amp; References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bibliography of landmark papers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McCulloch &amp; Pitts (1943) to Claude (2024)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1943–58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3657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1986–2006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36576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657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2013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2017–20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41148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2022–24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4114800"/>
            <a:ext cx="160020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4114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Milestones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landmark papers across 80 years of AI history</a:t>
            </a:r>
            <a:endParaRPr lang="en-US" sz="1000" dirty="0"/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6746C1D1-67B4-C87F-CACE-130BD6BE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321" y="160020"/>
            <a:ext cx="1165860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– 1958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 S. McCulloch &amp; Walter Pitts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Calculus of the Ideas Immanent in Nervous Activity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of Mathematical Biophysics, Vol. 5, pp. 115–133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mathematical model of a neuron. Proved neural networks can compute any logical function. Foundational to all subsequent neural network research.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(CMU)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https://www.cs.cmu.edu/~epxing/Class/10715/reading/McCulloch.and.Pitts.pdf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(CSULB)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https://home.csulb.edu/~cwallis/382/readings/482/mccolloch.logical.calculus.ideas.1943.pdf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1422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(Springer)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https://doi.org/10.1007/BF02478259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489704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4897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https://www.semanticscholar.org/paper/A-logical-calculus-of-the-ideas-immanent-in-nervous-McCulloch-Pitts/090c5a5df345ab60c41d6de02b3e366e1a27cf43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M. 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Machinery and Intelligence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Mind, Vol. LIX, No. 236, pp. 433–460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Imitation Game (Turing Test). Reframed 'Can machines think?' as a behavioural, observable question. Foundational to AI philosophy.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(Oxford)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https://doi.org/10.1093/mind/LIX.236.433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https://www.csee.umbc.edu/courses/471/papers/turing.pdf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941064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9410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https://en.wikipedia.org/wiki/Computing_Machinery_and_Intelligence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Rosenblatt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Perceptron: A Probabilistic Model for Information Storage and Organization in the Brain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Review, Vol. 65, No. 6, pp. 386–408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trainable artificial neural network. Introduced the Perceptron learning rule — the direct ancestor of gradient descent and backpropagation.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https://doi.org/10.1037/h0042519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https://www.semanticscholar.org/paper/The-perceptron%3A-a-probabilistic-model-for-information-Rosenblatt/dd11a447-82c9-4724-a889-f22abe2aa54e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Marvin Minsky &amp; Seymour Papert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Perceptrons: An Introduction to Computational Geometry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Press, Cambridge 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single-layer perceptrons cannot solve XOR (linearly non-separable problems). Effectively killed neural network funding for a decade. Later recognised as misinterpreted — multi-layer networks can solve XOR.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Press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https://mitpress.mit.edu/9780262631112/perceptrons/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https://en.wikipedia.org/wiki/Perceptrons_(book)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Revival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 – 2006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E. Rumelhart, Geoffrey E. Hinton &amp; Ronald J. Williams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Representations by Back-propagating Errors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Vol. 323, pp. 533–536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that relaunched neural network research. Proved multi-layer networks could train via the chain rule applied in reverse. Every modern DNN uses this algorithm.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DOI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https://doi.org/10.1038/323533a0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direct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https://www.nature.com/articles/323533a0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941064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9410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https://www.semanticscholar.org/paper/Learning-representations-by-back-propagating-errors-Rumelhart-Hinton/052b1d8ce63b07fec3de9dbb583772d860b7c769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LeCun, Léon Bottou, Yoshua Bengio &amp; Patrick Haffner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Learning Applied to Document Recognition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IEEE, Vol. 86, No. 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LeNet — the first practical CNN. Demonstrated handwriting recognition at postal scale. Foundational to all modern computer vision.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(LeCun)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http://yann.lecun.com/exdb/publis/pdf/lecun-01a.pdf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https://ieeexplore.ieee.org/document/726791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E. Hinton &amp; Ruslan R. Salakhutdinov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Dimensionality of Data with Neural Networks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Vol. 313, No. 5786, pp. 504–507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Deep Belief Networks — showed deep networks could be pre-trained layer-by-layer. Relaunched deep learning as a field and directly inspired modern pre-training paradigms.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DOI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https://doi.org/10.1126/science.1127647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https://www.semanticscholar.org/paper/Reducing-the-Dimensionality-of-Data-with-Neural-Hinton-Salakhutdinov/46eb79e5eec8a4e2b2f5652b66441e8a4c921c32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&amp; Neural NLP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– 2014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Yoshua Bengio, Réjean Ducharme, Pascal Vincent &amp; Christian Janvin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Probabilistic Language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Machine Learning Research, Vol. 3, pp. 1137–1155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neural language model. Used learned word embeddings to predict next tokens. The conceptual ancestor of Word2Vec, BERT, and GPT — largely ignored for a decade.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PDF (JMLR)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https://www.jmlr.org/papers/volume3/bengio03a/bengio03a.pdf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JMLR page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https://www.jmlr.org/papers/v3/bengio03a.html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Mikolov, Ilya Sutskever, Kai Chen, Greg Corrado &amp; Jeffrey Dean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Representations of Words and Phrases and their Compositionality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showed words can be represented as geometric vectors where king − man + woman ≈ queen. Triggered the embedding revolution across all of NLP.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(original)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https://arxiv.org/abs/1301.3781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(phrases)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https://arxiv.org/abs/1310.4546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A7F4F"/>
          </a:solidFill>
          <a:ln w="12700">
            <a:solidFill>
              <a:srgbClr val="2A7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Pennington, Richard Socher &amp; Christopher D. Manning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GloVe: Global Vectors for Word Representation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2014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 Word2Vec using global co-occurrence statistics. Produced superior embeddings for many NLP tasks and became widely adopted in pre-deep-learning NLP systems.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https://arxiv.org/abs/1405.4053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project +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https://nlp.stanford.edu/projects/glove/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Era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– 2020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Vaswani, Noam Shazeer, Niki Parmar et al. (Google Brain)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2017 — the most cited paper in AI history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Transformer architecture. Replaced recurrent networks with pure self-attention — enabling full parallelism and long-range dependencies. Every modern LLM uses this architecture.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https://arxiv.org/abs/1706.03762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https://arxiv.org/pdf/1706.03762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Alec Radford, Karthik Narasimhan, Tim Salimans &amp; Ilya Sutskever (OpenAI)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Language Understanding by Generative Pre-Training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Technical Report, June 2018 — GPT-1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pre-train → fine-tune paradigm. First GPT model (117M params). Proved unsupervised pre-training on raw text transfers to downstream tasks with minimal labelled data.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https://cdn.openai.com/research-covers/language-unsupervised/language_understanding_paper.pdf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blog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https://openai.com/research/language-unsupervised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Devlin, Ming-Wei Chang, Kenton Lee &amp; Kristina Toutanova (Google)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Pre-training of Deep Bidirectional Transformers for Language Understanding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NAACL-HLT 2019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modelling with bidirectional context. Dominated NLP benchmarks for years. Introduced the encoder-only transformer paradigm (distinct from GPT's decoder-only approach).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https://arxiv.org/abs/1810.04805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https://arxiv.org/pdf/1810.04805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Alec Radford, Jeffrey Wu, Rewon Child, David Luan, Dario Amodei &amp; Ilya Sutskever (OpenAI)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Unsupervised Multitask Learners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Technical Report, February 2019 — GPT-2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(1.5B params). Demonstrated zero-shot generalisation. OpenAI initially withheld due to misuse concerns — the first major AI safety controversy in NLP.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https://cdn.openai.com/better-language-models/language_models_are_unsupervised_multitask_learners.pdf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blog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https://openai.com/research/better-language-models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B. Brown, Benjamin Mann, Nick Ryder et al. (OpenAI) — 31 authors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Few-Shot Learners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 — GPT-3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(175B params). Demonstrated emergent few-shot learning from in-context examples. Proved scale qualitatively changes capability — the scaling revolution paper.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https://arxiv.org/abs/2005.14165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https://arxiv.org/pdf/2005.14165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8412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28600"/>
            <a:ext cx="91440" cy="4663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93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39319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Kaplan, Sam McCandlish, Tom Henighan et al. (OpenAI)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for Neural Language Models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Technical Report, January 2020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8092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loss scales predictably as a power law with compute, data, and parameters. Justified spending $10M+ on single training runs. The paper that made scaling a principled strategy.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https://arxiv.org/abs/2001.08361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9244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94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https://arxiv.org/pdf/2001.08361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 Modern LLMs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2024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Ouyang, Jeffrey Wu, Xu Jiang et al. (OpenAI) — 26 authors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Language Models to Follow Instructions with Human Feedback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2022 — InstructGPT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RLHF for LLMs. SFT → reward model → PPO pipeline. Converted GPT-3 into a helpful, harmless assistant. The technical foundation behind ChatGPT.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https://arxiv.org/abs/2203.02155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https://arxiv.org/pdf/2203.02155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Yuntao Bai, Saurav Kadavath, Sandipan Kundu et al. (Anthropic)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AI: Harmlessness from AI Feedback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Technical Report, December 2022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Constitutional AI — uses a written constitution + AI self-critique to reduce reliance on human preference labellers. The alignment technique underlying all Claude models.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https://arxiv.org/abs/2212.08073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https://arxiv.org/pdf/2212.08073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Technical 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Technical Report, March 2023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GPT-4 capabilities, safety evaluations, and RLHF pipeline. Intentionally omits architecture details (size, layers, hardware). First multimodal GPT — text + image input.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https://arxiv.org/abs/2303.08774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https://arxiv.org/pdf/2303.08774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3 Model Family: Opus, Sonnet, Haiku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Model Card, March 2024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model card for the Claude 3 family. Covers benchmarks, safety evaluations, Constitutional AI, vision capabilities, and long-context performance.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https://www-cdn.anthropic.com/de8ba9b01c9ab7cbabf5c33b80b7bbc618857627/Model_Card_Claude_3.pdf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Milestones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2015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Krizhevsky, Ilya Sutskever &amp; Geoffrey E. Hinton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Classification with Deep Convolutional Neural Networks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2012 — AlexNet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ImageNet 2012 by 11 percentage points. First large-scale CNN trained on GPUs. The paper that started the deep learning revolution in computer vision and triggered the modern AI era.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https://proceedings.neurips.cc/paper_files/paper/2012/file/c399862d3b9d6b76c8436e924a68c45b-Paper.pdf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https://arxiv.org/abs/1404.5997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"/>
            <a:ext cx="4251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82880"/>
            <a:ext cx="91440" cy="4754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474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47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He, Xiangyu Zhang, Shaoqing Ren &amp; Jian Sun (Microsoft Research)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685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Residual Learning for Image Recognition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2016 — ResNet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residual (skip) connections enabling 152-layer networks. Achieved superhuman image classification. Residual connections are now standard in virtually all deep architectures.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461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https://arxiv.org/abs/1512.03385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593592"/>
            <a:ext cx="3931920" cy="292608"/>
          </a:xfrm>
          <a:prstGeom prst="rect">
            <a:avLst/>
          </a:prstGeom>
          <a:solidFill>
            <a:srgbClr val="EFF4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93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 </a:t>
            </a:r>
            <a:r>
              <a:rPr lang="en-US" sz="900" u="sng" dirty="0">
                <a:solidFill>
                  <a:srgbClr val="3A6F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https://arxiv.org/pdf/1512.03385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Resources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books, visualisations &amp; supplementary papers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73152" cy="10515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521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Bengio &amp; Courville (2016)</a:t>
            </a:r>
            <a:endParaRPr lang="en-US" sz="9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438912" y="17190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https://www.deeplearningbook.org/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78992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521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Transformer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4630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Alammar — best visual explainer</a:t>
            </a:r>
            <a:endParaRPr lang="en-US" sz="90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4873752" y="17190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https://jalammar.github.io/illustrated-transformer/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13432"/>
            <a:ext cx="73152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865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GPT-2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697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Alammar</a:t>
            </a:r>
            <a:endParaRPr lang="en-US" sz="900" dirty="0"/>
          </a:p>
        </p:txBody>
      </p:sp>
      <p:sp>
        <p:nvSpPr>
          <p:cNvPr id="19" name="Text 17">
            <a:hlinkClick r:id="rId5"/>
          </p:cNvPr>
          <p:cNvSpPr/>
          <p:nvPr/>
        </p:nvSpPr>
        <p:spPr>
          <a:xfrm>
            <a:off x="438912" y="2953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https://jalammar.github.io/illustrated-gpt2/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231343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13432"/>
            <a:ext cx="73152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3865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 of LLMs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697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2022</a:t>
            </a:r>
            <a:endParaRPr lang="en-US" sz="900" dirty="0"/>
          </a:p>
        </p:txBody>
      </p:sp>
      <p:sp>
        <p:nvSpPr>
          <p:cNvPr id="24" name="Text 22">
            <a:hlinkClick r:id="rId6"/>
          </p:cNvPr>
          <p:cNvSpPr/>
          <p:nvPr/>
        </p:nvSpPr>
        <p:spPr>
          <a:xfrm>
            <a:off x="4873752" y="2953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https://arxiv.org/abs/2206.07682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47872"/>
            <a:ext cx="73152" cy="105156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210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Paper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3931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Rafailov et al. 2023</a:t>
            </a:r>
            <a:endParaRPr lang="en-US" sz="900" dirty="0"/>
          </a:p>
        </p:txBody>
      </p:sp>
      <p:sp>
        <p:nvSpPr>
          <p:cNvPr id="29" name="Text 27">
            <a:hlinkClick r:id="rId7"/>
          </p:cNvPr>
          <p:cNvSpPr/>
          <p:nvPr/>
        </p:nvSpPr>
        <p:spPr>
          <a:xfrm>
            <a:off x="438912" y="4187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https://arxiv.org/abs/2305.18290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3547872"/>
            <a:ext cx="416052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547872"/>
            <a:ext cx="73152" cy="1051560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6210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Paper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39319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Shao et al. 2024</a:t>
            </a:r>
            <a:endParaRPr lang="en-US" sz="900" dirty="0"/>
          </a:p>
        </p:txBody>
      </p:sp>
      <p:sp>
        <p:nvSpPr>
          <p:cNvPr id="34" name="Text 32">
            <a:hlinkClick r:id="rId8"/>
          </p:cNvPr>
          <p:cNvSpPr/>
          <p:nvPr/>
        </p:nvSpPr>
        <p:spPr>
          <a:xfrm>
            <a:off x="4873752" y="41879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https://arxiv.org/abs/2402.03300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54864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Papers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years of AI history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logical calculus of nervous activity (1943)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Constitutional AI and GPT-4 (2024)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arXiv links are freely accessible · No paywall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2131</Words>
  <Application>Microsoft Macintosh PowerPoint</Application>
  <PresentationFormat>On-screen Show (16:9)</PresentationFormat>
  <Paragraphs>250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Papers Reference List</dc:title>
  <dc:subject>PptxGenJS Presentation</dc:subject>
  <dc:creator>AI History Series</dc:creator>
  <cp:lastModifiedBy>Maneesha</cp:lastModifiedBy>
  <cp:revision>3</cp:revision>
  <dcterms:created xsi:type="dcterms:W3CDTF">2026-04-22T12:10:38Z</dcterms:created>
  <dcterms:modified xsi:type="dcterms:W3CDTF">2026-04-22T12:36:11Z</dcterms:modified>
</cp:coreProperties>
</file>