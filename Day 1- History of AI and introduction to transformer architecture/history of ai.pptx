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
    <p:sldId id="256" r:id="rId3"/>
    <p:sldId id="257" r:id="rId4"/>
    <p:sldId id="258" r:id="rId5"/>
    <p:sldId id="259" r:id="rId6"/>
    <p:sldId id="261" r:id="rId7"/>
    <p:sldId id="260" r:id="rId8"/>
    <p:sldId id="262" r:id="rId9"/>
    <p:sldId id="263" r:id="rId10"/>
    <p:sldId id="264" r:id="rId11"/>
    <p:sldId id="266" r:id="rId12"/>
    <p:sldId id="272" r:id="rId13"/>
    <p:sldId id="267" r:id="rId14"/>
    <p:sldId id="268" r:id="rId15"/>
    <p:sldId id="273" r:id="rId16"/>
    <p:sldId id="269" r:id="rId17"/>
    <p:sldId id="270" r:id="rId18"/>
  </p:sldIdLst>
  <p:sldSz cx="12192000" cy="6858000"/>
  <p:notesSz cx="6858000" cy="9144000"/>
  <p:defaultText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66"/>
  </p:normalViewPr>
  <p:slideViewPr>
    <p:cSldViewPr snapToGrid="0">
      <p:cViewPr varScale="1">
        <p:scale>
          <a:sx n="115" d="100"/>
          <a:sy n="115" d="100"/>
        </p:scale>
        <p:origin x="4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FE25-E054-554E-D0DC-639478E1023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LK"/>
          </a:p>
        </p:txBody>
      </p:sp>
      <p:sp>
        <p:nvSpPr>
          <p:cNvPr id="3" name="Subtitle 2">
            <a:extLst>
              <a:ext uri="{FF2B5EF4-FFF2-40B4-BE49-F238E27FC236}">
                <a16:creationId xmlns:a16="http://schemas.microsoft.com/office/drawing/2014/main" id="{1C45144A-673F-61F9-D8C3-8F0978F195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LK"/>
          </a:p>
        </p:txBody>
      </p:sp>
      <p:sp>
        <p:nvSpPr>
          <p:cNvPr id="4" name="Date Placeholder 3">
            <a:extLst>
              <a:ext uri="{FF2B5EF4-FFF2-40B4-BE49-F238E27FC236}">
                <a16:creationId xmlns:a16="http://schemas.microsoft.com/office/drawing/2014/main" id="{9CD450DB-311B-4726-C291-4E0E956799C4}"/>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5" name="Footer Placeholder 4">
            <a:extLst>
              <a:ext uri="{FF2B5EF4-FFF2-40B4-BE49-F238E27FC236}">
                <a16:creationId xmlns:a16="http://schemas.microsoft.com/office/drawing/2014/main" id="{77428B4F-8A2D-1D57-B444-71600CB75B54}"/>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BFA09226-F266-9570-D2F0-6F8178FEB4A7}"/>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2443030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14D5E-F80A-4C77-1DC9-46B627E2A419}"/>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96781F4B-7006-F561-7795-E567E963001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F3595852-205D-EC40-7C87-FCA5D5B50999}"/>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5" name="Footer Placeholder 4">
            <a:extLst>
              <a:ext uri="{FF2B5EF4-FFF2-40B4-BE49-F238E27FC236}">
                <a16:creationId xmlns:a16="http://schemas.microsoft.com/office/drawing/2014/main" id="{EB1CA56B-F2C2-8B55-C7D0-1A1059B966E2}"/>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5E84A44C-14CA-0884-2F93-FFA9FA159EBE}"/>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396788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59D39-5951-9286-D617-EDD7650B4DA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LK"/>
          </a:p>
        </p:txBody>
      </p:sp>
      <p:sp>
        <p:nvSpPr>
          <p:cNvPr id="3" name="Text Placeholder 2">
            <a:extLst>
              <a:ext uri="{FF2B5EF4-FFF2-40B4-BE49-F238E27FC236}">
                <a16:creationId xmlns:a16="http://schemas.microsoft.com/office/drawing/2014/main" id="{0826C348-5C2B-C15B-98DF-3CFD28BD41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39CD962-1B4D-51BE-5938-24AB431E03BD}"/>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5" name="Footer Placeholder 4">
            <a:extLst>
              <a:ext uri="{FF2B5EF4-FFF2-40B4-BE49-F238E27FC236}">
                <a16:creationId xmlns:a16="http://schemas.microsoft.com/office/drawing/2014/main" id="{910127F0-3B2C-5B6E-BBC0-926A23D434F8}"/>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5510F296-9807-FA05-D051-708F3775F231}"/>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2818555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A28B-D809-8267-0E3A-8A005382666D}"/>
              </a:ext>
            </a:extLst>
          </p:cNvPr>
          <p:cNvSpPr>
            <a:spLocks noGrp="1"/>
          </p:cNvSpPr>
          <p:nvPr>
            <p:ph type="title"/>
          </p:nvPr>
        </p:nvSpPr>
        <p:spPr/>
        <p:txBody>
          <a:bodyPr/>
          <a:lstStyle/>
          <a:p>
            <a:r>
              <a:rPr lang="en-GB"/>
              <a:t>Click to edit Master title style</a:t>
            </a:r>
            <a:endParaRPr lang="en-LK"/>
          </a:p>
        </p:txBody>
      </p:sp>
      <p:sp>
        <p:nvSpPr>
          <p:cNvPr id="3" name="Content Placeholder 2">
            <a:extLst>
              <a:ext uri="{FF2B5EF4-FFF2-40B4-BE49-F238E27FC236}">
                <a16:creationId xmlns:a16="http://schemas.microsoft.com/office/drawing/2014/main" id="{8D50DAF2-8DE6-0395-B371-8FED27EB120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Content Placeholder 3">
            <a:extLst>
              <a:ext uri="{FF2B5EF4-FFF2-40B4-BE49-F238E27FC236}">
                <a16:creationId xmlns:a16="http://schemas.microsoft.com/office/drawing/2014/main" id="{BDC53986-F2C4-C4A7-AD90-AD5FC5182B0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Date Placeholder 4">
            <a:extLst>
              <a:ext uri="{FF2B5EF4-FFF2-40B4-BE49-F238E27FC236}">
                <a16:creationId xmlns:a16="http://schemas.microsoft.com/office/drawing/2014/main" id="{21DA8316-201E-BAE3-DE76-55C4BB4C7083}"/>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6" name="Footer Placeholder 5">
            <a:extLst>
              <a:ext uri="{FF2B5EF4-FFF2-40B4-BE49-F238E27FC236}">
                <a16:creationId xmlns:a16="http://schemas.microsoft.com/office/drawing/2014/main" id="{BA982501-9BF1-CAEC-0023-223DD02184FD}"/>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BB452020-4BB2-286C-A690-FF553D82699F}"/>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2988750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4CB8-08B1-DD80-B758-EEBE5B610C0E}"/>
              </a:ext>
            </a:extLst>
          </p:cNvPr>
          <p:cNvSpPr>
            <a:spLocks noGrp="1"/>
          </p:cNvSpPr>
          <p:nvPr>
            <p:ph type="title"/>
          </p:nvPr>
        </p:nvSpPr>
        <p:spPr>
          <a:xfrm>
            <a:off x="839788" y="365125"/>
            <a:ext cx="10515600" cy="1325563"/>
          </a:xfrm>
        </p:spPr>
        <p:txBody>
          <a:bodyPr/>
          <a:lstStyle/>
          <a:p>
            <a:r>
              <a:rPr lang="en-GB"/>
              <a:t>Click to edit Master title style</a:t>
            </a:r>
            <a:endParaRPr lang="en-LK"/>
          </a:p>
        </p:txBody>
      </p:sp>
      <p:sp>
        <p:nvSpPr>
          <p:cNvPr id="3" name="Text Placeholder 2">
            <a:extLst>
              <a:ext uri="{FF2B5EF4-FFF2-40B4-BE49-F238E27FC236}">
                <a16:creationId xmlns:a16="http://schemas.microsoft.com/office/drawing/2014/main" id="{0C758BBB-763E-49E5-DE3C-926604BD02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4876728-E168-E018-0E05-6BC00125700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5" name="Text Placeholder 4">
            <a:extLst>
              <a:ext uri="{FF2B5EF4-FFF2-40B4-BE49-F238E27FC236}">
                <a16:creationId xmlns:a16="http://schemas.microsoft.com/office/drawing/2014/main" id="{6CE4408E-44A7-D549-322F-3936421D32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B254070-2E2D-1C16-C401-25F63C865B0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7" name="Date Placeholder 6">
            <a:extLst>
              <a:ext uri="{FF2B5EF4-FFF2-40B4-BE49-F238E27FC236}">
                <a16:creationId xmlns:a16="http://schemas.microsoft.com/office/drawing/2014/main" id="{7CCFDAA2-16CD-5DEA-ECBE-9BE791052DA9}"/>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8" name="Footer Placeholder 7">
            <a:extLst>
              <a:ext uri="{FF2B5EF4-FFF2-40B4-BE49-F238E27FC236}">
                <a16:creationId xmlns:a16="http://schemas.microsoft.com/office/drawing/2014/main" id="{8EDE52F4-1A37-4B67-325E-1B8956A51054}"/>
              </a:ext>
            </a:extLst>
          </p:cNvPr>
          <p:cNvSpPr>
            <a:spLocks noGrp="1"/>
          </p:cNvSpPr>
          <p:nvPr>
            <p:ph type="ftr" sz="quarter" idx="11"/>
          </p:nvPr>
        </p:nvSpPr>
        <p:spPr/>
        <p:txBody>
          <a:bodyPr/>
          <a:lstStyle/>
          <a:p>
            <a:endParaRPr lang="en-LK"/>
          </a:p>
        </p:txBody>
      </p:sp>
      <p:sp>
        <p:nvSpPr>
          <p:cNvPr id="9" name="Slide Number Placeholder 8">
            <a:extLst>
              <a:ext uri="{FF2B5EF4-FFF2-40B4-BE49-F238E27FC236}">
                <a16:creationId xmlns:a16="http://schemas.microsoft.com/office/drawing/2014/main" id="{81112DD0-29E5-488F-1825-1099AD4AA127}"/>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3839222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64B5-E209-1510-D2E8-7BDCB8F5C5DE}"/>
              </a:ext>
            </a:extLst>
          </p:cNvPr>
          <p:cNvSpPr>
            <a:spLocks noGrp="1"/>
          </p:cNvSpPr>
          <p:nvPr>
            <p:ph type="title"/>
          </p:nvPr>
        </p:nvSpPr>
        <p:spPr/>
        <p:txBody>
          <a:bodyPr/>
          <a:lstStyle/>
          <a:p>
            <a:r>
              <a:rPr lang="en-GB"/>
              <a:t>Click to edit Master title style</a:t>
            </a:r>
            <a:endParaRPr lang="en-LK"/>
          </a:p>
        </p:txBody>
      </p:sp>
      <p:sp>
        <p:nvSpPr>
          <p:cNvPr id="3" name="Date Placeholder 2">
            <a:extLst>
              <a:ext uri="{FF2B5EF4-FFF2-40B4-BE49-F238E27FC236}">
                <a16:creationId xmlns:a16="http://schemas.microsoft.com/office/drawing/2014/main" id="{82130031-18C5-3F47-3337-8FBFAF01813C}"/>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4" name="Footer Placeholder 3">
            <a:extLst>
              <a:ext uri="{FF2B5EF4-FFF2-40B4-BE49-F238E27FC236}">
                <a16:creationId xmlns:a16="http://schemas.microsoft.com/office/drawing/2014/main" id="{8D410F5E-4A94-923E-3FF8-CDC98D655D44}"/>
              </a:ext>
            </a:extLst>
          </p:cNvPr>
          <p:cNvSpPr>
            <a:spLocks noGrp="1"/>
          </p:cNvSpPr>
          <p:nvPr>
            <p:ph type="ftr" sz="quarter" idx="11"/>
          </p:nvPr>
        </p:nvSpPr>
        <p:spPr/>
        <p:txBody>
          <a:bodyPr/>
          <a:lstStyle/>
          <a:p>
            <a:endParaRPr lang="en-LK"/>
          </a:p>
        </p:txBody>
      </p:sp>
      <p:sp>
        <p:nvSpPr>
          <p:cNvPr id="5" name="Slide Number Placeholder 4">
            <a:extLst>
              <a:ext uri="{FF2B5EF4-FFF2-40B4-BE49-F238E27FC236}">
                <a16:creationId xmlns:a16="http://schemas.microsoft.com/office/drawing/2014/main" id="{8F3E081E-FF79-AF4C-BF63-A05051FF7B5B}"/>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1983150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EECB00-A5FA-FE75-4316-8B67FC47FE0E}"/>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3" name="Footer Placeholder 2">
            <a:extLst>
              <a:ext uri="{FF2B5EF4-FFF2-40B4-BE49-F238E27FC236}">
                <a16:creationId xmlns:a16="http://schemas.microsoft.com/office/drawing/2014/main" id="{5AF72654-6672-EA80-C944-E7A81BAE6C5D}"/>
              </a:ext>
            </a:extLst>
          </p:cNvPr>
          <p:cNvSpPr>
            <a:spLocks noGrp="1"/>
          </p:cNvSpPr>
          <p:nvPr>
            <p:ph type="ftr" sz="quarter" idx="11"/>
          </p:nvPr>
        </p:nvSpPr>
        <p:spPr/>
        <p:txBody>
          <a:bodyPr/>
          <a:lstStyle/>
          <a:p>
            <a:endParaRPr lang="en-LK"/>
          </a:p>
        </p:txBody>
      </p:sp>
      <p:sp>
        <p:nvSpPr>
          <p:cNvPr id="4" name="Slide Number Placeholder 3">
            <a:extLst>
              <a:ext uri="{FF2B5EF4-FFF2-40B4-BE49-F238E27FC236}">
                <a16:creationId xmlns:a16="http://schemas.microsoft.com/office/drawing/2014/main" id="{12AEA776-08A4-3D94-204F-227DD0F51B80}"/>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331366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67F88-99F9-979A-15CD-900D78FD405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Content Placeholder 2">
            <a:extLst>
              <a:ext uri="{FF2B5EF4-FFF2-40B4-BE49-F238E27FC236}">
                <a16:creationId xmlns:a16="http://schemas.microsoft.com/office/drawing/2014/main" id="{F0C250AF-195D-D846-71DF-8BB9815A7F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Text Placeholder 3">
            <a:extLst>
              <a:ext uri="{FF2B5EF4-FFF2-40B4-BE49-F238E27FC236}">
                <a16:creationId xmlns:a16="http://schemas.microsoft.com/office/drawing/2014/main" id="{59901799-DEDB-773E-191A-F041D13181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BA0D95-1899-7667-3603-546C1BF7322F}"/>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6" name="Footer Placeholder 5">
            <a:extLst>
              <a:ext uri="{FF2B5EF4-FFF2-40B4-BE49-F238E27FC236}">
                <a16:creationId xmlns:a16="http://schemas.microsoft.com/office/drawing/2014/main" id="{9F24A5F6-EA24-5D88-52CA-54BB05363CB1}"/>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233A10BD-E77F-5A08-BB56-268B3244F12C}"/>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4283761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9B73-46C0-A47F-8C4F-C298082540C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LK"/>
          </a:p>
        </p:txBody>
      </p:sp>
      <p:sp>
        <p:nvSpPr>
          <p:cNvPr id="3" name="Picture Placeholder 2">
            <a:extLst>
              <a:ext uri="{FF2B5EF4-FFF2-40B4-BE49-F238E27FC236}">
                <a16:creationId xmlns:a16="http://schemas.microsoft.com/office/drawing/2014/main" id="{A73AEFB6-755B-86EF-EE47-F8D56694A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K"/>
          </a:p>
        </p:txBody>
      </p:sp>
      <p:sp>
        <p:nvSpPr>
          <p:cNvPr id="4" name="Text Placeholder 3">
            <a:extLst>
              <a:ext uri="{FF2B5EF4-FFF2-40B4-BE49-F238E27FC236}">
                <a16:creationId xmlns:a16="http://schemas.microsoft.com/office/drawing/2014/main" id="{56A5E003-36F3-331F-EC86-6545230837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F527ADA-F6BE-FC09-584A-270ED4F93041}"/>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6" name="Footer Placeholder 5">
            <a:extLst>
              <a:ext uri="{FF2B5EF4-FFF2-40B4-BE49-F238E27FC236}">
                <a16:creationId xmlns:a16="http://schemas.microsoft.com/office/drawing/2014/main" id="{17814B8A-C3E5-E5A9-A421-C1488B0CCA0B}"/>
              </a:ext>
            </a:extLst>
          </p:cNvPr>
          <p:cNvSpPr>
            <a:spLocks noGrp="1"/>
          </p:cNvSpPr>
          <p:nvPr>
            <p:ph type="ftr" sz="quarter" idx="11"/>
          </p:nvPr>
        </p:nvSpPr>
        <p:spPr/>
        <p:txBody>
          <a:bodyPr/>
          <a:lstStyle/>
          <a:p>
            <a:endParaRPr lang="en-LK"/>
          </a:p>
        </p:txBody>
      </p:sp>
      <p:sp>
        <p:nvSpPr>
          <p:cNvPr id="7" name="Slide Number Placeholder 6">
            <a:extLst>
              <a:ext uri="{FF2B5EF4-FFF2-40B4-BE49-F238E27FC236}">
                <a16:creationId xmlns:a16="http://schemas.microsoft.com/office/drawing/2014/main" id="{183A62F5-97E4-F28C-45F1-EEFA82E1F80A}"/>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792129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BDAB1-D9D0-A966-ACE1-CCB959796865}"/>
              </a:ext>
            </a:extLst>
          </p:cNvPr>
          <p:cNvSpPr>
            <a:spLocks noGrp="1"/>
          </p:cNvSpPr>
          <p:nvPr>
            <p:ph type="title"/>
          </p:nvPr>
        </p:nvSpPr>
        <p:spPr/>
        <p:txBody>
          <a:bodyPr/>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5656F126-06D6-A920-105D-28978C163E2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12EB0350-3347-1382-5BF3-23E46DAE5A9D}"/>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5" name="Footer Placeholder 4">
            <a:extLst>
              <a:ext uri="{FF2B5EF4-FFF2-40B4-BE49-F238E27FC236}">
                <a16:creationId xmlns:a16="http://schemas.microsoft.com/office/drawing/2014/main" id="{411717DC-31B9-DDC1-B877-2B895C444137}"/>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2112055A-E3D1-A7BE-C6A5-B9A62B97CA77}"/>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1711314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0CF3CA-28FF-A66B-7D1F-578A38A7D7D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LK"/>
          </a:p>
        </p:txBody>
      </p:sp>
      <p:sp>
        <p:nvSpPr>
          <p:cNvPr id="3" name="Vertical Text Placeholder 2">
            <a:extLst>
              <a:ext uri="{FF2B5EF4-FFF2-40B4-BE49-F238E27FC236}">
                <a16:creationId xmlns:a16="http://schemas.microsoft.com/office/drawing/2014/main" id="{C7BF07AF-260F-50A9-1CAA-475A1A5FA02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33108121-6F4E-6A1F-AFC0-45998A056489}"/>
              </a:ext>
            </a:extLst>
          </p:cNvPr>
          <p:cNvSpPr>
            <a:spLocks noGrp="1"/>
          </p:cNvSpPr>
          <p:nvPr>
            <p:ph type="dt" sz="half" idx="10"/>
          </p:nvPr>
        </p:nvSpPr>
        <p:spPr/>
        <p:txBody>
          <a:bodyPr/>
          <a:lstStyle/>
          <a:p>
            <a:fld id="{0E567A51-26C9-1444-AE07-D3ACC8BD08C0}" type="datetimeFigureOut">
              <a:rPr lang="en-LK" smtClean="0"/>
              <a:t>2026-04-28</a:t>
            </a:fld>
            <a:endParaRPr lang="en-LK"/>
          </a:p>
        </p:txBody>
      </p:sp>
      <p:sp>
        <p:nvSpPr>
          <p:cNvPr id="5" name="Footer Placeholder 4">
            <a:extLst>
              <a:ext uri="{FF2B5EF4-FFF2-40B4-BE49-F238E27FC236}">
                <a16:creationId xmlns:a16="http://schemas.microsoft.com/office/drawing/2014/main" id="{2E500BD6-359E-4572-036A-6D135E26F673}"/>
              </a:ext>
            </a:extLst>
          </p:cNvPr>
          <p:cNvSpPr>
            <a:spLocks noGrp="1"/>
          </p:cNvSpPr>
          <p:nvPr>
            <p:ph type="ftr" sz="quarter" idx="11"/>
          </p:nvPr>
        </p:nvSpPr>
        <p:spPr/>
        <p:txBody>
          <a:bodyPr/>
          <a:lstStyle/>
          <a:p>
            <a:endParaRPr lang="en-LK"/>
          </a:p>
        </p:txBody>
      </p:sp>
      <p:sp>
        <p:nvSpPr>
          <p:cNvPr id="6" name="Slide Number Placeholder 5">
            <a:extLst>
              <a:ext uri="{FF2B5EF4-FFF2-40B4-BE49-F238E27FC236}">
                <a16:creationId xmlns:a16="http://schemas.microsoft.com/office/drawing/2014/main" id="{8E3A13BA-7F87-6FD6-C2F5-4066C1E756E7}"/>
              </a:ext>
            </a:extLst>
          </p:cNvPr>
          <p:cNvSpPr>
            <a:spLocks noGrp="1"/>
          </p:cNvSpPr>
          <p:nvPr>
            <p:ph type="sldNum" sz="quarter" idx="12"/>
          </p:nvPr>
        </p:nvSpPr>
        <p:spPr/>
        <p:txBody>
          <a:bodyPr/>
          <a:lstStyle/>
          <a:p>
            <a:fld id="{7CF55A59-C9D7-2546-A244-4402E5EA002F}" type="slidenum">
              <a:rPr lang="en-LK" smtClean="0"/>
              <a:t>‹#›</a:t>
            </a:fld>
            <a:endParaRPr lang="en-LK"/>
          </a:p>
        </p:txBody>
      </p:sp>
    </p:spTree>
    <p:extLst>
      <p:ext uri="{BB962C8B-B14F-4D97-AF65-F5344CB8AC3E}">
        <p14:creationId xmlns:p14="http://schemas.microsoft.com/office/powerpoint/2010/main" val="1644169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9361B7-0B52-E898-FB65-A5C3D2361B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LK"/>
          </a:p>
        </p:txBody>
      </p:sp>
      <p:sp>
        <p:nvSpPr>
          <p:cNvPr id="3" name="Text Placeholder 2">
            <a:extLst>
              <a:ext uri="{FF2B5EF4-FFF2-40B4-BE49-F238E27FC236}">
                <a16:creationId xmlns:a16="http://schemas.microsoft.com/office/drawing/2014/main" id="{63287B16-490A-C18E-5194-298C8E3282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K"/>
          </a:p>
        </p:txBody>
      </p:sp>
      <p:sp>
        <p:nvSpPr>
          <p:cNvPr id="4" name="Date Placeholder 3">
            <a:extLst>
              <a:ext uri="{FF2B5EF4-FFF2-40B4-BE49-F238E27FC236}">
                <a16:creationId xmlns:a16="http://schemas.microsoft.com/office/drawing/2014/main" id="{1010361B-67CC-9BDD-8CD7-DEE85FF16F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567A51-26C9-1444-AE07-D3ACC8BD08C0}" type="datetimeFigureOut">
              <a:rPr lang="en-LK" smtClean="0"/>
              <a:t>2026-04-28</a:t>
            </a:fld>
            <a:endParaRPr lang="en-LK"/>
          </a:p>
        </p:txBody>
      </p:sp>
      <p:sp>
        <p:nvSpPr>
          <p:cNvPr id="5" name="Footer Placeholder 4">
            <a:extLst>
              <a:ext uri="{FF2B5EF4-FFF2-40B4-BE49-F238E27FC236}">
                <a16:creationId xmlns:a16="http://schemas.microsoft.com/office/drawing/2014/main" id="{478903F5-F052-31DC-7278-69875C8B26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LK"/>
          </a:p>
        </p:txBody>
      </p:sp>
      <p:sp>
        <p:nvSpPr>
          <p:cNvPr id="6" name="Slide Number Placeholder 5">
            <a:extLst>
              <a:ext uri="{FF2B5EF4-FFF2-40B4-BE49-F238E27FC236}">
                <a16:creationId xmlns:a16="http://schemas.microsoft.com/office/drawing/2014/main" id="{A3730847-9D14-2588-4910-2EEAE2CA96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F55A59-C9D7-2546-A244-4402E5EA002F}" type="slidenum">
              <a:rPr lang="en-LK" smtClean="0"/>
              <a:t>‹#›</a:t>
            </a:fld>
            <a:endParaRPr lang="en-LK"/>
          </a:p>
        </p:txBody>
      </p:sp>
    </p:spTree>
    <p:extLst>
      <p:ext uri="{BB962C8B-B14F-4D97-AF65-F5344CB8AC3E}">
        <p14:creationId xmlns:p14="http://schemas.microsoft.com/office/powerpoint/2010/main" val="3424736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A306C-D83D-1A2A-C114-9C7E9574ECBB}"/>
              </a:ext>
            </a:extLst>
          </p:cNvPr>
          <p:cNvSpPr>
            <a:spLocks noGrp="1"/>
          </p:cNvSpPr>
          <p:nvPr>
            <p:ph type="title"/>
          </p:nvPr>
        </p:nvSpPr>
        <p:spPr>
          <a:xfrm>
            <a:off x="838200" y="1112257"/>
            <a:ext cx="10515600" cy="1325563"/>
          </a:xfrm>
        </p:spPr>
        <p:txBody>
          <a:bodyPr>
            <a:normAutofit fontScale="90000"/>
          </a:bodyPr>
          <a:lstStyle/>
          <a:p>
            <a:pPr algn="ctr"/>
            <a:r>
              <a:rPr lang="en-GB" b="1" dirty="0"/>
              <a:t>Brief History of </a:t>
            </a:r>
            <a:br>
              <a:rPr lang="en-GB" b="1" dirty="0"/>
            </a:br>
            <a:r>
              <a:rPr lang="en-GB" b="1" dirty="0"/>
              <a:t>Artificial Intelligence</a:t>
            </a:r>
            <a:br>
              <a:rPr lang="en-GB" dirty="0"/>
            </a:br>
            <a:endParaRPr lang="en-LK" dirty="0"/>
          </a:p>
        </p:txBody>
      </p:sp>
      <p:pic>
        <p:nvPicPr>
          <p:cNvPr id="5" name="Picture 4" descr="A blue and yellow logo&#10;&#10;AI-generated content may be incorrect.">
            <a:extLst>
              <a:ext uri="{FF2B5EF4-FFF2-40B4-BE49-F238E27FC236}">
                <a16:creationId xmlns:a16="http://schemas.microsoft.com/office/drawing/2014/main" id="{422B7135-83F8-0653-F44B-43B350D5E3E6}"/>
              </a:ext>
            </a:extLst>
          </p:cNvPr>
          <p:cNvPicPr>
            <a:picLocks noChangeAspect="1"/>
          </p:cNvPicPr>
          <p:nvPr/>
        </p:nvPicPr>
        <p:blipFill>
          <a:blip r:embed="rId2"/>
          <a:stretch>
            <a:fillRect/>
          </a:stretch>
        </p:blipFill>
        <p:spPr>
          <a:xfrm>
            <a:off x="4721960" y="2131896"/>
            <a:ext cx="2748079" cy="2748079"/>
          </a:xfrm>
          <a:prstGeom prst="rect">
            <a:avLst/>
          </a:prstGeom>
        </p:spPr>
      </p:pic>
      <p:sp>
        <p:nvSpPr>
          <p:cNvPr id="6" name="TextBox 5">
            <a:extLst>
              <a:ext uri="{FF2B5EF4-FFF2-40B4-BE49-F238E27FC236}">
                <a16:creationId xmlns:a16="http://schemas.microsoft.com/office/drawing/2014/main" id="{CE3ECB8F-78B2-BF6A-D9C6-3444C320FBB4}"/>
              </a:ext>
            </a:extLst>
          </p:cNvPr>
          <p:cNvSpPr txBox="1"/>
          <p:nvPr/>
        </p:nvSpPr>
        <p:spPr>
          <a:xfrm>
            <a:off x="4272807" y="4995746"/>
            <a:ext cx="3646383" cy="369332"/>
          </a:xfrm>
          <a:prstGeom prst="rect">
            <a:avLst/>
          </a:prstGeom>
          <a:noFill/>
        </p:spPr>
        <p:txBody>
          <a:bodyPr wrap="none" rtlCol="0">
            <a:spAutoFit/>
          </a:bodyPr>
          <a:lstStyle/>
          <a:p>
            <a:r>
              <a:rPr lang="en-LK" dirty="0"/>
              <a:t>A lecture by M</a:t>
            </a:r>
            <a:r>
              <a:rPr lang="en-GB" dirty="0" err="1"/>
              <a:t>aneesha</a:t>
            </a:r>
            <a:r>
              <a:rPr lang="en-GB" dirty="0"/>
              <a:t> Rajapaksha</a:t>
            </a:r>
            <a:endParaRPr lang="en-LK" dirty="0"/>
          </a:p>
        </p:txBody>
      </p:sp>
    </p:spTree>
    <p:extLst>
      <p:ext uri="{BB962C8B-B14F-4D97-AF65-F5344CB8AC3E}">
        <p14:creationId xmlns:p14="http://schemas.microsoft.com/office/powerpoint/2010/main" val="1703469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D018D9-2C0E-9DAC-6DF4-49FBEBC15EF6}"/>
              </a:ext>
            </a:extLst>
          </p:cNvPr>
          <p:cNvSpPr txBox="1"/>
          <p:nvPr/>
        </p:nvSpPr>
        <p:spPr>
          <a:xfrm>
            <a:off x="496230" y="393185"/>
            <a:ext cx="10220092" cy="923330"/>
          </a:xfrm>
          <a:prstGeom prst="rect">
            <a:avLst/>
          </a:prstGeom>
          <a:noFill/>
        </p:spPr>
        <p:txBody>
          <a:bodyPr wrap="square">
            <a:spAutoFit/>
          </a:bodyPr>
          <a:lstStyle/>
          <a:p>
            <a:pPr>
              <a:buNone/>
            </a:pPr>
            <a:r>
              <a:rPr lang="en-LK" b="1" dirty="0"/>
              <a:t>🧠 </a:t>
            </a:r>
            <a:r>
              <a:rPr lang="en-GB" b="1" dirty="0"/>
              <a:t>The McCulloch-Pitts Neuron (1943)</a:t>
            </a:r>
          </a:p>
          <a:p>
            <a:pPr>
              <a:buNone/>
            </a:pPr>
            <a:r>
              <a:rPr lang="en-GB" b="1" dirty="0"/>
              <a:t>The foundational idea:</a:t>
            </a:r>
            <a:r>
              <a:rPr lang="en-GB" dirty="0"/>
              <a:t> a brain cell is just a logic gate. If it gets enough electrical signals at once, it fires. Otherwise, it stays silent. McCulloch and Pitts asked — </a:t>
            </a:r>
            <a:r>
              <a:rPr lang="en-GB" i="1" dirty="0"/>
              <a:t>can we write that as math?</a:t>
            </a:r>
            <a:endParaRPr lang="en-GB" dirty="0"/>
          </a:p>
        </p:txBody>
      </p:sp>
      <p:pic>
        <p:nvPicPr>
          <p:cNvPr id="7" name="Picture 6" descr="A diagram of a nerve cell&#10;&#10;AI-generated content may be incorrect.">
            <a:extLst>
              <a:ext uri="{FF2B5EF4-FFF2-40B4-BE49-F238E27FC236}">
                <a16:creationId xmlns:a16="http://schemas.microsoft.com/office/drawing/2014/main" id="{4B17CA0F-0FF0-69AD-DD8D-3EA3B6346D9D}"/>
              </a:ext>
            </a:extLst>
          </p:cNvPr>
          <p:cNvPicPr>
            <a:picLocks noChangeAspect="1"/>
          </p:cNvPicPr>
          <p:nvPr/>
        </p:nvPicPr>
        <p:blipFill>
          <a:blip r:embed="rId2"/>
          <a:stretch>
            <a:fillRect/>
          </a:stretch>
        </p:blipFill>
        <p:spPr>
          <a:xfrm>
            <a:off x="735980" y="1938008"/>
            <a:ext cx="5575610" cy="2531327"/>
          </a:xfrm>
          <a:prstGeom prst="rect">
            <a:avLst/>
          </a:prstGeom>
        </p:spPr>
      </p:pic>
      <p:sp>
        <p:nvSpPr>
          <p:cNvPr id="9" name="TextBox 8">
            <a:extLst>
              <a:ext uri="{FF2B5EF4-FFF2-40B4-BE49-F238E27FC236}">
                <a16:creationId xmlns:a16="http://schemas.microsoft.com/office/drawing/2014/main" id="{1DB56EC5-5154-CB28-7BD0-4644E93B6853}"/>
              </a:ext>
            </a:extLst>
          </p:cNvPr>
          <p:cNvSpPr txBox="1"/>
          <p:nvPr/>
        </p:nvSpPr>
        <p:spPr>
          <a:xfrm>
            <a:off x="496230" y="4888909"/>
            <a:ext cx="9919009" cy="1200329"/>
          </a:xfrm>
          <a:prstGeom prst="rect">
            <a:avLst/>
          </a:prstGeom>
          <a:noFill/>
        </p:spPr>
        <p:txBody>
          <a:bodyPr wrap="square">
            <a:spAutoFit/>
          </a:bodyPr>
          <a:lstStyle/>
          <a:p>
            <a:r>
              <a:rPr lang="en-GB" dirty="0"/>
              <a:t>Warren McCulloch (neurophysiologist) and Walter Pitts (logician) published </a:t>
            </a:r>
            <a:r>
              <a:rPr lang="en-GB" i="1" dirty="0"/>
              <a:t>"A Logical Calculus of Ideas Immanent in Nervous Activity"</a:t>
            </a:r>
            <a:r>
              <a:rPr lang="en-GB" dirty="0"/>
              <a:t> — the first mathematical model of how neurons fire. They showed that neural networks could, in principle, compute any logical function. This gave scientists a blueprint: </a:t>
            </a:r>
            <a:r>
              <a:rPr lang="en-GB" b="1" dirty="0"/>
              <a:t>the brain is computable</a:t>
            </a:r>
            <a:r>
              <a:rPr lang="en-GB" dirty="0"/>
              <a:t>.</a:t>
            </a:r>
            <a:endParaRPr lang="en-LK" dirty="0"/>
          </a:p>
        </p:txBody>
      </p:sp>
    </p:spTree>
    <p:extLst>
      <p:ext uri="{BB962C8B-B14F-4D97-AF65-F5344CB8AC3E}">
        <p14:creationId xmlns:p14="http://schemas.microsoft.com/office/powerpoint/2010/main" val="859991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4077A1-4BF4-5D82-E88C-D8EAECD670C9}"/>
              </a:ext>
            </a:extLst>
          </p:cNvPr>
          <p:cNvSpPr txBox="1"/>
          <p:nvPr/>
        </p:nvSpPr>
        <p:spPr>
          <a:xfrm>
            <a:off x="328032" y="245074"/>
            <a:ext cx="11535935" cy="1754326"/>
          </a:xfrm>
          <a:prstGeom prst="rect">
            <a:avLst/>
          </a:prstGeom>
          <a:noFill/>
        </p:spPr>
        <p:txBody>
          <a:bodyPr wrap="square">
            <a:spAutoFit/>
          </a:bodyPr>
          <a:lstStyle/>
          <a:p>
            <a:pPr>
              <a:buNone/>
            </a:pPr>
            <a:r>
              <a:rPr lang="en-LK" b="1" dirty="0"/>
              <a:t>📐 </a:t>
            </a:r>
            <a:r>
              <a:rPr lang="en-GB" b="1" dirty="0"/>
              <a:t>The Mathematical Model</a:t>
            </a:r>
          </a:p>
          <a:p>
            <a:pPr>
              <a:buNone/>
            </a:pPr>
            <a:r>
              <a:rPr lang="en-GB" dirty="0"/>
              <a:t>The MP neuron is the simplest possible mathematical abstraction of a biological neuron. It has three parts:</a:t>
            </a:r>
          </a:p>
          <a:p>
            <a:pPr>
              <a:buNone/>
            </a:pPr>
            <a:r>
              <a:rPr lang="en-GB" b="1" dirty="0"/>
              <a:t>1. Binary Inputs</a:t>
            </a:r>
            <a:r>
              <a:rPr lang="en-GB" dirty="0"/>
              <a:t> — each input </a:t>
            </a:r>
            <a:r>
              <a:rPr lang="en-GB" dirty="0">
                <a:latin typeface="Courier New" panose="02070309020205020404" pitchFamily="49" charset="0"/>
              </a:rPr>
              <a:t>xᵢ</a:t>
            </a:r>
            <a:r>
              <a:rPr lang="en-GB" dirty="0"/>
              <a:t> is either </a:t>
            </a:r>
            <a:r>
              <a:rPr lang="en-GB" dirty="0">
                <a:latin typeface="Courier New" panose="02070309020205020404" pitchFamily="49" charset="0"/>
              </a:rPr>
              <a:t>0</a:t>
            </a:r>
            <a:r>
              <a:rPr lang="en-GB" dirty="0"/>
              <a:t> (off) or </a:t>
            </a:r>
            <a:r>
              <a:rPr lang="en-GB" dirty="0">
                <a:latin typeface="Courier New" panose="02070309020205020404" pitchFamily="49" charset="0"/>
              </a:rPr>
              <a:t>1</a:t>
            </a:r>
            <a:r>
              <a:rPr lang="en-GB" dirty="0"/>
              <a:t> (on), just like a nerve impulse either arrives or doesn't.</a:t>
            </a:r>
          </a:p>
          <a:p>
            <a:pPr>
              <a:buNone/>
            </a:pPr>
            <a:r>
              <a:rPr lang="en-GB" b="1" dirty="0"/>
              <a:t>2. Weights</a:t>
            </a:r>
            <a:r>
              <a:rPr lang="en-GB" dirty="0"/>
              <a:t> — each input has an associated weight </a:t>
            </a:r>
            <a:r>
              <a:rPr lang="en-GB" dirty="0">
                <a:latin typeface="Courier New" panose="02070309020205020404" pitchFamily="49" charset="0"/>
              </a:rPr>
              <a:t>wᵢ</a:t>
            </a:r>
            <a:r>
              <a:rPr lang="en-GB" dirty="0"/>
              <a:t>. In the original paper these were all </a:t>
            </a:r>
            <a:r>
              <a:rPr lang="en-GB" dirty="0">
                <a:latin typeface="Courier New" panose="02070309020205020404" pitchFamily="49" charset="0"/>
              </a:rPr>
              <a:t>1</a:t>
            </a:r>
            <a:r>
              <a:rPr lang="en-GB" dirty="0"/>
              <a:t>, but the weight can be negative to model </a:t>
            </a:r>
            <a:r>
              <a:rPr lang="en-GB" b="1" dirty="0"/>
              <a:t>inhibitory</a:t>
            </a:r>
            <a:r>
              <a:rPr lang="en-GB" dirty="0"/>
              <a:t> synapses (signals that </a:t>
            </a:r>
            <a:r>
              <a:rPr lang="en-GB" i="1" dirty="0"/>
              <a:t>prevent</a:t>
            </a:r>
            <a:r>
              <a:rPr lang="en-GB" dirty="0"/>
              <a:t> firing).</a:t>
            </a:r>
          </a:p>
          <a:p>
            <a:pPr>
              <a:buNone/>
            </a:pPr>
            <a:r>
              <a:rPr lang="en-GB" b="1" dirty="0"/>
              <a:t>3. Threshold activation</a:t>
            </a:r>
            <a:r>
              <a:rPr lang="en-GB" dirty="0"/>
              <a:t> — the neuron computes the weighted sum and compares it to a threshold </a:t>
            </a:r>
            <a:r>
              <a:rPr lang="el-GR" dirty="0">
                <a:latin typeface="Courier New" panose="02070309020205020404" pitchFamily="49" charset="0"/>
              </a:rPr>
              <a:t>θ</a:t>
            </a:r>
            <a:r>
              <a:rPr lang="el-GR" dirty="0"/>
              <a:t>:</a:t>
            </a:r>
          </a:p>
        </p:txBody>
      </p:sp>
      <p:sp>
        <p:nvSpPr>
          <p:cNvPr id="7" name="TextBox 6">
            <a:extLst>
              <a:ext uri="{FF2B5EF4-FFF2-40B4-BE49-F238E27FC236}">
                <a16:creationId xmlns:a16="http://schemas.microsoft.com/office/drawing/2014/main" id="{EBDBDEA1-F623-A2E3-74C5-6D38D8BB9562}"/>
              </a:ext>
            </a:extLst>
          </p:cNvPr>
          <p:cNvSpPr txBox="1"/>
          <p:nvPr/>
        </p:nvSpPr>
        <p:spPr>
          <a:xfrm>
            <a:off x="328032" y="2213737"/>
            <a:ext cx="6099716" cy="646331"/>
          </a:xfrm>
          <a:prstGeom prst="rect">
            <a:avLst/>
          </a:prstGeom>
          <a:noFill/>
        </p:spPr>
        <p:txBody>
          <a:bodyPr wrap="square">
            <a:spAutoFit/>
          </a:bodyPr>
          <a:lstStyle/>
          <a:p>
            <a:r>
              <a:rPr lang="en-LK" dirty="0"/>
              <a:t>output = 1   if  Σ(wᵢ · xᵢ) ≥ θ</a:t>
            </a:r>
          </a:p>
          <a:p>
            <a:r>
              <a:rPr lang="en-LK" dirty="0"/>
              <a:t>output = 0   if  Σ(wᵢ · xᵢ) &lt; θ</a:t>
            </a:r>
          </a:p>
        </p:txBody>
      </p:sp>
      <p:sp>
        <p:nvSpPr>
          <p:cNvPr id="9" name="TextBox 8">
            <a:extLst>
              <a:ext uri="{FF2B5EF4-FFF2-40B4-BE49-F238E27FC236}">
                <a16:creationId xmlns:a16="http://schemas.microsoft.com/office/drawing/2014/main" id="{19FBC156-10E3-B052-67CB-ADDF70F24C6F}"/>
              </a:ext>
            </a:extLst>
          </p:cNvPr>
          <p:cNvSpPr txBox="1"/>
          <p:nvPr/>
        </p:nvSpPr>
        <p:spPr>
          <a:xfrm>
            <a:off x="328031" y="3105834"/>
            <a:ext cx="8369919" cy="646331"/>
          </a:xfrm>
          <a:prstGeom prst="rect">
            <a:avLst/>
          </a:prstGeom>
          <a:noFill/>
        </p:spPr>
        <p:txBody>
          <a:bodyPr wrap="square">
            <a:spAutoFit/>
          </a:bodyPr>
          <a:lstStyle/>
          <a:p>
            <a:pPr>
              <a:buNone/>
            </a:pPr>
            <a:r>
              <a:rPr lang="en-GB" dirty="0"/>
              <a:t>That's it. </a:t>
            </a:r>
            <a:r>
              <a:rPr lang="en-GB" b="1" dirty="0"/>
              <a:t>No learning, no gradients, no probabilities</a:t>
            </a:r>
            <a:r>
              <a:rPr lang="en-GB" dirty="0"/>
              <a:t> — just a sum and a hard cutoff.</a:t>
            </a:r>
          </a:p>
        </p:txBody>
      </p:sp>
    </p:spTree>
    <p:extLst>
      <p:ext uri="{BB962C8B-B14F-4D97-AF65-F5344CB8AC3E}">
        <p14:creationId xmlns:p14="http://schemas.microsoft.com/office/powerpoint/2010/main" val="858617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C3E750-A290-7159-3D0C-3F9F61F4FA60}"/>
              </a:ext>
            </a:extLst>
          </p:cNvPr>
          <p:cNvSpPr txBox="1"/>
          <p:nvPr/>
        </p:nvSpPr>
        <p:spPr>
          <a:xfrm>
            <a:off x="362416" y="319812"/>
            <a:ext cx="9818648" cy="923330"/>
          </a:xfrm>
          <a:prstGeom prst="rect">
            <a:avLst/>
          </a:prstGeom>
          <a:noFill/>
        </p:spPr>
        <p:txBody>
          <a:bodyPr wrap="square">
            <a:spAutoFit/>
          </a:bodyPr>
          <a:lstStyle/>
          <a:p>
            <a:pPr>
              <a:buNone/>
            </a:pPr>
            <a:r>
              <a:rPr lang="en-GB" b="1" dirty="0"/>
              <a:t>⚙️ Implementing Logic Gates</a:t>
            </a:r>
          </a:p>
          <a:p>
            <a:pPr>
              <a:buNone/>
            </a:pPr>
            <a:r>
              <a:rPr lang="en-GB" dirty="0"/>
              <a:t>The power of this model was that it could compute </a:t>
            </a:r>
            <a:r>
              <a:rPr lang="en-GB" b="1" dirty="0"/>
              <a:t>any Boolean logic function</a:t>
            </a:r>
            <a:r>
              <a:rPr lang="en-GB" dirty="0"/>
              <a:t> by choosing the right weights and threshold.</a:t>
            </a:r>
          </a:p>
        </p:txBody>
      </p:sp>
      <p:graphicFrame>
        <p:nvGraphicFramePr>
          <p:cNvPr id="6" name="Table 5">
            <a:extLst>
              <a:ext uri="{FF2B5EF4-FFF2-40B4-BE49-F238E27FC236}">
                <a16:creationId xmlns:a16="http://schemas.microsoft.com/office/drawing/2014/main" id="{A4D582A7-F770-2FC7-DFB5-4B3CA8077007}"/>
              </a:ext>
            </a:extLst>
          </p:cNvPr>
          <p:cNvGraphicFramePr>
            <a:graphicFrameLocks noGrp="1"/>
          </p:cNvGraphicFramePr>
          <p:nvPr>
            <p:extLst>
              <p:ext uri="{D42A27DB-BD31-4B8C-83A1-F6EECF244321}">
                <p14:modId xmlns:p14="http://schemas.microsoft.com/office/powerpoint/2010/main" val="2502104782"/>
              </p:ext>
            </p:extLst>
          </p:nvPr>
        </p:nvGraphicFramePr>
        <p:xfrm>
          <a:off x="362416" y="1828800"/>
          <a:ext cx="10515600" cy="3200400"/>
        </p:xfrm>
        <a:graphic>
          <a:graphicData uri="http://schemas.openxmlformats.org/drawingml/2006/table">
            <a:tbl>
              <a:tblPr/>
              <a:tblGrid>
                <a:gridCol w="2103120">
                  <a:extLst>
                    <a:ext uri="{9D8B030D-6E8A-4147-A177-3AD203B41FA5}">
                      <a16:colId xmlns:a16="http://schemas.microsoft.com/office/drawing/2014/main" val="1295749308"/>
                    </a:ext>
                  </a:extLst>
                </a:gridCol>
                <a:gridCol w="2103120">
                  <a:extLst>
                    <a:ext uri="{9D8B030D-6E8A-4147-A177-3AD203B41FA5}">
                      <a16:colId xmlns:a16="http://schemas.microsoft.com/office/drawing/2014/main" val="659400112"/>
                    </a:ext>
                  </a:extLst>
                </a:gridCol>
                <a:gridCol w="2103120">
                  <a:extLst>
                    <a:ext uri="{9D8B030D-6E8A-4147-A177-3AD203B41FA5}">
                      <a16:colId xmlns:a16="http://schemas.microsoft.com/office/drawing/2014/main" val="2395997915"/>
                    </a:ext>
                  </a:extLst>
                </a:gridCol>
                <a:gridCol w="2103120">
                  <a:extLst>
                    <a:ext uri="{9D8B030D-6E8A-4147-A177-3AD203B41FA5}">
                      <a16:colId xmlns:a16="http://schemas.microsoft.com/office/drawing/2014/main" val="2228772361"/>
                    </a:ext>
                  </a:extLst>
                </a:gridCol>
                <a:gridCol w="2103120">
                  <a:extLst>
                    <a:ext uri="{9D8B030D-6E8A-4147-A177-3AD203B41FA5}">
                      <a16:colId xmlns:a16="http://schemas.microsoft.com/office/drawing/2014/main" val="3237229373"/>
                    </a:ext>
                  </a:extLst>
                </a:gridCol>
              </a:tblGrid>
              <a:tr h="0">
                <a:tc>
                  <a:txBody>
                    <a:bodyPr/>
                    <a:lstStyle/>
                    <a:p>
                      <a:pPr>
                        <a:buNone/>
                      </a:pPr>
                      <a:r>
                        <a:rPr lang="en-GB"/>
                        <a:t>Gate</a:t>
                      </a:r>
                    </a:p>
                  </a:txBody>
                  <a:tcPr anchor="ctr">
                    <a:lnL>
                      <a:noFill/>
                    </a:lnL>
                    <a:lnR>
                      <a:noFill/>
                    </a:lnR>
                    <a:lnT>
                      <a:noFill/>
                    </a:lnT>
                    <a:lnB>
                      <a:noFill/>
                    </a:lnB>
                    <a:noFill/>
                  </a:tcPr>
                </a:tc>
                <a:tc>
                  <a:txBody>
                    <a:bodyPr/>
                    <a:lstStyle/>
                    <a:p>
                      <a:pPr>
                        <a:buNone/>
                      </a:pPr>
                      <a:r>
                        <a:rPr lang="en-GB"/>
                        <a:t>Inputs</a:t>
                      </a:r>
                    </a:p>
                  </a:txBody>
                  <a:tcPr anchor="ctr">
                    <a:lnL>
                      <a:noFill/>
                    </a:lnL>
                    <a:lnR>
                      <a:noFill/>
                    </a:lnR>
                    <a:lnT>
                      <a:noFill/>
                    </a:lnT>
                    <a:lnB>
                      <a:noFill/>
                    </a:lnB>
                    <a:noFill/>
                  </a:tcPr>
                </a:tc>
                <a:tc>
                  <a:txBody>
                    <a:bodyPr/>
                    <a:lstStyle/>
                    <a:p>
                      <a:pPr>
                        <a:buNone/>
                      </a:pPr>
                      <a:r>
                        <a:rPr lang="en-GB"/>
                        <a:t>Weights</a:t>
                      </a:r>
                    </a:p>
                  </a:txBody>
                  <a:tcPr anchor="ctr">
                    <a:lnL>
                      <a:noFill/>
                    </a:lnL>
                    <a:lnR>
                      <a:noFill/>
                    </a:lnR>
                    <a:lnT>
                      <a:noFill/>
                    </a:lnT>
                    <a:lnB>
                      <a:noFill/>
                    </a:lnB>
                    <a:noFill/>
                  </a:tcPr>
                </a:tc>
                <a:tc>
                  <a:txBody>
                    <a:bodyPr/>
                    <a:lstStyle/>
                    <a:p>
                      <a:pPr>
                        <a:buNone/>
                      </a:pPr>
                      <a:r>
                        <a:rPr lang="en-GB"/>
                        <a:t>Threshold </a:t>
                      </a:r>
                      <a:r>
                        <a:rPr lang="el-GR"/>
                        <a:t>θ</a:t>
                      </a:r>
                    </a:p>
                  </a:txBody>
                  <a:tcPr anchor="ctr">
                    <a:lnL>
                      <a:noFill/>
                    </a:lnL>
                    <a:lnR>
                      <a:noFill/>
                    </a:lnR>
                    <a:lnT>
                      <a:noFill/>
                    </a:lnT>
                    <a:lnB>
                      <a:noFill/>
                    </a:lnB>
                    <a:noFill/>
                  </a:tcPr>
                </a:tc>
                <a:tc>
                  <a:txBody>
                    <a:bodyPr/>
                    <a:lstStyle/>
                    <a:p>
                      <a:pPr>
                        <a:buNone/>
                      </a:pPr>
                      <a:r>
                        <a:rPr lang="en-GB"/>
                        <a:t>How it works</a:t>
                      </a:r>
                    </a:p>
                  </a:txBody>
                  <a:tcPr anchor="ctr">
                    <a:lnL>
                      <a:noFill/>
                    </a:lnL>
                    <a:lnR>
                      <a:noFill/>
                    </a:lnR>
                    <a:lnT>
                      <a:noFill/>
                    </a:lnT>
                    <a:lnB>
                      <a:noFill/>
                    </a:lnB>
                    <a:noFill/>
                  </a:tcPr>
                </a:tc>
                <a:extLst>
                  <a:ext uri="{0D108BD9-81ED-4DB2-BD59-A6C34878D82A}">
                    <a16:rowId xmlns:a16="http://schemas.microsoft.com/office/drawing/2014/main" val="671669829"/>
                  </a:ext>
                </a:extLst>
              </a:tr>
              <a:tr h="0">
                <a:tc>
                  <a:txBody>
                    <a:bodyPr/>
                    <a:lstStyle/>
                    <a:p>
                      <a:pPr>
                        <a:buNone/>
                      </a:pPr>
                      <a:r>
                        <a:rPr lang="en-GB" b="1"/>
                        <a:t>AND</a:t>
                      </a:r>
                      <a:endParaRPr lang="en-GB"/>
                    </a:p>
                  </a:txBody>
                  <a:tcPr anchor="ctr">
                    <a:lnL>
                      <a:noFill/>
                    </a:lnL>
                    <a:lnR>
                      <a:noFill/>
                    </a:lnR>
                    <a:lnT>
                      <a:noFill/>
                    </a:lnT>
                    <a:lnB>
                      <a:noFill/>
                    </a:lnB>
                    <a:noFill/>
                  </a:tcPr>
                </a:tc>
                <a:tc>
                  <a:txBody>
                    <a:bodyPr/>
                    <a:lstStyle/>
                    <a:p>
                      <a:pPr>
                        <a:buNone/>
                      </a:pPr>
                      <a:r>
                        <a:rPr lang="en-GB"/>
                        <a:t>x1, x2</a:t>
                      </a:r>
                    </a:p>
                  </a:txBody>
                  <a:tcPr anchor="ctr">
                    <a:lnL>
                      <a:noFill/>
                    </a:lnL>
                    <a:lnR>
                      <a:noFill/>
                    </a:lnR>
                    <a:lnT>
                      <a:noFill/>
                    </a:lnT>
                    <a:lnB>
                      <a:noFill/>
                    </a:lnB>
                    <a:noFill/>
                  </a:tcPr>
                </a:tc>
                <a:tc>
                  <a:txBody>
                    <a:bodyPr/>
                    <a:lstStyle/>
                    <a:p>
                      <a:pPr>
                        <a:buNone/>
                      </a:pPr>
                      <a:r>
                        <a:rPr lang="en-LK"/>
                        <a:t>1, 1</a:t>
                      </a:r>
                    </a:p>
                  </a:txBody>
                  <a:tcPr anchor="ctr">
                    <a:lnL>
                      <a:noFill/>
                    </a:lnL>
                    <a:lnR>
                      <a:noFill/>
                    </a:lnR>
                    <a:lnT>
                      <a:noFill/>
                    </a:lnT>
                    <a:lnB>
                      <a:noFill/>
                    </a:lnB>
                    <a:noFill/>
                  </a:tcPr>
                </a:tc>
                <a:tc>
                  <a:txBody>
                    <a:bodyPr/>
                    <a:lstStyle/>
                    <a:p>
                      <a:pPr>
                        <a:buNone/>
                      </a:pPr>
                      <a:r>
                        <a:rPr lang="en-LK"/>
                        <a:t>2</a:t>
                      </a:r>
                    </a:p>
                  </a:txBody>
                  <a:tcPr anchor="ctr">
                    <a:lnL>
                      <a:noFill/>
                    </a:lnL>
                    <a:lnR>
                      <a:noFill/>
                    </a:lnR>
                    <a:lnT>
                      <a:noFill/>
                    </a:lnT>
                    <a:lnB>
                      <a:noFill/>
                    </a:lnB>
                    <a:noFill/>
                  </a:tcPr>
                </a:tc>
                <a:tc>
                  <a:txBody>
                    <a:bodyPr/>
                    <a:lstStyle/>
                    <a:p>
                      <a:pPr>
                        <a:buNone/>
                      </a:pPr>
                      <a:r>
                        <a:rPr lang="en-GB"/>
                        <a:t>Both must fire → sum=2 ≥ 2 ✓</a:t>
                      </a:r>
                    </a:p>
                  </a:txBody>
                  <a:tcPr anchor="ctr">
                    <a:lnL>
                      <a:noFill/>
                    </a:lnL>
                    <a:lnR>
                      <a:noFill/>
                    </a:lnR>
                    <a:lnT>
                      <a:noFill/>
                    </a:lnT>
                    <a:lnB>
                      <a:noFill/>
                    </a:lnB>
                    <a:noFill/>
                  </a:tcPr>
                </a:tc>
                <a:extLst>
                  <a:ext uri="{0D108BD9-81ED-4DB2-BD59-A6C34878D82A}">
                    <a16:rowId xmlns:a16="http://schemas.microsoft.com/office/drawing/2014/main" val="2423045331"/>
                  </a:ext>
                </a:extLst>
              </a:tr>
              <a:tr h="0">
                <a:tc>
                  <a:txBody>
                    <a:bodyPr/>
                    <a:lstStyle/>
                    <a:p>
                      <a:pPr>
                        <a:buNone/>
                      </a:pPr>
                      <a:r>
                        <a:rPr lang="en-GB" b="1"/>
                        <a:t>OR</a:t>
                      </a:r>
                      <a:endParaRPr lang="en-GB"/>
                    </a:p>
                  </a:txBody>
                  <a:tcPr anchor="ctr">
                    <a:lnL>
                      <a:noFill/>
                    </a:lnL>
                    <a:lnR>
                      <a:noFill/>
                    </a:lnR>
                    <a:lnT>
                      <a:noFill/>
                    </a:lnT>
                    <a:lnB>
                      <a:noFill/>
                    </a:lnB>
                    <a:noFill/>
                  </a:tcPr>
                </a:tc>
                <a:tc>
                  <a:txBody>
                    <a:bodyPr/>
                    <a:lstStyle/>
                    <a:p>
                      <a:pPr>
                        <a:buNone/>
                      </a:pPr>
                      <a:r>
                        <a:rPr lang="en-GB"/>
                        <a:t>x1, x2</a:t>
                      </a:r>
                    </a:p>
                  </a:txBody>
                  <a:tcPr anchor="ctr">
                    <a:lnL>
                      <a:noFill/>
                    </a:lnL>
                    <a:lnR>
                      <a:noFill/>
                    </a:lnR>
                    <a:lnT>
                      <a:noFill/>
                    </a:lnT>
                    <a:lnB>
                      <a:noFill/>
                    </a:lnB>
                    <a:noFill/>
                  </a:tcPr>
                </a:tc>
                <a:tc>
                  <a:txBody>
                    <a:bodyPr/>
                    <a:lstStyle/>
                    <a:p>
                      <a:pPr>
                        <a:buNone/>
                      </a:pPr>
                      <a:r>
                        <a:rPr lang="en-LK"/>
                        <a:t>1, 1</a:t>
                      </a:r>
                    </a:p>
                  </a:txBody>
                  <a:tcPr anchor="ctr">
                    <a:lnL>
                      <a:noFill/>
                    </a:lnL>
                    <a:lnR>
                      <a:noFill/>
                    </a:lnR>
                    <a:lnT>
                      <a:noFill/>
                    </a:lnT>
                    <a:lnB>
                      <a:noFill/>
                    </a:lnB>
                    <a:noFill/>
                  </a:tcPr>
                </a:tc>
                <a:tc>
                  <a:txBody>
                    <a:bodyPr/>
                    <a:lstStyle/>
                    <a:p>
                      <a:pPr>
                        <a:buNone/>
                      </a:pPr>
                      <a:r>
                        <a:rPr lang="en-LK"/>
                        <a:t>1</a:t>
                      </a:r>
                    </a:p>
                  </a:txBody>
                  <a:tcPr anchor="ctr">
                    <a:lnL>
                      <a:noFill/>
                    </a:lnL>
                    <a:lnR>
                      <a:noFill/>
                    </a:lnR>
                    <a:lnT>
                      <a:noFill/>
                    </a:lnT>
                    <a:lnB>
                      <a:noFill/>
                    </a:lnB>
                    <a:noFill/>
                  </a:tcPr>
                </a:tc>
                <a:tc>
                  <a:txBody>
                    <a:bodyPr/>
                    <a:lstStyle/>
                    <a:p>
                      <a:pPr>
                        <a:buNone/>
                      </a:pPr>
                      <a:r>
                        <a:rPr lang="en-GB"/>
                        <a:t>Either fires → sum≥1 ✓</a:t>
                      </a:r>
                    </a:p>
                  </a:txBody>
                  <a:tcPr anchor="ctr">
                    <a:lnL>
                      <a:noFill/>
                    </a:lnL>
                    <a:lnR>
                      <a:noFill/>
                    </a:lnR>
                    <a:lnT>
                      <a:noFill/>
                    </a:lnT>
                    <a:lnB>
                      <a:noFill/>
                    </a:lnB>
                    <a:noFill/>
                  </a:tcPr>
                </a:tc>
                <a:extLst>
                  <a:ext uri="{0D108BD9-81ED-4DB2-BD59-A6C34878D82A}">
                    <a16:rowId xmlns:a16="http://schemas.microsoft.com/office/drawing/2014/main" val="3635725726"/>
                  </a:ext>
                </a:extLst>
              </a:tr>
              <a:tr h="0">
                <a:tc>
                  <a:txBody>
                    <a:bodyPr/>
                    <a:lstStyle/>
                    <a:p>
                      <a:pPr>
                        <a:buNone/>
                      </a:pPr>
                      <a:r>
                        <a:rPr lang="en-GB" b="1"/>
                        <a:t>NOT</a:t>
                      </a:r>
                      <a:endParaRPr lang="en-GB"/>
                    </a:p>
                  </a:txBody>
                  <a:tcPr anchor="ctr">
                    <a:lnL>
                      <a:noFill/>
                    </a:lnL>
                    <a:lnR>
                      <a:noFill/>
                    </a:lnR>
                    <a:lnT>
                      <a:noFill/>
                    </a:lnT>
                    <a:lnB>
                      <a:noFill/>
                    </a:lnB>
                    <a:noFill/>
                  </a:tcPr>
                </a:tc>
                <a:tc>
                  <a:txBody>
                    <a:bodyPr/>
                    <a:lstStyle/>
                    <a:p>
                      <a:pPr>
                        <a:buNone/>
                      </a:pPr>
                      <a:r>
                        <a:rPr lang="en-GB"/>
                        <a:t>x1</a:t>
                      </a:r>
                    </a:p>
                  </a:txBody>
                  <a:tcPr anchor="ctr">
                    <a:lnL>
                      <a:noFill/>
                    </a:lnL>
                    <a:lnR>
                      <a:noFill/>
                    </a:lnR>
                    <a:lnT>
                      <a:noFill/>
                    </a:lnT>
                    <a:lnB>
                      <a:noFill/>
                    </a:lnB>
                    <a:noFill/>
                  </a:tcPr>
                </a:tc>
                <a:tc>
                  <a:txBody>
                    <a:bodyPr/>
                    <a:lstStyle/>
                    <a:p>
                      <a:pPr>
                        <a:buNone/>
                      </a:pPr>
                      <a:r>
                        <a:rPr lang="en-LK"/>
                        <a:t>−1</a:t>
                      </a:r>
                    </a:p>
                  </a:txBody>
                  <a:tcPr anchor="ctr">
                    <a:lnL>
                      <a:noFill/>
                    </a:lnL>
                    <a:lnR>
                      <a:noFill/>
                    </a:lnR>
                    <a:lnT>
                      <a:noFill/>
                    </a:lnT>
                    <a:lnB>
                      <a:noFill/>
                    </a:lnB>
                    <a:noFill/>
                  </a:tcPr>
                </a:tc>
                <a:tc>
                  <a:txBody>
                    <a:bodyPr/>
                    <a:lstStyle/>
                    <a:p>
                      <a:pPr>
                        <a:buNone/>
                      </a:pPr>
                      <a:r>
                        <a:rPr lang="en-LK"/>
                        <a:t>0</a:t>
                      </a:r>
                    </a:p>
                  </a:txBody>
                  <a:tcPr anchor="ctr">
                    <a:lnL>
                      <a:noFill/>
                    </a:lnL>
                    <a:lnR>
                      <a:noFill/>
                    </a:lnR>
                    <a:lnT>
                      <a:noFill/>
                    </a:lnT>
                    <a:lnB>
                      <a:noFill/>
                    </a:lnB>
                    <a:noFill/>
                  </a:tcPr>
                </a:tc>
                <a:tc>
                  <a:txBody>
                    <a:bodyPr/>
                    <a:lstStyle/>
                    <a:p>
                      <a:pPr>
                        <a:buNone/>
                      </a:pPr>
                      <a:r>
                        <a:rPr lang="en-GB"/>
                        <a:t>Input off → sum=0 ≥ 0 fires; input on → sum=−1 &lt; 0 silent</a:t>
                      </a:r>
                    </a:p>
                  </a:txBody>
                  <a:tcPr anchor="ctr">
                    <a:lnL>
                      <a:noFill/>
                    </a:lnL>
                    <a:lnR>
                      <a:noFill/>
                    </a:lnR>
                    <a:lnT>
                      <a:noFill/>
                    </a:lnT>
                    <a:lnB>
                      <a:noFill/>
                    </a:lnB>
                    <a:noFill/>
                  </a:tcPr>
                </a:tc>
                <a:extLst>
                  <a:ext uri="{0D108BD9-81ED-4DB2-BD59-A6C34878D82A}">
                    <a16:rowId xmlns:a16="http://schemas.microsoft.com/office/drawing/2014/main" val="2545235380"/>
                  </a:ext>
                </a:extLst>
              </a:tr>
              <a:tr h="0">
                <a:tc>
                  <a:txBody>
                    <a:bodyPr/>
                    <a:lstStyle/>
                    <a:p>
                      <a:pPr>
                        <a:buNone/>
                      </a:pPr>
                      <a:r>
                        <a:rPr lang="en-GB" b="1"/>
                        <a:t>NOR</a:t>
                      </a:r>
                      <a:endParaRPr lang="en-GB"/>
                    </a:p>
                  </a:txBody>
                  <a:tcPr anchor="ctr">
                    <a:lnL>
                      <a:noFill/>
                    </a:lnL>
                    <a:lnR>
                      <a:noFill/>
                    </a:lnR>
                    <a:lnT>
                      <a:noFill/>
                    </a:lnT>
                    <a:lnB>
                      <a:noFill/>
                    </a:lnB>
                    <a:noFill/>
                  </a:tcPr>
                </a:tc>
                <a:tc>
                  <a:txBody>
                    <a:bodyPr/>
                    <a:lstStyle/>
                    <a:p>
                      <a:pPr>
                        <a:buNone/>
                      </a:pPr>
                      <a:r>
                        <a:rPr lang="en-GB"/>
                        <a:t>x1, x2</a:t>
                      </a:r>
                    </a:p>
                  </a:txBody>
                  <a:tcPr anchor="ctr">
                    <a:lnL>
                      <a:noFill/>
                    </a:lnL>
                    <a:lnR>
                      <a:noFill/>
                    </a:lnR>
                    <a:lnT>
                      <a:noFill/>
                    </a:lnT>
                    <a:lnB>
                      <a:noFill/>
                    </a:lnB>
                    <a:noFill/>
                  </a:tcPr>
                </a:tc>
                <a:tc>
                  <a:txBody>
                    <a:bodyPr/>
                    <a:lstStyle/>
                    <a:p>
                      <a:pPr>
                        <a:buNone/>
                      </a:pPr>
                      <a:r>
                        <a:rPr lang="en-LK"/>
                        <a:t>−1, −1</a:t>
                      </a:r>
                    </a:p>
                  </a:txBody>
                  <a:tcPr anchor="ctr">
                    <a:lnL>
                      <a:noFill/>
                    </a:lnL>
                    <a:lnR>
                      <a:noFill/>
                    </a:lnR>
                    <a:lnT>
                      <a:noFill/>
                    </a:lnT>
                    <a:lnB>
                      <a:noFill/>
                    </a:lnB>
                    <a:noFill/>
                  </a:tcPr>
                </a:tc>
                <a:tc>
                  <a:txBody>
                    <a:bodyPr/>
                    <a:lstStyle/>
                    <a:p>
                      <a:pPr>
                        <a:buNone/>
                      </a:pPr>
                      <a:r>
                        <a:rPr lang="en-LK"/>
                        <a:t>0</a:t>
                      </a:r>
                    </a:p>
                  </a:txBody>
                  <a:tcPr anchor="ctr">
                    <a:lnL>
                      <a:noFill/>
                    </a:lnL>
                    <a:lnR>
                      <a:noFill/>
                    </a:lnR>
                    <a:lnT>
                      <a:noFill/>
                    </a:lnT>
                    <a:lnB>
                      <a:noFill/>
                    </a:lnB>
                    <a:noFill/>
                  </a:tcPr>
                </a:tc>
                <a:tc>
                  <a:txBody>
                    <a:bodyPr/>
                    <a:lstStyle/>
                    <a:p>
                      <a:pPr>
                        <a:buNone/>
                      </a:pPr>
                      <a:r>
                        <a:rPr lang="en-GB" dirty="0"/>
                        <a:t>Only fires if both inputs are 0</a:t>
                      </a:r>
                    </a:p>
                  </a:txBody>
                  <a:tcPr anchor="ctr">
                    <a:lnL>
                      <a:noFill/>
                    </a:lnL>
                    <a:lnR>
                      <a:noFill/>
                    </a:lnR>
                    <a:lnT>
                      <a:noFill/>
                    </a:lnT>
                    <a:lnB>
                      <a:noFill/>
                    </a:lnB>
                    <a:noFill/>
                  </a:tcPr>
                </a:tc>
                <a:extLst>
                  <a:ext uri="{0D108BD9-81ED-4DB2-BD59-A6C34878D82A}">
                    <a16:rowId xmlns:a16="http://schemas.microsoft.com/office/drawing/2014/main" val="2203653081"/>
                  </a:ext>
                </a:extLst>
              </a:tr>
            </a:tbl>
          </a:graphicData>
        </a:graphic>
      </p:graphicFrame>
    </p:spTree>
    <p:extLst>
      <p:ext uri="{BB962C8B-B14F-4D97-AF65-F5344CB8AC3E}">
        <p14:creationId xmlns:p14="http://schemas.microsoft.com/office/powerpoint/2010/main" val="2614178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874EDB1-C896-D779-55C2-D23B42A3C2B7}"/>
              </a:ext>
            </a:extLst>
          </p:cNvPr>
          <p:cNvGraphicFramePr>
            <a:graphicFrameLocks noGrp="1"/>
          </p:cNvGraphicFramePr>
          <p:nvPr>
            <p:extLst>
              <p:ext uri="{D42A27DB-BD31-4B8C-83A1-F6EECF244321}">
                <p14:modId xmlns:p14="http://schemas.microsoft.com/office/powerpoint/2010/main" val="2310283729"/>
              </p:ext>
            </p:extLst>
          </p:nvPr>
        </p:nvGraphicFramePr>
        <p:xfrm>
          <a:off x="916259" y="1104207"/>
          <a:ext cx="7413702" cy="3679669"/>
        </p:xfrm>
        <a:graphic>
          <a:graphicData uri="http://schemas.openxmlformats.org/drawingml/2006/table">
            <a:tbl>
              <a:tblPr/>
              <a:tblGrid>
                <a:gridCol w="3706851">
                  <a:extLst>
                    <a:ext uri="{9D8B030D-6E8A-4147-A177-3AD203B41FA5}">
                      <a16:colId xmlns:a16="http://schemas.microsoft.com/office/drawing/2014/main" val="1709324715"/>
                    </a:ext>
                  </a:extLst>
                </a:gridCol>
                <a:gridCol w="3706851">
                  <a:extLst>
                    <a:ext uri="{9D8B030D-6E8A-4147-A177-3AD203B41FA5}">
                      <a16:colId xmlns:a16="http://schemas.microsoft.com/office/drawing/2014/main" val="2983478825"/>
                    </a:ext>
                  </a:extLst>
                </a:gridCol>
              </a:tblGrid>
              <a:tr h="525667">
                <a:tc>
                  <a:txBody>
                    <a:bodyPr/>
                    <a:lstStyle/>
                    <a:p>
                      <a:pPr>
                        <a:buNone/>
                      </a:pPr>
                      <a:r>
                        <a:rPr lang="en-GB"/>
                        <a:t>Biology</a:t>
                      </a:r>
                    </a:p>
                  </a:txBody>
                  <a:tcPr anchor="ctr">
                    <a:lnL>
                      <a:noFill/>
                    </a:lnL>
                    <a:lnR>
                      <a:noFill/>
                    </a:lnR>
                    <a:lnT>
                      <a:noFill/>
                    </a:lnT>
                    <a:lnB>
                      <a:noFill/>
                    </a:lnB>
                    <a:noFill/>
                  </a:tcPr>
                </a:tc>
                <a:tc>
                  <a:txBody>
                    <a:bodyPr/>
                    <a:lstStyle/>
                    <a:p>
                      <a:pPr>
                        <a:buNone/>
                      </a:pPr>
                      <a:r>
                        <a:rPr lang="en-GB"/>
                        <a:t>McCulloch-Pitts Model</a:t>
                      </a:r>
                    </a:p>
                  </a:txBody>
                  <a:tcPr anchor="ctr">
                    <a:lnL>
                      <a:noFill/>
                    </a:lnL>
                    <a:lnR>
                      <a:noFill/>
                    </a:lnR>
                    <a:lnT>
                      <a:noFill/>
                    </a:lnT>
                    <a:lnB>
                      <a:noFill/>
                    </a:lnB>
                    <a:noFill/>
                  </a:tcPr>
                </a:tc>
                <a:extLst>
                  <a:ext uri="{0D108BD9-81ED-4DB2-BD59-A6C34878D82A}">
                    <a16:rowId xmlns:a16="http://schemas.microsoft.com/office/drawing/2014/main" val="2815208856"/>
                  </a:ext>
                </a:extLst>
              </a:tr>
              <a:tr h="525667">
                <a:tc>
                  <a:txBody>
                    <a:bodyPr/>
                    <a:lstStyle/>
                    <a:p>
                      <a:pPr>
                        <a:buNone/>
                      </a:pPr>
                      <a:r>
                        <a:rPr lang="en-GB" dirty="0"/>
                        <a:t>Dendrites receiving signals</a:t>
                      </a:r>
                    </a:p>
                  </a:txBody>
                  <a:tcPr anchor="ctr">
                    <a:lnL>
                      <a:noFill/>
                    </a:lnL>
                    <a:lnR>
                      <a:noFill/>
                    </a:lnR>
                    <a:lnT>
                      <a:noFill/>
                    </a:lnT>
                    <a:lnB>
                      <a:noFill/>
                    </a:lnB>
                    <a:noFill/>
                  </a:tcPr>
                </a:tc>
                <a:tc>
                  <a:txBody>
                    <a:bodyPr/>
                    <a:lstStyle/>
                    <a:p>
                      <a:pPr>
                        <a:buNone/>
                      </a:pPr>
                      <a:r>
                        <a:rPr lang="en-GB"/>
                        <a:t>Inputs </a:t>
                      </a:r>
                      <a:r>
                        <a:rPr lang="en-GB">
                          <a:latin typeface="Courier New" panose="02070309020205020404" pitchFamily="49" charset="0"/>
                        </a:rPr>
                        <a:t>x1, x2, ... xn</a:t>
                      </a:r>
                      <a:endParaRPr lang="en-GB"/>
                    </a:p>
                  </a:txBody>
                  <a:tcPr anchor="ctr">
                    <a:lnL>
                      <a:noFill/>
                    </a:lnL>
                    <a:lnR>
                      <a:noFill/>
                    </a:lnR>
                    <a:lnT>
                      <a:noFill/>
                    </a:lnT>
                    <a:lnB>
                      <a:noFill/>
                    </a:lnB>
                    <a:noFill/>
                  </a:tcPr>
                </a:tc>
                <a:extLst>
                  <a:ext uri="{0D108BD9-81ED-4DB2-BD59-A6C34878D82A}">
                    <a16:rowId xmlns:a16="http://schemas.microsoft.com/office/drawing/2014/main" val="2718786642"/>
                  </a:ext>
                </a:extLst>
              </a:tr>
              <a:tr h="525667">
                <a:tc>
                  <a:txBody>
                    <a:bodyPr/>
                    <a:lstStyle/>
                    <a:p>
                      <a:pPr>
                        <a:buNone/>
                      </a:pPr>
                      <a:r>
                        <a:rPr lang="en-GB" dirty="0"/>
                        <a:t>Synaptic strength</a:t>
                      </a:r>
                    </a:p>
                  </a:txBody>
                  <a:tcPr anchor="ctr">
                    <a:lnL>
                      <a:noFill/>
                    </a:lnL>
                    <a:lnR>
                      <a:noFill/>
                    </a:lnR>
                    <a:lnT>
                      <a:noFill/>
                    </a:lnT>
                    <a:lnB>
                      <a:noFill/>
                    </a:lnB>
                    <a:noFill/>
                  </a:tcPr>
                </a:tc>
                <a:tc>
                  <a:txBody>
                    <a:bodyPr/>
                    <a:lstStyle/>
                    <a:p>
                      <a:pPr>
                        <a:buNone/>
                      </a:pPr>
                      <a:r>
                        <a:rPr lang="en-GB"/>
                        <a:t>Weights </a:t>
                      </a:r>
                      <a:r>
                        <a:rPr lang="en-GB">
                          <a:latin typeface="Courier New" panose="02070309020205020404" pitchFamily="49" charset="0"/>
                        </a:rPr>
                        <a:t>wᵢ</a:t>
                      </a:r>
                      <a:endParaRPr lang="en-GB"/>
                    </a:p>
                  </a:txBody>
                  <a:tcPr anchor="ctr">
                    <a:lnL>
                      <a:noFill/>
                    </a:lnL>
                    <a:lnR>
                      <a:noFill/>
                    </a:lnR>
                    <a:lnT>
                      <a:noFill/>
                    </a:lnT>
                    <a:lnB>
                      <a:noFill/>
                    </a:lnB>
                    <a:noFill/>
                  </a:tcPr>
                </a:tc>
                <a:extLst>
                  <a:ext uri="{0D108BD9-81ED-4DB2-BD59-A6C34878D82A}">
                    <a16:rowId xmlns:a16="http://schemas.microsoft.com/office/drawing/2014/main" val="2241649622"/>
                  </a:ext>
                </a:extLst>
              </a:tr>
              <a:tr h="525667">
                <a:tc>
                  <a:txBody>
                    <a:bodyPr/>
                    <a:lstStyle/>
                    <a:p>
                      <a:pPr>
                        <a:buNone/>
                      </a:pPr>
                      <a:r>
                        <a:rPr lang="en-GB"/>
                        <a:t>Inhibitory synapse</a:t>
                      </a:r>
                    </a:p>
                  </a:txBody>
                  <a:tcPr anchor="ctr">
                    <a:lnL>
                      <a:noFill/>
                    </a:lnL>
                    <a:lnR>
                      <a:noFill/>
                    </a:lnR>
                    <a:lnT>
                      <a:noFill/>
                    </a:lnT>
                    <a:lnB>
                      <a:noFill/>
                    </a:lnB>
                    <a:noFill/>
                  </a:tcPr>
                </a:tc>
                <a:tc>
                  <a:txBody>
                    <a:bodyPr/>
                    <a:lstStyle/>
                    <a:p>
                      <a:pPr>
                        <a:buNone/>
                      </a:pPr>
                      <a:r>
                        <a:rPr lang="en-GB"/>
                        <a:t>Negative weight </a:t>
                      </a:r>
                      <a:r>
                        <a:rPr lang="en-GB">
                          <a:latin typeface="Courier New" panose="02070309020205020404" pitchFamily="49" charset="0"/>
                        </a:rPr>
                        <a:t>wᵢ &lt; 0</a:t>
                      </a:r>
                      <a:endParaRPr lang="en-GB"/>
                    </a:p>
                  </a:txBody>
                  <a:tcPr anchor="ctr">
                    <a:lnL>
                      <a:noFill/>
                    </a:lnL>
                    <a:lnR>
                      <a:noFill/>
                    </a:lnR>
                    <a:lnT>
                      <a:noFill/>
                    </a:lnT>
                    <a:lnB>
                      <a:noFill/>
                    </a:lnB>
                    <a:noFill/>
                  </a:tcPr>
                </a:tc>
                <a:extLst>
                  <a:ext uri="{0D108BD9-81ED-4DB2-BD59-A6C34878D82A}">
                    <a16:rowId xmlns:a16="http://schemas.microsoft.com/office/drawing/2014/main" val="1236815513"/>
                  </a:ext>
                </a:extLst>
              </a:tr>
              <a:tr h="525667">
                <a:tc>
                  <a:txBody>
                    <a:bodyPr/>
                    <a:lstStyle/>
                    <a:p>
                      <a:pPr>
                        <a:buNone/>
                      </a:pPr>
                      <a:r>
                        <a:rPr lang="en-GB"/>
                        <a:t>Axon hillock summation</a:t>
                      </a:r>
                    </a:p>
                  </a:txBody>
                  <a:tcPr anchor="ctr">
                    <a:lnL>
                      <a:noFill/>
                    </a:lnL>
                    <a:lnR>
                      <a:noFill/>
                    </a:lnR>
                    <a:lnT>
                      <a:noFill/>
                    </a:lnT>
                    <a:lnB>
                      <a:noFill/>
                    </a:lnB>
                    <a:noFill/>
                  </a:tcPr>
                </a:tc>
                <a:tc>
                  <a:txBody>
                    <a:bodyPr/>
                    <a:lstStyle/>
                    <a:p>
                      <a:pPr>
                        <a:buNone/>
                      </a:pPr>
                      <a:r>
                        <a:rPr lang="el-GR">
                          <a:latin typeface="Courier New" panose="02070309020205020404" pitchFamily="49" charset="0"/>
                        </a:rPr>
                        <a:t>Σ(</a:t>
                      </a:r>
                      <a:r>
                        <a:rPr lang="en-GB">
                          <a:latin typeface="Courier New" panose="02070309020205020404" pitchFamily="49" charset="0"/>
                        </a:rPr>
                        <a:t>wᵢ · xᵢ)</a:t>
                      </a:r>
                      <a:endParaRPr lang="en-GB"/>
                    </a:p>
                  </a:txBody>
                  <a:tcPr anchor="ctr">
                    <a:lnL>
                      <a:noFill/>
                    </a:lnL>
                    <a:lnR>
                      <a:noFill/>
                    </a:lnR>
                    <a:lnT>
                      <a:noFill/>
                    </a:lnT>
                    <a:lnB>
                      <a:noFill/>
                    </a:lnB>
                    <a:noFill/>
                  </a:tcPr>
                </a:tc>
                <a:extLst>
                  <a:ext uri="{0D108BD9-81ED-4DB2-BD59-A6C34878D82A}">
                    <a16:rowId xmlns:a16="http://schemas.microsoft.com/office/drawing/2014/main" val="489428449"/>
                  </a:ext>
                </a:extLst>
              </a:tr>
              <a:tr h="525667">
                <a:tc>
                  <a:txBody>
                    <a:bodyPr/>
                    <a:lstStyle/>
                    <a:p>
                      <a:pPr>
                        <a:buNone/>
                      </a:pPr>
                      <a:r>
                        <a:rPr lang="en-GB"/>
                        <a:t>Action potential threshold</a:t>
                      </a:r>
                    </a:p>
                  </a:txBody>
                  <a:tcPr anchor="ctr">
                    <a:lnL>
                      <a:noFill/>
                    </a:lnL>
                    <a:lnR>
                      <a:noFill/>
                    </a:lnR>
                    <a:lnT>
                      <a:noFill/>
                    </a:lnT>
                    <a:lnB>
                      <a:noFill/>
                    </a:lnB>
                    <a:noFill/>
                  </a:tcPr>
                </a:tc>
                <a:tc>
                  <a:txBody>
                    <a:bodyPr/>
                    <a:lstStyle/>
                    <a:p>
                      <a:pPr>
                        <a:buNone/>
                      </a:pPr>
                      <a:r>
                        <a:rPr lang="en-GB"/>
                        <a:t>Threshold </a:t>
                      </a:r>
                      <a:r>
                        <a:rPr lang="el-GR">
                          <a:latin typeface="Courier New" panose="02070309020205020404" pitchFamily="49" charset="0"/>
                        </a:rPr>
                        <a:t>θ</a:t>
                      </a:r>
                      <a:endParaRPr lang="el-GR"/>
                    </a:p>
                  </a:txBody>
                  <a:tcPr anchor="ctr">
                    <a:lnL>
                      <a:noFill/>
                    </a:lnL>
                    <a:lnR>
                      <a:noFill/>
                    </a:lnR>
                    <a:lnT>
                      <a:noFill/>
                    </a:lnT>
                    <a:lnB>
                      <a:noFill/>
                    </a:lnB>
                    <a:noFill/>
                  </a:tcPr>
                </a:tc>
                <a:extLst>
                  <a:ext uri="{0D108BD9-81ED-4DB2-BD59-A6C34878D82A}">
                    <a16:rowId xmlns:a16="http://schemas.microsoft.com/office/drawing/2014/main" val="1749976368"/>
                  </a:ext>
                </a:extLst>
              </a:tr>
              <a:tr h="525667">
                <a:tc>
                  <a:txBody>
                    <a:bodyPr/>
                    <a:lstStyle/>
                    <a:p>
                      <a:pPr>
                        <a:buNone/>
                      </a:pPr>
                      <a:r>
                        <a:rPr lang="en-GB"/>
                        <a:t>Neuron fires / doesn't fire</a:t>
                      </a:r>
                    </a:p>
                  </a:txBody>
                  <a:tcPr anchor="ctr">
                    <a:lnL>
                      <a:noFill/>
                    </a:lnL>
                    <a:lnR>
                      <a:noFill/>
                    </a:lnR>
                    <a:lnT>
                      <a:noFill/>
                    </a:lnT>
                    <a:lnB>
                      <a:noFill/>
                    </a:lnB>
                    <a:noFill/>
                  </a:tcPr>
                </a:tc>
                <a:tc>
                  <a:txBody>
                    <a:bodyPr/>
                    <a:lstStyle/>
                    <a:p>
                      <a:pPr>
                        <a:buNone/>
                      </a:pPr>
                      <a:r>
                        <a:rPr lang="en-GB" dirty="0"/>
                        <a:t>Output </a:t>
                      </a:r>
                      <a:r>
                        <a:rPr lang="en-GB" dirty="0">
                          <a:latin typeface="Courier New" panose="02070309020205020404" pitchFamily="49" charset="0"/>
                        </a:rPr>
                        <a:t>= 1</a:t>
                      </a:r>
                      <a:r>
                        <a:rPr lang="en-GB" dirty="0"/>
                        <a:t> or </a:t>
                      </a:r>
                      <a:r>
                        <a:rPr lang="en-GB" dirty="0">
                          <a:latin typeface="Courier New" panose="02070309020205020404" pitchFamily="49" charset="0"/>
                        </a:rPr>
                        <a:t>= 0</a:t>
                      </a:r>
                      <a:endParaRPr lang="en-GB" dirty="0"/>
                    </a:p>
                  </a:txBody>
                  <a:tcPr anchor="ctr">
                    <a:lnL>
                      <a:noFill/>
                    </a:lnL>
                    <a:lnR>
                      <a:noFill/>
                    </a:lnR>
                    <a:lnT>
                      <a:noFill/>
                    </a:lnT>
                    <a:lnB>
                      <a:noFill/>
                    </a:lnB>
                    <a:noFill/>
                  </a:tcPr>
                </a:tc>
                <a:extLst>
                  <a:ext uri="{0D108BD9-81ED-4DB2-BD59-A6C34878D82A}">
                    <a16:rowId xmlns:a16="http://schemas.microsoft.com/office/drawing/2014/main" val="1972668067"/>
                  </a:ext>
                </a:extLst>
              </a:tr>
            </a:tbl>
          </a:graphicData>
        </a:graphic>
      </p:graphicFrame>
      <p:sp>
        <p:nvSpPr>
          <p:cNvPr id="5" name="Rectangle 1">
            <a:extLst>
              <a:ext uri="{FF2B5EF4-FFF2-40B4-BE49-F238E27FC236}">
                <a16:creationId xmlns:a16="http://schemas.microsoft.com/office/drawing/2014/main" id="{BBB57884-1E5E-8645-5ED9-338B4447C7DB}"/>
              </a:ext>
            </a:extLst>
          </p:cNvPr>
          <p:cNvSpPr>
            <a:spLocks noChangeArrowheads="1"/>
          </p:cNvSpPr>
          <p:nvPr/>
        </p:nvSpPr>
        <p:spPr bwMode="auto">
          <a:xfrm>
            <a:off x="916259" y="389187"/>
            <a:ext cx="333277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LK" altLang="en-LK" sz="2400" b="1" i="0" u="none" strike="noStrike" cap="none" normalizeH="0" baseline="0" dirty="0">
                <a:ln>
                  <a:noFill/>
                </a:ln>
                <a:solidFill>
                  <a:schemeClr val="tx1"/>
                </a:solidFill>
                <a:effectLst/>
                <a:latin typeface="Arial" panose="020B0604020202020204" pitchFamily="34" charset="0"/>
              </a:rPr>
              <a:t>🔬 Biological Analogy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LK" altLang="en-L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593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F574B3-2107-2750-59F0-B9795AC3F3A3}"/>
              </a:ext>
            </a:extLst>
          </p:cNvPr>
          <p:cNvSpPr txBox="1"/>
          <p:nvPr/>
        </p:nvSpPr>
        <p:spPr>
          <a:xfrm>
            <a:off x="540835" y="1088125"/>
            <a:ext cx="9673682" cy="2031325"/>
          </a:xfrm>
          <a:prstGeom prst="rect">
            <a:avLst/>
          </a:prstGeom>
          <a:noFill/>
        </p:spPr>
        <p:txBody>
          <a:bodyPr wrap="square">
            <a:spAutoFit/>
          </a:bodyPr>
          <a:lstStyle/>
          <a:p>
            <a:r>
              <a:rPr lang="en-LK" dirty="0"/>
              <a:t>Nᵢ(t)     = neuron i fires at time t  (1 = fires, 0 = silent)</a:t>
            </a:r>
          </a:p>
          <a:p>
            <a:r>
              <a:rPr lang="en-LK" dirty="0"/>
              <a:t>.=.        = "if and only if" / logical equivalence</a:t>
            </a:r>
          </a:p>
          <a:p>
            <a:r>
              <a:rPr lang="en-LK" dirty="0"/>
              <a:t>.v.        = OR</a:t>
            </a:r>
          </a:p>
          <a:p>
            <a:r>
              <a:rPr lang="en-LK" dirty="0"/>
              <a:t>. (dot)    = AND</a:t>
            </a:r>
          </a:p>
          <a:p>
            <a:r>
              <a:rPr lang="en-LK" dirty="0"/>
              <a:t>-          = NOT (inhibition)</a:t>
            </a:r>
          </a:p>
          <a:p>
            <a:r>
              <a:rPr lang="en-LK" dirty="0"/>
              <a:t>(Ex)       = "there exists an x such that..." (existential quantifier)</a:t>
            </a:r>
          </a:p>
          <a:p>
            <a:r>
              <a:rPr lang="en-LK" dirty="0"/>
              <a:t>t-1, t-2   = synaptic delay — signal takes 1 or more time steps to arrive</a:t>
            </a:r>
          </a:p>
        </p:txBody>
      </p:sp>
      <p:sp>
        <p:nvSpPr>
          <p:cNvPr id="7" name="TextBox 6">
            <a:extLst>
              <a:ext uri="{FF2B5EF4-FFF2-40B4-BE49-F238E27FC236}">
                <a16:creationId xmlns:a16="http://schemas.microsoft.com/office/drawing/2014/main" id="{E213FBE2-4C89-911B-C382-D8E6F6966452}"/>
              </a:ext>
            </a:extLst>
          </p:cNvPr>
          <p:cNvSpPr txBox="1"/>
          <p:nvPr/>
        </p:nvSpPr>
        <p:spPr>
          <a:xfrm>
            <a:off x="540835" y="389622"/>
            <a:ext cx="6099716" cy="369332"/>
          </a:xfrm>
          <a:prstGeom prst="rect">
            <a:avLst/>
          </a:prstGeom>
          <a:noFill/>
        </p:spPr>
        <p:txBody>
          <a:bodyPr wrap="square">
            <a:spAutoFit/>
          </a:bodyPr>
          <a:lstStyle/>
          <a:p>
            <a:r>
              <a:rPr lang="en-LK" b="1" dirty="0"/>
              <a:t>📐 </a:t>
            </a:r>
            <a:r>
              <a:rPr lang="en-GB" b="1" dirty="0"/>
              <a:t>The Notation System</a:t>
            </a:r>
            <a:endParaRPr lang="en-LK" b="1" dirty="0"/>
          </a:p>
        </p:txBody>
      </p:sp>
      <p:sp>
        <p:nvSpPr>
          <p:cNvPr id="11" name="Rectangle 4">
            <a:extLst>
              <a:ext uri="{FF2B5EF4-FFF2-40B4-BE49-F238E27FC236}">
                <a16:creationId xmlns:a16="http://schemas.microsoft.com/office/drawing/2014/main" id="{FCED486F-221B-C561-9FC0-44D3833867C2}"/>
              </a:ext>
            </a:extLst>
          </p:cNvPr>
          <p:cNvSpPr>
            <a:spLocks noChangeArrowheads="1"/>
          </p:cNvSpPr>
          <p:nvPr/>
        </p:nvSpPr>
        <p:spPr bwMode="auto">
          <a:xfrm>
            <a:off x="540835" y="3448621"/>
            <a:ext cx="10833409"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GB" altLang="en-LK" sz="1000" b="1" i="0" u="none" strike="noStrike" cap="none" normalizeH="0" baseline="0" dirty="0">
                <a:ln>
                  <a:noFill/>
                </a:ln>
                <a:solidFill>
                  <a:schemeClr val="tx1"/>
                </a:solidFill>
                <a:effectLst/>
                <a:latin typeface="Arial" panose="020B0604020202020204" pitchFamily="34" charset="0"/>
              </a:rPr>
              <a:t>E</a:t>
            </a:r>
            <a:r>
              <a:rPr kumimoji="0" lang="en-LK" altLang="en-LK" sz="1000" b="1" i="0" u="none" strike="noStrike" cap="none" normalizeH="0" baseline="0" dirty="0">
                <a:ln>
                  <a:noFill/>
                </a:ln>
                <a:solidFill>
                  <a:schemeClr val="tx1"/>
                </a:solidFill>
                <a:effectLst/>
                <a:latin typeface="Arial" panose="020B0604020202020204" pitchFamily="34" charset="0"/>
              </a:rPr>
              <a:t>g- N₁(t) .=. N₁(t−1)</a:t>
            </a:r>
            <a:r>
              <a:rPr kumimoji="0" lang="en-GB" altLang="en-LK" sz="1000" b="1" i="0" u="none" strike="noStrike" cap="none" normalizeH="0" baseline="0" dirty="0">
                <a:ln>
                  <a:noFill/>
                </a:ln>
                <a:solidFill>
                  <a:schemeClr val="tx1"/>
                </a:solidFill>
                <a:effectLst/>
                <a:latin typeface="Arial" panose="020B0604020202020204" pitchFamily="34" charset="0"/>
              </a:rPr>
              <a:t> </a:t>
            </a:r>
          </a:p>
          <a:p>
            <a:pPr lvl="0" eaLnBrk="0" fontAlgn="base" hangingPunct="0">
              <a:spcBef>
                <a:spcPct val="0"/>
              </a:spcBef>
              <a:spcAft>
                <a:spcPct val="0"/>
              </a:spcAft>
            </a:pPr>
            <a:endParaRPr kumimoji="0" lang="en-GB" altLang="en-LK" sz="1000" b="1"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en-GB" altLang="en-LK" sz="1000" b="1" i="0" u="none" strike="noStrike" cap="none" normalizeH="0" baseline="0" dirty="0">
                <a:ln>
                  <a:noFill/>
                </a:ln>
                <a:solidFill>
                  <a:schemeClr val="tx1"/>
                </a:solidFill>
                <a:effectLst/>
                <a:latin typeface="Arial" panose="020B0604020202020204" pitchFamily="34" charset="0"/>
              </a:rPr>
              <a:t>N₁ fires at time t  IF  N₁ fired at time t−1</a:t>
            </a:r>
            <a:endParaRPr kumimoji="0" lang="en-LK" altLang="en-LK" sz="10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LK" altLang="en-LK" sz="1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LK" altLang="en-LK" sz="1800" b="1" i="0" u="none" strike="noStrike" cap="none" normalizeH="0" baseline="0" dirty="0">
                <a:ln>
                  <a:noFill/>
                </a:ln>
                <a:solidFill>
                  <a:schemeClr val="tx1"/>
                </a:solidFill>
                <a:effectLst/>
                <a:latin typeface="Arial" panose="020B0604020202020204" pitchFamily="34" charset="0"/>
              </a:rPr>
              <a:t>→ Self-excitation / memory.</a:t>
            </a:r>
            <a:r>
              <a:rPr kumimoji="0" lang="en-LK" altLang="en-LK" sz="1800" b="0" i="0" u="none" strike="noStrike" cap="none" normalizeH="0" baseline="0" dirty="0">
                <a:ln>
                  <a:noFill/>
                </a:ln>
                <a:solidFill>
                  <a:schemeClr val="tx1"/>
                </a:solidFill>
                <a:effectLst/>
                <a:latin typeface="Arial" panose="020B0604020202020204" pitchFamily="34" charset="0"/>
              </a:rPr>
              <a:t> The neuron keeps itself active once triggered. Models a persistent firing loop — the simplest form of neural memory.</a:t>
            </a:r>
          </a:p>
        </p:txBody>
      </p:sp>
      <p:sp>
        <p:nvSpPr>
          <p:cNvPr id="12" name="Rectangle 5">
            <a:extLst>
              <a:ext uri="{FF2B5EF4-FFF2-40B4-BE49-F238E27FC236}">
                <a16:creationId xmlns:a16="http://schemas.microsoft.com/office/drawing/2014/main" id="{D387B9BF-32CC-2141-3CCE-0FA2C6FE9A95}"/>
              </a:ext>
            </a:extLst>
          </p:cNvPr>
          <p:cNvSpPr>
            <a:spLocks noChangeArrowheads="1"/>
          </p:cNvSpPr>
          <p:nvPr/>
        </p:nvSpPr>
        <p:spPr bwMode="auto">
          <a:xfrm>
            <a:off x="540835" y="5039676"/>
            <a:ext cx="10342755"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GB" altLang="en-LK" sz="1000" b="1" dirty="0">
                <a:latin typeface="Arial" panose="020B0604020202020204" pitchFamily="34" charset="0"/>
              </a:rPr>
              <a:t>E</a:t>
            </a:r>
            <a:r>
              <a:rPr lang="en-LK" altLang="en-LK" sz="1000" b="1" dirty="0">
                <a:latin typeface="Arial" panose="020B0604020202020204" pitchFamily="34" charset="0"/>
              </a:rPr>
              <a:t>g -</a:t>
            </a:r>
            <a:r>
              <a:rPr kumimoji="0" lang="en-LK" altLang="en-LK" sz="1000" b="1" i="0" u="none" strike="noStrike" cap="none" normalizeH="0" baseline="0" dirty="0">
                <a:ln>
                  <a:noFill/>
                </a:ln>
                <a:solidFill>
                  <a:schemeClr val="tx1"/>
                </a:solidFill>
                <a:effectLst/>
                <a:latin typeface="Arial" panose="020B0604020202020204" pitchFamily="34" charset="0"/>
              </a:rPr>
              <a:t> N₂(t) .=. N₁(t−1) ∨ N₃(t−1)</a:t>
            </a:r>
          </a:p>
          <a:p>
            <a:pPr lvl="0" eaLnBrk="0" fontAlgn="base" hangingPunct="0">
              <a:spcBef>
                <a:spcPct val="0"/>
              </a:spcBef>
              <a:spcAft>
                <a:spcPct val="0"/>
              </a:spcAft>
            </a:pPr>
            <a:endParaRPr lang="en-LK" altLang="en-LK" sz="1000" b="1" dirty="0">
              <a:latin typeface="Arial" panose="020B0604020202020204" pitchFamily="34" charset="0"/>
            </a:endParaRPr>
          </a:p>
          <a:p>
            <a:pPr lvl="0" eaLnBrk="0" fontAlgn="base" hangingPunct="0">
              <a:spcBef>
                <a:spcPct val="0"/>
              </a:spcBef>
              <a:spcAft>
                <a:spcPct val="0"/>
              </a:spcAft>
            </a:pPr>
            <a:r>
              <a:rPr kumimoji="0" lang="en-GB" altLang="en-LK" sz="1000" b="1" i="0" u="none" strike="noStrike" cap="none" normalizeH="0" baseline="0" dirty="0">
                <a:ln>
                  <a:noFill/>
                </a:ln>
                <a:solidFill>
                  <a:schemeClr val="tx1"/>
                </a:solidFill>
                <a:effectLst/>
                <a:latin typeface="Arial" panose="020B0604020202020204" pitchFamily="34" charset="0"/>
              </a:rPr>
              <a:t> N₂ fires  IF  N₁ fired OR N₃ fired (one step ago)</a:t>
            </a:r>
            <a:endParaRPr kumimoji="0" lang="en-LK" altLang="en-LK" sz="1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LK" altLang="en-LK" sz="1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LK" altLang="en-LK" sz="1800" b="1" i="0" u="none" strike="noStrike" cap="none" normalizeH="0" baseline="0" dirty="0">
                <a:ln>
                  <a:noFill/>
                </a:ln>
                <a:solidFill>
                  <a:schemeClr val="tx1"/>
                </a:solidFill>
                <a:effectLst/>
                <a:latin typeface="Arial" panose="020B0604020202020204" pitchFamily="34" charset="0"/>
              </a:rPr>
              <a:t>→ OR gate.</a:t>
            </a:r>
            <a:r>
              <a:rPr kumimoji="0" lang="en-LK" altLang="en-LK" sz="1800" b="0" i="0" u="none" strike="noStrike" cap="none" normalizeH="0" baseline="0" dirty="0">
                <a:ln>
                  <a:noFill/>
                </a:ln>
                <a:solidFill>
                  <a:schemeClr val="tx1"/>
                </a:solidFill>
                <a:effectLst/>
                <a:latin typeface="Arial" panose="020B0604020202020204" pitchFamily="34" charset="0"/>
              </a:rPr>
              <a:t> Any one excitatory input is sufficient to trigger the neuron. This is the biological equivalent of convergent excitation — multiple pathways activating the same cell.</a:t>
            </a:r>
          </a:p>
        </p:txBody>
      </p:sp>
    </p:spTree>
    <p:extLst>
      <p:ext uri="{BB962C8B-B14F-4D97-AF65-F5344CB8AC3E}">
        <p14:creationId xmlns:p14="http://schemas.microsoft.com/office/powerpoint/2010/main" val="2909274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2F4BBE-FB72-7CD2-4513-15AE79A0EBBA}"/>
              </a:ext>
            </a:extLst>
          </p:cNvPr>
          <p:cNvSpPr txBox="1"/>
          <p:nvPr/>
        </p:nvSpPr>
        <p:spPr>
          <a:xfrm>
            <a:off x="395869" y="2119381"/>
            <a:ext cx="10197790" cy="3139321"/>
          </a:xfrm>
          <a:prstGeom prst="rect">
            <a:avLst/>
          </a:prstGeom>
          <a:noFill/>
        </p:spPr>
        <p:txBody>
          <a:bodyPr wrap="square">
            <a:spAutoFit/>
          </a:bodyPr>
          <a:lstStyle/>
          <a:p>
            <a:pPr>
              <a:buNone/>
            </a:pPr>
            <a:r>
              <a:rPr lang="en-GB" b="1" dirty="0"/>
              <a:t>⚠️ Critical Limitations</a:t>
            </a:r>
          </a:p>
          <a:p>
            <a:pPr>
              <a:buNone/>
            </a:pPr>
            <a:r>
              <a:rPr lang="en-GB" dirty="0"/>
              <a:t>The MP neuron was revolutionary but had major constraints that defined the next 80 years of AI research:</a:t>
            </a:r>
          </a:p>
          <a:p>
            <a:pPr>
              <a:buNone/>
            </a:pPr>
            <a:r>
              <a:rPr lang="en-GB" b="1" dirty="0"/>
              <a:t>No learning</a:t>
            </a:r>
            <a:r>
              <a:rPr lang="en-GB" dirty="0"/>
              <a:t> — weights and threshold are set by hand. The neuron cannot adjust itself from experience. This was the core problem Frank Rosenblatt solved 15 years later with the </a:t>
            </a:r>
            <a:r>
              <a:rPr lang="en-GB" b="1" dirty="0"/>
              <a:t>Perceptron</a:t>
            </a:r>
            <a:r>
              <a:rPr lang="en-GB" dirty="0"/>
              <a:t>.</a:t>
            </a:r>
          </a:p>
          <a:p>
            <a:pPr>
              <a:buNone/>
            </a:pPr>
            <a:r>
              <a:rPr lang="en-GB" b="1" dirty="0"/>
              <a:t>Binary only</a:t>
            </a:r>
            <a:r>
              <a:rPr lang="en-GB" dirty="0"/>
              <a:t> — inputs and outputs are strictly 0 or 1. No continuous values, no probabilities, no uncertainty.</a:t>
            </a:r>
          </a:p>
          <a:p>
            <a:pPr>
              <a:buNone/>
            </a:pPr>
            <a:r>
              <a:rPr lang="en-GB" b="1" dirty="0"/>
              <a:t>No XOR</a:t>
            </a:r>
            <a:r>
              <a:rPr lang="en-GB" dirty="0"/>
              <a:t> — a single MP neuron cannot compute XOR (exclusive or), because XOR is not </a:t>
            </a:r>
            <a:r>
              <a:rPr lang="en-GB" i="1" dirty="0"/>
              <a:t>linearly separable</a:t>
            </a:r>
            <a:r>
              <a:rPr lang="en-GB" dirty="0"/>
              <a:t>. This limitation — later formalized by Minsky &amp; </a:t>
            </a:r>
            <a:r>
              <a:rPr lang="en-GB" dirty="0" err="1"/>
              <a:t>Papert</a:t>
            </a:r>
            <a:r>
              <a:rPr lang="en-GB" dirty="0"/>
              <a:t> in 1969 — killed neural network research for a decade.</a:t>
            </a:r>
          </a:p>
          <a:p>
            <a:pPr>
              <a:buNone/>
            </a:pPr>
            <a:r>
              <a:rPr lang="en-GB" b="1" dirty="0"/>
              <a:t>No time</a:t>
            </a:r>
            <a:r>
              <a:rPr lang="en-GB" dirty="0"/>
              <a:t> — the model is stateless. There is no memory of past activations, no recurrence.</a:t>
            </a:r>
          </a:p>
        </p:txBody>
      </p:sp>
      <p:sp>
        <p:nvSpPr>
          <p:cNvPr id="6" name="Rectangle 1">
            <a:extLst>
              <a:ext uri="{FF2B5EF4-FFF2-40B4-BE49-F238E27FC236}">
                <a16:creationId xmlns:a16="http://schemas.microsoft.com/office/drawing/2014/main" id="{D5B1A7EF-2E6E-F1ED-6B02-DD274D79F50B}"/>
              </a:ext>
            </a:extLst>
          </p:cNvPr>
          <p:cNvSpPr>
            <a:spLocks noChangeArrowheads="1"/>
          </p:cNvSpPr>
          <p:nvPr/>
        </p:nvSpPr>
        <p:spPr bwMode="auto">
          <a:xfrm>
            <a:off x="395869" y="465225"/>
            <a:ext cx="1019779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GB" altLang="en-LK" sz="1000" b="1" dirty="0">
                <a:latin typeface="Arial" panose="020B0604020202020204" pitchFamily="34" charset="0"/>
              </a:rPr>
              <a:t>E</a:t>
            </a:r>
            <a:r>
              <a:rPr lang="en-LK" altLang="en-LK" sz="1000" b="1" dirty="0">
                <a:latin typeface="Arial" panose="020B0604020202020204" pitchFamily="34" charset="0"/>
              </a:rPr>
              <a:t>g- </a:t>
            </a:r>
            <a:r>
              <a:rPr kumimoji="0" lang="en-LK" altLang="en-LK" sz="1000" b="1" i="0" u="none" strike="noStrike" cap="none" normalizeH="0" baseline="0" dirty="0">
                <a:ln>
                  <a:noFill/>
                </a:ln>
                <a:solidFill>
                  <a:schemeClr val="tx1"/>
                </a:solidFill>
                <a:effectLst/>
                <a:latin typeface="Arial" panose="020B0604020202020204" pitchFamily="34" charset="0"/>
              </a:rPr>
              <a:t> N₃(t) .=. N₁(t−1) ∧ N₂(t−1)</a:t>
            </a:r>
          </a:p>
          <a:p>
            <a:pPr lvl="0" eaLnBrk="0" fontAlgn="base" hangingPunct="0">
              <a:spcBef>
                <a:spcPct val="0"/>
              </a:spcBef>
              <a:spcAft>
                <a:spcPct val="0"/>
              </a:spcAft>
            </a:pPr>
            <a:r>
              <a:rPr kumimoji="0" lang="en-GB" altLang="en-LK" sz="1000" b="1" i="0" u="none" strike="noStrike" cap="none" normalizeH="0" baseline="0" dirty="0">
                <a:ln>
                  <a:noFill/>
                </a:ln>
                <a:solidFill>
                  <a:schemeClr val="tx1"/>
                </a:solidFill>
                <a:effectLst/>
                <a:latin typeface="Arial" panose="020B0604020202020204" pitchFamily="34" charset="0"/>
              </a:rPr>
              <a:t>N₃ fires  IF  N₁ fired AND N₂ fired (one step ago)</a:t>
            </a:r>
            <a:endParaRPr kumimoji="0" lang="en-LK" altLang="en-LK" sz="1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LK" altLang="en-LK" sz="1800" b="1" i="0" u="none" strike="noStrike" cap="none" normalizeH="0" baseline="0" dirty="0">
                <a:ln>
                  <a:noFill/>
                </a:ln>
                <a:solidFill>
                  <a:schemeClr val="tx1"/>
                </a:solidFill>
                <a:effectLst/>
                <a:latin typeface="Arial" panose="020B0604020202020204" pitchFamily="34" charset="0"/>
              </a:rPr>
              <a:t>→ AND gate.</a:t>
            </a:r>
            <a:r>
              <a:rPr kumimoji="0" lang="en-LK" altLang="en-LK" sz="1800" b="0" i="0" u="none" strike="noStrike" cap="none" normalizeH="0" baseline="0" dirty="0">
                <a:ln>
                  <a:noFill/>
                </a:ln>
                <a:solidFill>
                  <a:schemeClr val="tx1"/>
                </a:solidFill>
                <a:effectLst/>
                <a:latin typeface="Arial" panose="020B0604020202020204" pitchFamily="34" charset="0"/>
              </a:rPr>
              <a:t> Both inputs must arrive simultaneously. Models coincidence detection — a fundamental operation in sensory processing (e.g. detecting two features co-occurring).</a:t>
            </a:r>
          </a:p>
        </p:txBody>
      </p:sp>
    </p:spTree>
    <p:extLst>
      <p:ext uri="{BB962C8B-B14F-4D97-AF65-F5344CB8AC3E}">
        <p14:creationId xmlns:p14="http://schemas.microsoft.com/office/powerpoint/2010/main" val="877404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4C110C-BDB9-D597-7642-72E143C60954}"/>
              </a:ext>
            </a:extLst>
          </p:cNvPr>
          <p:cNvSpPr txBox="1"/>
          <p:nvPr/>
        </p:nvSpPr>
        <p:spPr>
          <a:xfrm>
            <a:off x="239752" y="261152"/>
            <a:ext cx="10755350" cy="1200329"/>
          </a:xfrm>
          <a:prstGeom prst="rect">
            <a:avLst/>
          </a:prstGeom>
          <a:noFill/>
        </p:spPr>
        <p:txBody>
          <a:bodyPr wrap="square">
            <a:spAutoFit/>
          </a:bodyPr>
          <a:lstStyle/>
          <a:p>
            <a:pPr>
              <a:buNone/>
            </a:pPr>
            <a:r>
              <a:rPr lang="en-GB" b="1" dirty="0"/>
              <a:t>Alan Turing's "Computing Machinery and Intelligence" — 1950</a:t>
            </a:r>
          </a:p>
          <a:p>
            <a:pPr>
              <a:buNone/>
            </a:pPr>
            <a:r>
              <a:rPr lang="en-GB" dirty="0"/>
              <a:t>Turing asked the now-legendary question: </a:t>
            </a:r>
            <a:r>
              <a:rPr lang="en-GB" i="1" dirty="0"/>
              <a:t>"Can machines think?"</a:t>
            </a:r>
            <a:r>
              <a:rPr lang="en-GB" dirty="0"/>
              <a:t> He proposed the </a:t>
            </a:r>
            <a:r>
              <a:rPr lang="en-GB" b="1" dirty="0"/>
              <a:t>Imitation Game</a:t>
            </a:r>
            <a:r>
              <a:rPr lang="en-GB" dirty="0"/>
              <a:t> (the Turing Test) — if a machine could converse indistinguishably from a human, it could be considered intelligent. This paper framed the philosophical debate that still continues today.</a:t>
            </a:r>
          </a:p>
        </p:txBody>
      </p:sp>
      <p:graphicFrame>
        <p:nvGraphicFramePr>
          <p:cNvPr id="6" name="Table 5">
            <a:extLst>
              <a:ext uri="{FF2B5EF4-FFF2-40B4-BE49-F238E27FC236}">
                <a16:creationId xmlns:a16="http://schemas.microsoft.com/office/drawing/2014/main" id="{00CB9957-1331-F960-FEB6-D93E24456474}"/>
              </a:ext>
            </a:extLst>
          </p:cNvPr>
          <p:cNvGraphicFramePr>
            <a:graphicFrameLocks noGrp="1"/>
          </p:cNvGraphicFramePr>
          <p:nvPr>
            <p:extLst>
              <p:ext uri="{D42A27DB-BD31-4B8C-83A1-F6EECF244321}">
                <p14:modId xmlns:p14="http://schemas.microsoft.com/office/powerpoint/2010/main" val="478873666"/>
              </p:ext>
            </p:extLst>
          </p:nvPr>
        </p:nvGraphicFramePr>
        <p:xfrm>
          <a:off x="239751" y="2454293"/>
          <a:ext cx="8714678" cy="2286000"/>
        </p:xfrm>
        <a:graphic>
          <a:graphicData uri="http://schemas.openxmlformats.org/drawingml/2006/table">
            <a:tbl>
              <a:tblPr/>
              <a:tblGrid>
                <a:gridCol w="4357339">
                  <a:extLst>
                    <a:ext uri="{9D8B030D-6E8A-4147-A177-3AD203B41FA5}">
                      <a16:colId xmlns:a16="http://schemas.microsoft.com/office/drawing/2014/main" val="3189024409"/>
                    </a:ext>
                  </a:extLst>
                </a:gridCol>
                <a:gridCol w="4357339">
                  <a:extLst>
                    <a:ext uri="{9D8B030D-6E8A-4147-A177-3AD203B41FA5}">
                      <a16:colId xmlns:a16="http://schemas.microsoft.com/office/drawing/2014/main" val="1673730163"/>
                    </a:ext>
                  </a:extLst>
                </a:gridCol>
              </a:tblGrid>
              <a:tr h="256159">
                <a:tc>
                  <a:txBody>
                    <a:bodyPr/>
                    <a:lstStyle/>
                    <a:p>
                      <a:pPr>
                        <a:buNone/>
                      </a:pPr>
                      <a:r>
                        <a:rPr lang="en-GB"/>
                        <a:t>Participant</a:t>
                      </a:r>
                    </a:p>
                  </a:txBody>
                  <a:tcPr anchor="ctr">
                    <a:lnL>
                      <a:noFill/>
                    </a:lnL>
                    <a:lnR>
                      <a:noFill/>
                    </a:lnR>
                    <a:lnT>
                      <a:noFill/>
                    </a:lnT>
                    <a:lnB>
                      <a:noFill/>
                    </a:lnB>
                    <a:noFill/>
                  </a:tcPr>
                </a:tc>
                <a:tc>
                  <a:txBody>
                    <a:bodyPr/>
                    <a:lstStyle/>
                    <a:p>
                      <a:pPr>
                        <a:buNone/>
                      </a:pPr>
                      <a:r>
                        <a:rPr lang="en-GB"/>
                        <a:t>Role</a:t>
                      </a:r>
                    </a:p>
                  </a:txBody>
                  <a:tcPr anchor="ctr">
                    <a:lnL>
                      <a:noFill/>
                    </a:lnL>
                    <a:lnR>
                      <a:noFill/>
                    </a:lnR>
                    <a:lnT>
                      <a:noFill/>
                    </a:lnT>
                    <a:lnB>
                      <a:noFill/>
                    </a:lnB>
                    <a:noFill/>
                  </a:tcPr>
                </a:tc>
                <a:extLst>
                  <a:ext uri="{0D108BD9-81ED-4DB2-BD59-A6C34878D82A}">
                    <a16:rowId xmlns:a16="http://schemas.microsoft.com/office/drawing/2014/main" val="1879435214"/>
                  </a:ext>
                </a:extLst>
              </a:tr>
              <a:tr h="448278">
                <a:tc>
                  <a:txBody>
                    <a:bodyPr/>
                    <a:lstStyle/>
                    <a:p>
                      <a:pPr>
                        <a:buNone/>
                      </a:pPr>
                      <a:r>
                        <a:rPr lang="en-GB" b="1" dirty="0"/>
                        <a:t>Interrogator (C)</a:t>
                      </a:r>
                      <a:endParaRPr lang="en-GB" dirty="0"/>
                    </a:p>
                  </a:txBody>
                  <a:tcPr anchor="ctr">
                    <a:lnL>
                      <a:noFill/>
                    </a:lnL>
                    <a:lnR>
                      <a:noFill/>
                    </a:lnR>
                    <a:lnT>
                      <a:noFill/>
                    </a:lnT>
                    <a:lnB>
                      <a:noFill/>
                    </a:lnB>
                    <a:noFill/>
                  </a:tcPr>
                </a:tc>
                <a:tc>
                  <a:txBody>
                    <a:bodyPr/>
                    <a:lstStyle/>
                    <a:p>
                      <a:pPr>
                        <a:buNone/>
                      </a:pPr>
                      <a:r>
                        <a:rPr lang="en-GB" dirty="0"/>
                        <a:t>A human judge in a separate room, communicating only via text</a:t>
                      </a:r>
                    </a:p>
                  </a:txBody>
                  <a:tcPr anchor="ctr">
                    <a:lnL>
                      <a:noFill/>
                    </a:lnL>
                    <a:lnR>
                      <a:noFill/>
                    </a:lnR>
                    <a:lnT>
                      <a:noFill/>
                    </a:lnT>
                    <a:lnB>
                      <a:noFill/>
                    </a:lnB>
                    <a:noFill/>
                  </a:tcPr>
                </a:tc>
                <a:extLst>
                  <a:ext uri="{0D108BD9-81ED-4DB2-BD59-A6C34878D82A}">
                    <a16:rowId xmlns:a16="http://schemas.microsoft.com/office/drawing/2014/main" val="4218766597"/>
                  </a:ext>
                </a:extLst>
              </a:tr>
              <a:tr h="448278">
                <a:tc>
                  <a:txBody>
                    <a:bodyPr/>
                    <a:lstStyle/>
                    <a:p>
                      <a:pPr>
                        <a:buNone/>
                      </a:pPr>
                      <a:r>
                        <a:rPr lang="en-GB" b="1"/>
                        <a:t>Human (B)</a:t>
                      </a:r>
                      <a:endParaRPr lang="en-GB"/>
                    </a:p>
                  </a:txBody>
                  <a:tcPr anchor="ctr">
                    <a:lnL>
                      <a:noFill/>
                    </a:lnL>
                    <a:lnR>
                      <a:noFill/>
                    </a:lnR>
                    <a:lnT>
                      <a:noFill/>
                    </a:lnT>
                    <a:lnB>
                      <a:noFill/>
                    </a:lnB>
                    <a:noFill/>
                  </a:tcPr>
                </a:tc>
                <a:tc>
                  <a:txBody>
                    <a:bodyPr/>
                    <a:lstStyle/>
                    <a:p>
                      <a:pPr>
                        <a:buNone/>
                      </a:pPr>
                      <a:r>
                        <a:rPr lang="en-GB" dirty="0"/>
                        <a:t>A human in another room, trying to help the judge identify them correctly</a:t>
                      </a:r>
                    </a:p>
                  </a:txBody>
                  <a:tcPr anchor="ctr">
                    <a:lnL>
                      <a:noFill/>
                    </a:lnL>
                    <a:lnR>
                      <a:noFill/>
                    </a:lnR>
                    <a:lnT>
                      <a:noFill/>
                    </a:lnT>
                    <a:lnB>
                      <a:noFill/>
                    </a:lnB>
                    <a:noFill/>
                  </a:tcPr>
                </a:tc>
                <a:extLst>
                  <a:ext uri="{0D108BD9-81ED-4DB2-BD59-A6C34878D82A}">
                    <a16:rowId xmlns:a16="http://schemas.microsoft.com/office/drawing/2014/main" val="4202861630"/>
                  </a:ext>
                </a:extLst>
              </a:tr>
              <a:tr h="448278">
                <a:tc>
                  <a:txBody>
                    <a:bodyPr/>
                    <a:lstStyle/>
                    <a:p>
                      <a:pPr>
                        <a:buNone/>
                      </a:pPr>
                      <a:r>
                        <a:rPr lang="en-GB" b="1" dirty="0"/>
                        <a:t>Machine (A)</a:t>
                      </a:r>
                      <a:endParaRPr lang="en-GB" dirty="0"/>
                    </a:p>
                  </a:txBody>
                  <a:tcPr anchor="ctr">
                    <a:lnL>
                      <a:noFill/>
                    </a:lnL>
                    <a:lnR>
                      <a:noFill/>
                    </a:lnR>
                    <a:lnT>
                      <a:noFill/>
                    </a:lnT>
                    <a:lnB>
                      <a:noFill/>
                    </a:lnB>
                    <a:noFill/>
                  </a:tcPr>
                </a:tc>
                <a:tc>
                  <a:txBody>
                    <a:bodyPr/>
                    <a:lstStyle/>
                    <a:p>
                      <a:pPr>
                        <a:buNone/>
                      </a:pPr>
                      <a:r>
                        <a:rPr lang="en-GB" dirty="0"/>
                        <a:t>A computer, trying to convince the judge it is the human</a:t>
                      </a:r>
                    </a:p>
                  </a:txBody>
                  <a:tcPr anchor="ctr">
                    <a:lnL>
                      <a:noFill/>
                    </a:lnL>
                    <a:lnR>
                      <a:noFill/>
                    </a:lnR>
                    <a:lnT>
                      <a:noFill/>
                    </a:lnT>
                    <a:lnB>
                      <a:noFill/>
                    </a:lnB>
                    <a:noFill/>
                  </a:tcPr>
                </a:tc>
                <a:extLst>
                  <a:ext uri="{0D108BD9-81ED-4DB2-BD59-A6C34878D82A}">
                    <a16:rowId xmlns:a16="http://schemas.microsoft.com/office/drawing/2014/main" val="3737096175"/>
                  </a:ext>
                </a:extLst>
              </a:tr>
            </a:tbl>
          </a:graphicData>
        </a:graphic>
      </p:graphicFrame>
      <p:sp>
        <p:nvSpPr>
          <p:cNvPr id="7" name="Rectangle 1">
            <a:extLst>
              <a:ext uri="{FF2B5EF4-FFF2-40B4-BE49-F238E27FC236}">
                <a16:creationId xmlns:a16="http://schemas.microsoft.com/office/drawing/2014/main" id="{C91CD8DE-E0BA-103E-8B29-99CEAD52BE4F}"/>
              </a:ext>
            </a:extLst>
          </p:cNvPr>
          <p:cNvSpPr>
            <a:spLocks noChangeArrowheads="1"/>
          </p:cNvSpPr>
          <p:nvPr/>
        </p:nvSpPr>
        <p:spPr bwMode="auto">
          <a:xfrm>
            <a:off x="239751" y="1623296"/>
            <a:ext cx="485594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LK" altLang="en-LK" sz="1000" b="1" i="0" u="none" strike="noStrike" cap="none" normalizeH="0" baseline="0" dirty="0">
                <a:ln>
                  <a:noFill/>
                </a:ln>
                <a:solidFill>
                  <a:schemeClr val="tx1"/>
                </a:solidFill>
                <a:effectLst/>
                <a:latin typeface="Arial" panose="020B0604020202020204" pitchFamily="34" charset="0"/>
              </a:rPr>
              <a:t>The Imitation Game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LK" altLang="en-LK" sz="2000" b="0" i="0" u="none" strike="noStrike" cap="none" normalizeH="0" baseline="0" dirty="0">
                <a:ln>
                  <a:noFill/>
                </a:ln>
                <a:solidFill>
                  <a:schemeClr val="tx1"/>
                </a:solidFill>
                <a:effectLst/>
                <a:latin typeface="Arial" panose="020B0604020202020204" pitchFamily="34" charset="0"/>
              </a:rPr>
              <a:t>Turing's original setup had 3 participants</a:t>
            </a:r>
            <a:r>
              <a:rPr kumimoji="0" lang="en-LK" altLang="en-LK" sz="2000" b="1" i="0" u="none" strike="noStrike" cap="none" normalizeH="0" baseline="0" dirty="0">
                <a:ln>
                  <a:noFill/>
                </a:ln>
                <a:solidFill>
                  <a:schemeClr val="tx1"/>
                </a:solidFill>
                <a:effectLst/>
                <a:latin typeface="Arial" panose="020B0604020202020204" pitchFamily="34" charset="0"/>
              </a:rPr>
              <a:t>:</a:t>
            </a:r>
            <a:endParaRPr kumimoji="0" lang="en-LK" altLang="en-LK"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LK" altLang="en-LK"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7340373-C3FC-B151-66E8-85DE10B054DA}"/>
              </a:ext>
            </a:extLst>
          </p:cNvPr>
          <p:cNvSpPr txBox="1"/>
          <p:nvPr/>
        </p:nvSpPr>
        <p:spPr>
          <a:xfrm>
            <a:off x="239751" y="5234704"/>
            <a:ext cx="10755349" cy="923330"/>
          </a:xfrm>
          <a:prstGeom prst="rect">
            <a:avLst/>
          </a:prstGeom>
          <a:noFill/>
        </p:spPr>
        <p:txBody>
          <a:bodyPr wrap="square">
            <a:spAutoFit/>
          </a:bodyPr>
          <a:lstStyle/>
          <a:p>
            <a:r>
              <a:rPr lang="en-GB" dirty="0"/>
              <a:t>All communication is through a </a:t>
            </a:r>
            <a:r>
              <a:rPr lang="en-GB" b="1" dirty="0"/>
              <a:t>teletype</a:t>
            </a:r>
            <a:r>
              <a:rPr lang="en-GB" dirty="0"/>
              <a:t> (typewritten text) — removing voice, appearance, and all physical cues. The interrogator asks any questions they like. If the interrogator cannot reliably distinguish the machine from the human, the machine is said to have passed.</a:t>
            </a:r>
            <a:endParaRPr lang="en-LK" dirty="0"/>
          </a:p>
        </p:txBody>
      </p:sp>
    </p:spTree>
    <p:extLst>
      <p:ext uri="{BB962C8B-B14F-4D97-AF65-F5344CB8AC3E}">
        <p14:creationId xmlns:p14="http://schemas.microsoft.com/office/powerpoint/2010/main" val="1289553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C44BB2-EBF1-2888-8619-D7F0A9468735}"/>
              </a:ext>
            </a:extLst>
          </p:cNvPr>
          <p:cNvSpPr txBox="1"/>
          <p:nvPr/>
        </p:nvSpPr>
        <p:spPr>
          <a:xfrm>
            <a:off x="440473" y="438450"/>
            <a:ext cx="10342755" cy="2308324"/>
          </a:xfrm>
          <a:prstGeom prst="rect">
            <a:avLst/>
          </a:prstGeom>
          <a:noFill/>
        </p:spPr>
        <p:txBody>
          <a:bodyPr wrap="square">
            <a:spAutoFit/>
          </a:bodyPr>
          <a:lstStyle/>
          <a:p>
            <a:pPr>
              <a:buNone/>
            </a:pPr>
            <a:r>
              <a:rPr lang="en-LK" b="1" dirty="0"/>
              <a:t>🏆 </a:t>
            </a:r>
            <a:r>
              <a:rPr lang="en-GB" b="1" dirty="0"/>
              <a:t>Has Any AI Passed It?</a:t>
            </a:r>
          </a:p>
          <a:p>
            <a:pPr>
              <a:buNone/>
            </a:pPr>
            <a:endParaRPr lang="en-GB" b="1" dirty="0"/>
          </a:p>
          <a:p>
            <a:pPr>
              <a:buNone/>
            </a:pPr>
            <a:r>
              <a:rPr lang="en-GB" b="1" dirty="0"/>
              <a:t>Eugene </a:t>
            </a:r>
            <a:r>
              <a:rPr lang="en-GB" b="1" dirty="0" err="1"/>
              <a:t>Goostman</a:t>
            </a:r>
            <a:r>
              <a:rPr lang="en-GB" b="1" dirty="0"/>
              <a:t> (2014)</a:t>
            </a:r>
            <a:r>
              <a:rPr lang="en-GB" dirty="0"/>
              <a:t> — A chatbot posing as a 13-year-old Ukrainian boy reportedly convinced 33% of judges at a University of Reading competition. Widely disputed — the persona gave the chatbot a huge excuse for odd answers.</a:t>
            </a:r>
          </a:p>
          <a:p>
            <a:pPr>
              <a:buNone/>
            </a:pPr>
            <a:r>
              <a:rPr lang="en-GB" b="1" dirty="0"/>
              <a:t>Large Language Models (2020s)</a:t>
            </a:r>
            <a:r>
              <a:rPr lang="en-GB" dirty="0"/>
              <a:t> — GPT-4, Claude, and similar models routinely fool people in text conversations. In informal settings, the Turing Test is essentially "solved" for short interactions. But researchers argue this reveals the test's inadequacy, not machine consciousness.</a:t>
            </a:r>
          </a:p>
        </p:txBody>
      </p:sp>
      <p:sp>
        <p:nvSpPr>
          <p:cNvPr id="7" name="TextBox 6">
            <a:extLst>
              <a:ext uri="{FF2B5EF4-FFF2-40B4-BE49-F238E27FC236}">
                <a16:creationId xmlns:a16="http://schemas.microsoft.com/office/drawing/2014/main" id="{540B344C-670A-5FD5-6504-CDDF13CB3222}"/>
              </a:ext>
            </a:extLst>
          </p:cNvPr>
          <p:cNvSpPr txBox="1"/>
          <p:nvPr/>
        </p:nvSpPr>
        <p:spPr>
          <a:xfrm>
            <a:off x="440473" y="2944251"/>
            <a:ext cx="6099716" cy="369332"/>
          </a:xfrm>
          <a:prstGeom prst="rect">
            <a:avLst/>
          </a:prstGeom>
          <a:noFill/>
        </p:spPr>
        <p:txBody>
          <a:bodyPr wrap="square">
            <a:spAutoFit/>
          </a:bodyPr>
          <a:lstStyle/>
          <a:p>
            <a:pPr>
              <a:buNone/>
            </a:pPr>
            <a:r>
              <a:rPr lang="en-LK" b="1" dirty="0"/>
              <a:t>🤖 </a:t>
            </a:r>
            <a:r>
              <a:rPr lang="en-GB" b="1" dirty="0"/>
              <a:t>ELIZA — The World's First Chatbot (1966)</a:t>
            </a:r>
          </a:p>
        </p:txBody>
      </p:sp>
      <p:sp>
        <p:nvSpPr>
          <p:cNvPr id="9" name="TextBox 8">
            <a:extLst>
              <a:ext uri="{FF2B5EF4-FFF2-40B4-BE49-F238E27FC236}">
                <a16:creationId xmlns:a16="http://schemas.microsoft.com/office/drawing/2014/main" id="{C83F9EED-C584-692A-0B55-3EC6BBBE48E7}"/>
              </a:ext>
            </a:extLst>
          </p:cNvPr>
          <p:cNvSpPr txBox="1"/>
          <p:nvPr/>
        </p:nvSpPr>
        <p:spPr>
          <a:xfrm>
            <a:off x="440473" y="3511060"/>
            <a:ext cx="9060366" cy="923330"/>
          </a:xfrm>
          <a:prstGeom prst="rect">
            <a:avLst/>
          </a:prstGeom>
          <a:noFill/>
        </p:spPr>
        <p:txBody>
          <a:bodyPr wrap="square">
            <a:spAutoFit/>
          </a:bodyPr>
          <a:lstStyle/>
          <a:p>
            <a:pPr>
              <a:buNone/>
            </a:pPr>
            <a:r>
              <a:rPr lang="en-GB" dirty="0"/>
              <a:t>ELIZA is extraordinarily simple by modern standards. It contains </a:t>
            </a:r>
            <a:r>
              <a:rPr lang="en-GB" b="1" dirty="0"/>
              <a:t>no knowledge, no understanding, no model of the world</a:t>
            </a:r>
            <a:r>
              <a:rPr lang="en-GB" dirty="0"/>
              <a:t> — only a pattern-matching engine operating on text.</a:t>
            </a:r>
          </a:p>
        </p:txBody>
      </p:sp>
      <p:sp>
        <p:nvSpPr>
          <p:cNvPr id="11" name="TextBox 10">
            <a:extLst>
              <a:ext uri="{FF2B5EF4-FFF2-40B4-BE49-F238E27FC236}">
                <a16:creationId xmlns:a16="http://schemas.microsoft.com/office/drawing/2014/main" id="{5546B3BA-5BCB-5FBE-F61F-4F8BC4500151}"/>
              </a:ext>
            </a:extLst>
          </p:cNvPr>
          <p:cNvSpPr txBox="1"/>
          <p:nvPr/>
        </p:nvSpPr>
        <p:spPr>
          <a:xfrm>
            <a:off x="440473" y="4631867"/>
            <a:ext cx="6099716" cy="1754326"/>
          </a:xfrm>
          <a:prstGeom prst="rect">
            <a:avLst/>
          </a:prstGeom>
          <a:noFill/>
        </p:spPr>
        <p:txBody>
          <a:bodyPr wrap="square">
            <a:spAutoFit/>
          </a:bodyPr>
          <a:lstStyle/>
          <a:p>
            <a:r>
              <a:rPr lang="en-LK" dirty="0"/>
              <a:t>Pattern:   "I am (.*)"</a:t>
            </a:r>
          </a:p>
          <a:p>
            <a:r>
              <a:rPr lang="en-LK" dirty="0"/>
              <a:t>Response:  "Why do you say you are [captured group]?"</a:t>
            </a:r>
          </a:p>
          <a:p>
            <a:endParaRPr lang="en-LK" dirty="0"/>
          </a:p>
          <a:p>
            <a:r>
              <a:rPr lang="en-LK" dirty="0"/>
              <a:t>Input:     "I am feeling hopeless"</a:t>
            </a:r>
          </a:p>
          <a:p>
            <a:r>
              <a:rPr lang="en-LK" dirty="0"/>
              <a:t>Captured:  "feeling hopeless"</a:t>
            </a:r>
          </a:p>
          <a:p>
            <a:r>
              <a:rPr lang="en-LK" dirty="0"/>
              <a:t>Output:    "Why do you say you are feeling hopeless?"</a:t>
            </a:r>
          </a:p>
        </p:txBody>
      </p:sp>
      <p:sp>
        <p:nvSpPr>
          <p:cNvPr id="12" name="TextBox 11">
            <a:extLst>
              <a:ext uri="{FF2B5EF4-FFF2-40B4-BE49-F238E27FC236}">
                <a16:creationId xmlns:a16="http://schemas.microsoft.com/office/drawing/2014/main" id="{AA02356F-582C-2862-89DA-898004E940CD}"/>
              </a:ext>
            </a:extLst>
          </p:cNvPr>
          <p:cNvSpPr txBox="1"/>
          <p:nvPr/>
        </p:nvSpPr>
        <p:spPr>
          <a:xfrm>
            <a:off x="6975088" y="4354868"/>
            <a:ext cx="6099716" cy="2308324"/>
          </a:xfrm>
          <a:prstGeom prst="rect">
            <a:avLst/>
          </a:prstGeom>
          <a:noFill/>
        </p:spPr>
        <p:txBody>
          <a:bodyPr wrap="square">
            <a:spAutoFit/>
          </a:bodyPr>
          <a:lstStyle/>
          <a:p>
            <a:r>
              <a:rPr lang="en-LK" dirty="0"/>
              <a:t>YOU: I feel sad</a:t>
            </a:r>
          </a:p>
          <a:p>
            <a:r>
              <a:rPr lang="en-LK" dirty="0"/>
              <a:t>ELIZA: Why do you feel sad?</a:t>
            </a:r>
          </a:p>
          <a:p>
            <a:endParaRPr lang="en-LK" dirty="0"/>
          </a:p>
          <a:p>
            <a:r>
              <a:rPr lang="en-LK" dirty="0"/>
              <a:t>YOU: My brother is annoying</a:t>
            </a:r>
          </a:p>
          <a:p>
            <a:r>
              <a:rPr lang="en-LK" dirty="0"/>
              <a:t>ELIZA: Tell me more about your brother.</a:t>
            </a:r>
          </a:p>
          <a:p>
            <a:endParaRPr lang="en-LK" dirty="0"/>
          </a:p>
          <a:p>
            <a:r>
              <a:rPr lang="en-LK" dirty="0"/>
              <a:t>YOU: I am tired</a:t>
            </a:r>
          </a:p>
          <a:p>
            <a:r>
              <a:rPr lang="en-LK" dirty="0"/>
              <a:t>ELIZA: How long have you been tired?</a:t>
            </a:r>
          </a:p>
        </p:txBody>
      </p:sp>
    </p:spTree>
    <p:extLst>
      <p:ext uri="{BB962C8B-B14F-4D97-AF65-F5344CB8AC3E}">
        <p14:creationId xmlns:p14="http://schemas.microsoft.com/office/powerpoint/2010/main" val="749691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A8F869-E4AB-D6D9-273B-D7CF0E568A5E}"/>
              </a:ext>
            </a:extLst>
          </p:cNvPr>
          <p:cNvSpPr txBox="1"/>
          <p:nvPr/>
        </p:nvSpPr>
        <p:spPr>
          <a:xfrm>
            <a:off x="496229" y="361513"/>
            <a:ext cx="10487722" cy="2308324"/>
          </a:xfrm>
          <a:prstGeom prst="rect">
            <a:avLst/>
          </a:prstGeom>
          <a:noFill/>
        </p:spPr>
        <p:txBody>
          <a:bodyPr wrap="square">
            <a:spAutoFit/>
          </a:bodyPr>
          <a:lstStyle/>
          <a:p>
            <a:pPr>
              <a:buNone/>
            </a:pPr>
            <a:r>
              <a:rPr lang="en-LK" b="1" dirty="0"/>
              <a:t>🏫 </a:t>
            </a:r>
            <a:r>
              <a:rPr lang="en-GB" b="1" dirty="0"/>
              <a:t>The 1956 Dartmouth Conference</a:t>
            </a:r>
          </a:p>
          <a:p>
            <a:pPr>
              <a:buNone/>
            </a:pPr>
            <a:endParaRPr lang="en-GB" b="1" dirty="0"/>
          </a:p>
          <a:p>
            <a:pPr>
              <a:buNone/>
            </a:pPr>
            <a:r>
              <a:rPr lang="en-GB" dirty="0"/>
              <a:t>Summer of 1956 — roughly 6–8 weeks — at </a:t>
            </a:r>
            <a:r>
              <a:rPr lang="en-GB" b="1" dirty="0"/>
              <a:t>Dartmouth College</a:t>
            </a:r>
            <a:r>
              <a:rPr lang="en-GB" dirty="0"/>
              <a:t>, Hanover, New Hampshire. Organised by four researchers who submitted a proposal to the Rockefeller Foundation requesting funding for a two-month study. The proposal contained the first ever formal use of the phrase </a:t>
            </a:r>
            <a:r>
              <a:rPr lang="en-GB" b="1" dirty="0"/>
              <a:t>"artificial intelligence"</a:t>
            </a:r>
            <a:r>
              <a:rPr lang="en-GB" dirty="0"/>
              <a:t> </a:t>
            </a:r>
          </a:p>
          <a:p>
            <a:pPr>
              <a:buNone/>
            </a:pPr>
            <a:endParaRPr lang="en-GB" b="1" dirty="0"/>
          </a:p>
          <a:p>
            <a:pPr>
              <a:buNone/>
            </a:pPr>
            <a:r>
              <a:rPr lang="en-GB" dirty="0"/>
              <a:t>Before it, scattered researchers worked in isolation. After it, artificial intelligence existed as a named, funded, organised field.</a:t>
            </a:r>
            <a:endParaRPr lang="en-GB" b="1" dirty="0"/>
          </a:p>
        </p:txBody>
      </p:sp>
      <p:graphicFrame>
        <p:nvGraphicFramePr>
          <p:cNvPr id="6" name="Table 5">
            <a:extLst>
              <a:ext uri="{FF2B5EF4-FFF2-40B4-BE49-F238E27FC236}">
                <a16:creationId xmlns:a16="http://schemas.microsoft.com/office/drawing/2014/main" id="{052D43F4-30D8-84A5-A68A-BAD297F11AD0}"/>
              </a:ext>
            </a:extLst>
          </p:cNvPr>
          <p:cNvGraphicFramePr>
            <a:graphicFrameLocks noGrp="1"/>
          </p:cNvGraphicFramePr>
          <p:nvPr>
            <p:extLst>
              <p:ext uri="{D42A27DB-BD31-4B8C-83A1-F6EECF244321}">
                <p14:modId xmlns:p14="http://schemas.microsoft.com/office/powerpoint/2010/main" val="92799551"/>
              </p:ext>
            </p:extLst>
          </p:nvPr>
        </p:nvGraphicFramePr>
        <p:xfrm>
          <a:off x="496229" y="3202866"/>
          <a:ext cx="10515600" cy="2377440"/>
        </p:xfrm>
        <a:graphic>
          <a:graphicData uri="http://schemas.openxmlformats.org/drawingml/2006/table">
            <a:tbl>
              <a:tblPr/>
              <a:tblGrid>
                <a:gridCol w="3505200">
                  <a:extLst>
                    <a:ext uri="{9D8B030D-6E8A-4147-A177-3AD203B41FA5}">
                      <a16:colId xmlns:a16="http://schemas.microsoft.com/office/drawing/2014/main" val="2314337152"/>
                    </a:ext>
                  </a:extLst>
                </a:gridCol>
                <a:gridCol w="3505200">
                  <a:extLst>
                    <a:ext uri="{9D8B030D-6E8A-4147-A177-3AD203B41FA5}">
                      <a16:colId xmlns:a16="http://schemas.microsoft.com/office/drawing/2014/main" val="567029462"/>
                    </a:ext>
                  </a:extLst>
                </a:gridCol>
                <a:gridCol w="3505200">
                  <a:extLst>
                    <a:ext uri="{9D8B030D-6E8A-4147-A177-3AD203B41FA5}">
                      <a16:colId xmlns:a16="http://schemas.microsoft.com/office/drawing/2014/main" val="2358594342"/>
                    </a:ext>
                  </a:extLst>
                </a:gridCol>
              </a:tblGrid>
              <a:tr h="0">
                <a:tc>
                  <a:txBody>
                    <a:bodyPr/>
                    <a:lstStyle/>
                    <a:p>
                      <a:pPr>
                        <a:buNone/>
                      </a:pPr>
                      <a:r>
                        <a:rPr lang="en-GB" dirty="0"/>
                        <a:t>Person</a:t>
                      </a:r>
                    </a:p>
                  </a:txBody>
                  <a:tcPr anchor="ctr">
                    <a:lnL>
                      <a:noFill/>
                    </a:lnL>
                    <a:lnR>
                      <a:noFill/>
                    </a:lnR>
                    <a:lnT>
                      <a:noFill/>
                    </a:lnT>
                    <a:lnB>
                      <a:noFill/>
                    </a:lnB>
                    <a:noFill/>
                  </a:tcPr>
                </a:tc>
                <a:tc>
                  <a:txBody>
                    <a:bodyPr/>
                    <a:lstStyle/>
                    <a:p>
                      <a:pPr>
                        <a:buNone/>
                      </a:pPr>
                      <a:r>
                        <a:rPr lang="en-GB"/>
                        <a:t>Affiliation</a:t>
                      </a:r>
                    </a:p>
                  </a:txBody>
                  <a:tcPr anchor="ctr">
                    <a:lnL>
                      <a:noFill/>
                    </a:lnL>
                    <a:lnR>
                      <a:noFill/>
                    </a:lnR>
                    <a:lnT>
                      <a:noFill/>
                    </a:lnT>
                    <a:lnB>
                      <a:noFill/>
                    </a:lnB>
                    <a:noFill/>
                  </a:tcPr>
                </a:tc>
                <a:tc>
                  <a:txBody>
                    <a:bodyPr/>
                    <a:lstStyle/>
                    <a:p>
                      <a:pPr>
                        <a:buNone/>
                      </a:pPr>
                      <a:r>
                        <a:rPr lang="en-GB"/>
                        <a:t>Legacy</a:t>
                      </a:r>
                    </a:p>
                  </a:txBody>
                  <a:tcPr anchor="ctr">
                    <a:lnL>
                      <a:noFill/>
                    </a:lnL>
                    <a:lnR>
                      <a:noFill/>
                    </a:lnR>
                    <a:lnT>
                      <a:noFill/>
                    </a:lnT>
                    <a:lnB>
                      <a:noFill/>
                    </a:lnB>
                    <a:noFill/>
                  </a:tcPr>
                </a:tc>
                <a:extLst>
                  <a:ext uri="{0D108BD9-81ED-4DB2-BD59-A6C34878D82A}">
                    <a16:rowId xmlns:a16="http://schemas.microsoft.com/office/drawing/2014/main" val="2521288951"/>
                  </a:ext>
                </a:extLst>
              </a:tr>
              <a:tr h="0">
                <a:tc>
                  <a:txBody>
                    <a:bodyPr/>
                    <a:lstStyle/>
                    <a:p>
                      <a:pPr>
                        <a:buNone/>
                      </a:pPr>
                      <a:r>
                        <a:rPr lang="en-GB" b="1"/>
                        <a:t>John McCarthy</a:t>
                      </a:r>
                      <a:endParaRPr lang="en-GB"/>
                    </a:p>
                  </a:txBody>
                  <a:tcPr anchor="ctr">
                    <a:lnL>
                      <a:noFill/>
                    </a:lnL>
                    <a:lnR>
                      <a:noFill/>
                    </a:lnR>
                    <a:lnT>
                      <a:noFill/>
                    </a:lnT>
                    <a:lnB>
                      <a:noFill/>
                    </a:lnB>
                    <a:noFill/>
                  </a:tcPr>
                </a:tc>
                <a:tc>
                  <a:txBody>
                    <a:bodyPr/>
                    <a:lstStyle/>
                    <a:p>
                      <a:pPr>
                        <a:buNone/>
                      </a:pPr>
                      <a:r>
                        <a:rPr lang="en-GB" dirty="0"/>
                        <a:t>Dartmouth College</a:t>
                      </a:r>
                    </a:p>
                  </a:txBody>
                  <a:tcPr anchor="ctr">
                    <a:lnL>
                      <a:noFill/>
                    </a:lnL>
                    <a:lnR>
                      <a:noFill/>
                    </a:lnR>
                    <a:lnT>
                      <a:noFill/>
                    </a:lnT>
                    <a:lnB>
                      <a:noFill/>
                    </a:lnB>
                    <a:noFill/>
                  </a:tcPr>
                </a:tc>
                <a:tc>
                  <a:txBody>
                    <a:bodyPr/>
                    <a:lstStyle/>
                    <a:p>
                      <a:pPr>
                        <a:buNone/>
                      </a:pPr>
                      <a:r>
                        <a:rPr lang="en-GB"/>
                        <a:t>Coined "AI", invented LISP, Turing Award 1971</a:t>
                      </a:r>
                    </a:p>
                  </a:txBody>
                  <a:tcPr anchor="ctr">
                    <a:lnL>
                      <a:noFill/>
                    </a:lnL>
                    <a:lnR>
                      <a:noFill/>
                    </a:lnR>
                    <a:lnT>
                      <a:noFill/>
                    </a:lnT>
                    <a:lnB>
                      <a:noFill/>
                    </a:lnB>
                    <a:noFill/>
                  </a:tcPr>
                </a:tc>
                <a:extLst>
                  <a:ext uri="{0D108BD9-81ED-4DB2-BD59-A6C34878D82A}">
                    <a16:rowId xmlns:a16="http://schemas.microsoft.com/office/drawing/2014/main" val="3411529431"/>
                  </a:ext>
                </a:extLst>
              </a:tr>
              <a:tr h="0">
                <a:tc>
                  <a:txBody>
                    <a:bodyPr/>
                    <a:lstStyle/>
                    <a:p>
                      <a:pPr>
                        <a:buNone/>
                      </a:pPr>
                      <a:r>
                        <a:rPr lang="en-GB" b="1"/>
                        <a:t>Marvin Minsky</a:t>
                      </a:r>
                      <a:endParaRPr lang="en-GB"/>
                    </a:p>
                  </a:txBody>
                  <a:tcPr anchor="ctr">
                    <a:lnL>
                      <a:noFill/>
                    </a:lnL>
                    <a:lnR>
                      <a:noFill/>
                    </a:lnR>
                    <a:lnT>
                      <a:noFill/>
                    </a:lnT>
                    <a:lnB>
                      <a:noFill/>
                    </a:lnB>
                    <a:noFill/>
                  </a:tcPr>
                </a:tc>
                <a:tc>
                  <a:txBody>
                    <a:bodyPr/>
                    <a:lstStyle/>
                    <a:p>
                      <a:pPr>
                        <a:buNone/>
                      </a:pPr>
                      <a:r>
                        <a:rPr lang="en-GB"/>
                        <a:t>Harvard</a:t>
                      </a:r>
                    </a:p>
                  </a:txBody>
                  <a:tcPr anchor="ctr">
                    <a:lnL>
                      <a:noFill/>
                    </a:lnL>
                    <a:lnR>
                      <a:noFill/>
                    </a:lnR>
                    <a:lnT>
                      <a:noFill/>
                    </a:lnT>
                    <a:lnB>
                      <a:noFill/>
                    </a:lnB>
                    <a:noFill/>
                  </a:tcPr>
                </a:tc>
                <a:tc>
                  <a:txBody>
                    <a:bodyPr/>
                    <a:lstStyle/>
                    <a:p>
                      <a:pPr>
                        <a:buNone/>
                      </a:pPr>
                      <a:r>
                        <a:rPr lang="en-GB"/>
                        <a:t>MIT AI Lab co-founder, Turing Award 1969</a:t>
                      </a:r>
                    </a:p>
                  </a:txBody>
                  <a:tcPr anchor="ctr">
                    <a:lnL>
                      <a:noFill/>
                    </a:lnL>
                    <a:lnR>
                      <a:noFill/>
                    </a:lnR>
                    <a:lnT>
                      <a:noFill/>
                    </a:lnT>
                    <a:lnB>
                      <a:noFill/>
                    </a:lnB>
                    <a:noFill/>
                  </a:tcPr>
                </a:tc>
                <a:extLst>
                  <a:ext uri="{0D108BD9-81ED-4DB2-BD59-A6C34878D82A}">
                    <a16:rowId xmlns:a16="http://schemas.microsoft.com/office/drawing/2014/main" val="3596279732"/>
                  </a:ext>
                </a:extLst>
              </a:tr>
              <a:tr h="0">
                <a:tc>
                  <a:txBody>
                    <a:bodyPr/>
                    <a:lstStyle/>
                    <a:p>
                      <a:pPr>
                        <a:buNone/>
                      </a:pPr>
                      <a:r>
                        <a:rPr lang="en-GB" b="1"/>
                        <a:t>Claude Shannon</a:t>
                      </a:r>
                      <a:endParaRPr lang="en-GB"/>
                    </a:p>
                  </a:txBody>
                  <a:tcPr anchor="ctr">
                    <a:lnL>
                      <a:noFill/>
                    </a:lnL>
                    <a:lnR>
                      <a:noFill/>
                    </a:lnR>
                    <a:lnT>
                      <a:noFill/>
                    </a:lnT>
                    <a:lnB>
                      <a:noFill/>
                    </a:lnB>
                    <a:noFill/>
                  </a:tcPr>
                </a:tc>
                <a:tc>
                  <a:txBody>
                    <a:bodyPr/>
                    <a:lstStyle/>
                    <a:p>
                      <a:pPr>
                        <a:buNone/>
                      </a:pPr>
                      <a:r>
                        <a:rPr lang="en-GB"/>
                        <a:t>Bell Labs</a:t>
                      </a:r>
                    </a:p>
                  </a:txBody>
                  <a:tcPr anchor="ctr">
                    <a:lnL>
                      <a:noFill/>
                    </a:lnL>
                    <a:lnR>
                      <a:noFill/>
                    </a:lnR>
                    <a:lnT>
                      <a:noFill/>
                    </a:lnT>
                    <a:lnB>
                      <a:noFill/>
                    </a:lnB>
                    <a:noFill/>
                  </a:tcPr>
                </a:tc>
                <a:tc>
                  <a:txBody>
                    <a:bodyPr/>
                    <a:lstStyle/>
                    <a:p>
                      <a:pPr>
                        <a:buNone/>
                      </a:pPr>
                      <a:r>
                        <a:rPr lang="en-GB"/>
                        <a:t>Father of information theory</a:t>
                      </a:r>
                    </a:p>
                  </a:txBody>
                  <a:tcPr anchor="ctr">
                    <a:lnL>
                      <a:noFill/>
                    </a:lnL>
                    <a:lnR>
                      <a:noFill/>
                    </a:lnR>
                    <a:lnT>
                      <a:noFill/>
                    </a:lnT>
                    <a:lnB>
                      <a:noFill/>
                    </a:lnB>
                    <a:noFill/>
                  </a:tcPr>
                </a:tc>
                <a:extLst>
                  <a:ext uri="{0D108BD9-81ED-4DB2-BD59-A6C34878D82A}">
                    <a16:rowId xmlns:a16="http://schemas.microsoft.com/office/drawing/2014/main" val="370427277"/>
                  </a:ext>
                </a:extLst>
              </a:tr>
              <a:tr h="0">
                <a:tc>
                  <a:txBody>
                    <a:bodyPr/>
                    <a:lstStyle/>
                    <a:p>
                      <a:pPr>
                        <a:buNone/>
                      </a:pPr>
                      <a:r>
                        <a:rPr lang="en-GB" b="1"/>
                        <a:t>Nathaniel Rochester</a:t>
                      </a:r>
                      <a:endParaRPr lang="en-GB"/>
                    </a:p>
                  </a:txBody>
                  <a:tcPr anchor="ctr">
                    <a:lnL>
                      <a:noFill/>
                    </a:lnL>
                    <a:lnR>
                      <a:noFill/>
                    </a:lnR>
                    <a:lnT>
                      <a:noFill/>
                    </a:lnT>
                    <a:lnB>
                      <a:noFill/>
                    </a:lnB>
                    <a:noFill/>
                  </a:tcPr>
                </a:tc>
                <a:tc>
                  <a:txBody>
                    <a:bodyPr/>
                    <a:lstStyle/>
                    <a:p>
                      <a:pPr>
                        <a:buNone/>
                      </a:pPr>
                      <a:r>
                        <a:rPr lang="en-GB"/>
                        <a:t>IBM</a:t>
                      </a:r>
                    </a:p>
                  </a:txBody>
                  <a:tcPr anchor="ctr">
                    <a:lnL>
                      <a:noFill/>
                    </a:lnL>
                    <a:lnR>
                      <a:noFill/>
                    </a:lnR>
                    <a:lnT>
                      <a:noFill/>
                    </a:lnT>
                    <a:lnB>
                      <a:noFill/>
                    </a:lnB>
                    <a:noFill/>
                  </a:tcPr>
                </a:tc>
                <a:tc>
                  <a:txBody>
                    <a:bodyPr/>
                    <a:lstStyle/>
                    <a:p>
                      <a:pPr>
                        <a:buNone/>
                      </a:pPr>
                      <a:r>
                        <a:rPr lang="en-GB" dirty="0"/>
                        <a:t>Designed the IBM 701 computer</a:t>
                      </a:r>
                    </a:p>
                  </a:txBody>
                  <a:tcPr anchor="ctr">
                    <a:lnL>
                      <a:noFill/>
                    </a:lnL>
                    <a:lnR>
                      <a:noFill/>
                    </a:lnR>
                    <a:lnT>
                      <a:noFill/>
                    </a:lnT>
                    <a:lnB>
                      <a:noFill/>
                    </a:lnB>
                    <a:noFill/>
                  </a:tcPr>
                </a:tc>
                <a:extLst>
                  <a:ext uri="{0D108BD9-81ED-4DB2-BD59-A6C34878D82A}">
                    <a16:rowId xmlns:a16="http://schemas.microsoft.com/office/drawing/2014/main" val="1696383691"/>
                  </a:ext>
                </a:extLst>
              </a:tr>
            </a:tbl>
          </a:graphicData>
        </a:graphic>
      </p:graphicFrame>
    </p:spTree>
    <p:extLst>
      <p:ext uri="{BB962C8B-B14F-4D97-AF65-F5344CB8AC3E}">
        <p14:creationId xmlns:p14="http://schemas.microsoft.com/office/powerpoint/2010/main" val="3405983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482AB5-73A7-378D-EFFE-9393D1337838}"/>
              </a:ext>
            </a:extLst>
          </p:cNvPr>
          <p:cNvSpPr txBox="1"/>
          <p:nvPr/>
        </p:nvSpPr>
        <p:spPr>
          <a:xfrm>
            <a:off x="585439" y="99690"/>
            <a:ext cx="6099716" cy="369332"/>
          </a:xfrm>
          <a:prstGeom prst="rect">
            <a:avLst/>
          </a:prstGeom>
          <a:noFill/>
        </p:spPr>
        <p:txBody>
          <a:bodyPr wrap="square">
            <a:spAutoFit/>
          </a:bodyPr>
          <a:lstStyle/>
          <a:p>
            <a:pPr>
              <a:buNone/>
            </a:pPr>
            <a:r>
              <a:rPr lang="en-GB" b="1" dirty="0"/>
              <a:t> The Perceptron (1957–1958)</a:t>
            </a:r>
          </a:p>
        </p:txBody>
      </p:sp>
      <p:sp>
        <p:nvSpPr>
          <p:cNvPr id="7" name="TextBox 6">
            <a:extLst>
              <a:ext uri="{FF2B5EF4-FFF2-40B4-BE49-F238E27FC236}">
                <a16:creationId xmlns:a16="http://schemas.microsoft.com/office/drawing/2014/main" id="{7E4AF7AD-C11B-CE51-B251-BDBE69A3DBCC}"/>
              </a:ext>
            </a:extLst>
          </p:cNvPr>
          <p:cNvSpPr txBox="1"/>
          <p:nvPr/>
        </p:nvSpPr>
        <p:spPr>
          <a:xfrm>
            <a:off x="585439" y="578072"/>
            <a:ext cx="9305693" cy="1200329"/>
          </a:xfrm>
          <a:prstGeom prst="rect">
            <a:avLst/>
          </a:prstGeom>
          <a:noFill/>
        </p:spPr>
        <p:txBody>
          <a:bodyPr wrap="square">
            <a:spAutoFit/>
          </a:bodyPr>
          <a:lstStyle/>
          <a:p>
            <a:r>
              <a:rPr lang="en-GB" b="1" dirty="0"/>
              <a:t>The Perceptron was the first machine that could genuinely learn from experience</a:t>
            </a:r>
            <a:r>
              <a:rPr lang="en-GB" dirty="0"/>
              <a:t> — not just execute a program, but adjust its own internal parameters based on examples. This was a conceptual earthquake. It meant intelligence wasn't something you had to hand-code; it could </a:t>
            </a:r>
            <a:r>
              <a:rPr lang="en-GB" i="1" dirty="0"/>
              <a:t>emerge</a:t>
            </a:r>
            <a:r>
              <a:rPr lang="en-GB" dirty="0"/>
              <a:t> from training.</a:t>
            </a:r>
            <a:endParaRPr lang="en-LK" dirty="0"/>
          </a:p>
        </p:txBody>
      </p:sp>
      <p:sp>
        <p:nvSpPr>
          <p:cNvPr id="9" name="TextBox 8">
            <a:extLst>
              <a:ext uri="{FF2B5EF4-FFF2-40B4-BE49-F238E27FC236}">
                <a16:creationId xmlns:a16="http://schemas.microsoft.com/office/drawing/2014/main" id="{47856994-6C8D-3EE0-9150-0F0DBDC1CF31}"/>
              </a:ext>
            </a:extLst>
          </p:cNvPr>
          <p:cNvSpPr txBox="1"/>
          <p:nvPr/>
        </p:nvSpPr>
        <p:spPr>
          <a:xfrm>
            <a:off x="585439" y="1887451"/>
            <a:ext cx="9740590" cy="2308324"/>
          </a:xfrm>
          <a:prstGeom prst="rect">
            <a:avLst/>
          </a:prstGeom>
          <a:noFill/>
        </p:spPr>
        <p:txBody>
          <a:bodyPr wrap="square">
            <a:spAutoFit/>
          </a:bodyPr>
          <a:lstStyle/>
          <a:p>
            <a:pPr>
              <a:buNone/>
            </a:pPr>
            <a:r>
              <a:rPr lang="en-GB" b="1" dirty="0"/>
              <a:t>Frank Rosenblatt</a:t>
            </a:r>
          </a:p>
          <a:p>
            <a:pPr>
              <a:buNone/>
            </a:pPr>
            <a:r>
              <a:rPr lang="en-GB" dirty="0"/>
              <a:t>Frank Rosenblatt was a Cornell University psychologist and computer scientist. He was fascinated not by formal logic or theorem-proving — the dominant AI paradigm post-Dartmouth — but by the brain itself. His approach was explicitly </a:t>
            </a:r>
            <a:r>
              <a:rPr lang="en-GB" b="1" dirty="0"/>
              <a:t>biological</a:t>
            </a:r>
            <a:r>
              <a:rPr lang="en-GB" dirty="0"/>
              <a:t>: build something that </a:t>
            </a:r>
            <a:r>
              <a:rPr lang="en-GB" i="1" dirty="0"/>
              <a:t>learns the way neurons learn</a:t>
            </a:r>
            <a:r>
              <a:rPr lang="en-GB" dirty="0"/>
              <a:t>.</a:t>
            </a:r>
          </a:p>
          <a:p>
            <a:pPr>
              <a:buNone/>
            </a:pPr>
            <a:r>
              <a:rPr lang="en-GB" dirty="0"/>
              <a:t>In 1957–1958 he designed and implemented the Perceptron, first as a software simulation and then as </a:t>
            </a:r>
            <a:r>
              <a:rPr lang="en-GB" b="1" dirty="0"/>
              <a:t>Mark I</a:t>
            </a:r>
            <a:r>
              <a:rPr lang="en-GB" dirty="0"/>
              <a:t> — a custom-built hardware machine at Cornell Aeronautical Laboratory, funded by the US Navy. It had 400 photocells as inputs and could learn to recognize visual patterns.</a:t>
            </a:r>
          </a:p>
        </p:txBody>
      </p:sp>
      <p:pic>
        <p:nvPicPr>
          <p:cNvPr id="10" name="Picture 9" descr="A collage of a diagram of a computer network&#10;&#10;AI-generated content may be incorrect.">
            <a:extLst>
              <a:ext uri="{FF2B5EF4-FFF2-40B4-BE49-F238E27FC236}">
                <a16:creationId xmlns:a16="http://schemas.microsoft.com/office/drawing/2014/main" id="{3CA29610-D4B3-C3CB-2A44-08C284B79E2E}"/>
              </a:ext>
            </a:extLst>
          </p:cNvPr>
          <p:cNvPicPr>
            <a:picLocks noChangeAspect="1"/>
          </p:cNvPicPr>
          <p:nvPr/>
        </p:nvPicPr>
        <p:blipFill>
          <a:blip r:embed="rId2"/>
          <a:stretch>
            <a:fillRect/>
          </a:stretch>
        </p:blipFill>
        <p:spPr>
          <a:xfrm>
            <a:off x="585439" y="4302460"/>
            <a:ext cx="5066680" cy="2455850"/>
          </a:xfrm>
          <a:prstGeom prst="rect">
            <a:avLst/>
          </a:prstGeom>
        </p:spPr>
      </p:pic>
    </p:spTree>
    <p:extLst>
      <p:ext uri="{BB962C8B-B14F-4D97-AF65-F5344CB8AC3E}">
        <p14:creationId xmlns:p14="http://schemas.microsoft.com/office/powerpoint/2010/main" val="878487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CCD5E4D-9DC9-FF51-25D2-523E298CCC6A}"/>
              </a:ext>
            </a:extLst>
          </p:cNvPr>
          <p:cNvPicPr>
            <a:picLocks noChangeAspect="1"/>
          </p:cNvPicPr>
          <p:nvPr/>
        </p:nvPicPr>
        <p:blipFill>
          <a:blip r:embed="rId2"/>
          <a:srcRect l="3297" t="19398" r="32162" b="20883"/>
          <a:stretch>
            <a:fillRect/>
          </a:stretch>
        </p:blipFill>
        <p:spPr>
          <a:xfrm>
            <a:off x="1432192" y="793782"/>
            <a:ext cx="8758411" cy="5270435"/>
          </a:xfrm>
          <a:prstGeom prst="rect">
            <a:avLst/>
          </a:prstGeom>
        </p:spPr>
      </p:pic>
    </p:spTree>
    <p:extLst>
      <p:ext uri="{BB962C8B-B14F-4D97-AF65-F5344CB8AC3E}">
        <p14:creationId xmlns:p14="http://schemas.microsoft.com/office/powerpoint/2010/main" val="1928160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385167-D3A5-921E-2DC1-73CBC6B4C297}"/>
              </a:ext>
            </a:extLst>
          </p:cNvPr>
          <p:cNvSpPr txBox="1"/>
          <p:nvPr/>
        </p:nvSpPr>
        <p:spPr>
          <a:xfrm>
            <a:off x="853067" y="211203"/>
            <a:ext cx="6099716" cy="400110"/>
          </a:xfrm>
          <a:prstGeom prst="rect">
            <a:avLst/>
          </a:prstGeom>
          <a:noFill/>
        </p:spPr>
        <p:txBody>
          <a:bodyPr wrap="square">
            <a:spAutoFit/>
          </a:bodyPr>
          <a:lstStyle/>
          <a:p>
            <a:pPr>
              <a:buNone/>
            </a:pPr>
            <a:r>
              <a:rPr lang="en-LK" b="1" dirty="0"/>
              <a:t> </a:t>
            </a:r>
            <a:r>
              <a:rPr lang="en-GB" sz="2000" b="1" dirty="0"/>
              <a:t>Backpropagation</a:t>
            </a:r>
          </a:p>
        </p:txBody>
      </p:sp>
      <p:sp>
        <p:nvSpPr>
          <p:cNvPr id="7" name="TextBox 6">
            <a:extLst>
              <a:ext uri="{FF2B5EF4-FFF2-40B4-BE49-F238E27FC236}">
                <a16:creationId xmlns:a16="http://schemas.microsoft.com/office/drawing/2014/main" id="{72490E0C-D702-AA73-4F5E-53DF71AE4F8B}"/>
              </a:ext>
            </a:extLst>
          </p:cNvPr>
          <p:cNvSpPr txBox="1"/>
          <p:nvPr/>
        </p:nvSpPr>
        <p:spPr>
          <a:xfrm>
            <a:off x="853067" y="778793"/>
            <a:ext cx="11246006" cy="923330"/>
          </a:xfrm>
          <a:prstGeom prst="rect">
            <a:avLst/>
          </a:prstGeom>
          <a:noFill/>
        </p:spPr>
        <p:txBody>
          <a:bodyPr wrap="square">
            <a:spAutoFit/>
          </a:bodyPr>
          <a:lstStyle/>
          <a:p>
            <a:pPr>
              <a:buNone/>
            </a:pPr>
            <a:r>
              <a:rPr lang="en-GB" b="1" dirty="0"/>
              <a:t>Backpropagation is the algorithm that made deep learning possible.</a:t>
            </a:r>
            <a:r>
              <a:rPr lang="en-GB" dirty="0"/>
              <a:t> It solves the fundamental problem of multi-layer networks: given that the output is wrong, </a:t>
            </a:r>
            <a:r>
              <a:rPr lang="en-GB" i="1" dirty="0"/>
              <a:t>which weights are to blame, and by how much?</a:t>
            </a:r>
            <a:r>
              <a:rPr lang="en-GB" dirty="0"/>
              <a:t> The answer comes from calculus — specifically, the chain rule applied in reverse through the network.</a:t>
            </a:r>
          </a:p>
        </p:txBody>
      </p:sp>
      <p:graphicFrame>
        <p:nvGraphicFramePr>
          <p:cNvPr id="9" name="Table 8">
            <a:extLst>
              <a:ext uri="{FF2B5EF4-FFF2-40B4-BE49-F238E27FC236}">
                <a16:creationId xmlns:a16="http://schemas.microsoft.com/office/drawing/2014/main" id="{2D9DDD69-2F79-842B-F320-C74B90985B93}"/>
              </a:ext>
            </a:extLst>
          </p:cNvPr>
          <p:cNvGraphicFramePr>
            <a:graphicFrameLocks noGrp="1"/>
          </p:cNvGraphicFramePr>
          <p:nvPr>
            <p:extLst>
              <p:ext uri="{D42A27DB-BD31-4B8C-83A1-F6EECF244321}">
                <p14:modId xmlns:p14="http://schemas.microsoft.com/office/powerpoint/2010/main" val="743556980"/>
              </p:ext>
            </p:extLst>
          </p:nvPr>
        </p:nvGraphicFramePr>
        <p:xfrm>
          <a:off x="853067" y="1869603"/>
          <a:ext cx="9266739" cy="4384920"/>
        </p:xfrm>
        <a:graphic>
          <a:graphicData uri="http://schemas.openxmlformats.org/drawingml/2006/table">
            <a:tbl>
              <a:tblPr/>
              <a:tblGrid>
                <a:gridCol w="3088913">
                  <a:extLst>
                    <a:ext uri="{9D8B030D-6E8A-4147-A177-3AD203B41FA5}">
                      <a16:colId xmlns:a16="http://schemas.microsoft.com/office/drawing/2014/main" val="2829280619"/>
                    </a:ext>
                  </a:extLst>
                </a:gridCol>
                <a:gridCol w="3088913">
                  <a:extLst>
                    <a:ext uri="{9D8B030D-6E8A-4147-A177-3AD203B41FA5}">
                      <a16:colId xmlns:a16="http://schemas.microsoft.com/office/drawing/2014/main" val="142244519"/>
                    </a:ext>
                  </a:extLst>
                </a:gridCol>
                <a:gridCol w="3088913">
                  <a:extLst>
                    <a:ext uri="{9D8B030D-6E8A-4147-A177-3AD203B41FA5}">
                      <a16:colId xmlns:a16="http://schemas.microsoft.com/office/drawing/2014/main" val="1790997843"/>
                    </a:ext>
                  </a:extLst>
                </a:gridCol>
              </a:tblGrid>
              <a:tr h="322321">
                <a:tc>
                  <a:txBody>
                    <a:bodyPr/>
                    <a:lstStyle/>
                    <a:p>
                      <a:pPr>
                        <a:buNone/>
                      </a:pPr>
                      <a:endParaRPr lang="en-GB" sz="1600" dirty="0"/>
                    </a:p>
                  </a:txBody>
                  <a:tcPr marL="80580" marR="80580" marT="40290" marB="40290" anchor="ctr">
                    <a:lnL>
                      <a:noFill/>
                    </a:lnL>
                    <a:lnR>
                      <a:noFill/>
                    </a:lnR>
                    <a:lnT>
                      <a:noFill/>
                    </a:lnT>
                    <a:lnB>
                      <a:noFill/>
                    </a:lnB>
                    <a:noFill/>
                  </a:tcPr>
                </a:tc>
                <a:tc>
                  <a:txBody>
                    <a:bodyPr/>
                    <a:lstStyle/>
                    <a:p>
                      <a:pPr>
                        <a:buNone/>
                      </a:pPr>
                      <a:endParaRPr lang="en-GB" sz="1600" dirty="0"/>
                    </a:p>
                  </a:txBody>
                  <a:tcPr marL="80580" marR="80580" marT="40290" marB="40290" anchor="ctr">
                    <a:lnL>
                      <a:noFill/>
                    </a:lnL>
                    <a:lnR>
                      <a:noFill/>
                    </a:lnR>
                    <a:lnT>
                      <a:noFill/>
                    </a:lnT>
                    <a:lnB>
                      <a:noFill/>
                    </a:lnB>
                    <a:noFill/>
                  </a:tcPr>
                </a:tc>
                <a:tc>
                  <a:txBody>
                    <a:bodyPr/>
                    <a:lstStyle/>
                    <a:p>
                      <a:pPr>
                        <a:buNone/>
                      </a:pPr>
                      <a:endParaRPr lang="en-GB" sz="1600" dirty="0"/>
                    </a:p>
                  </a:txBody>
                  <a:tcPr marL="80580" marR="80580" marT="40290" marB="40290" anchor="ctr">
                    <a:lnL>
                      <a:noFill/>
                    </a:lnL>
                    <a:lnR>
                      <a:noFill/>
                    </a:lnR>
                    <a:lnT>
                      <a:noFill/>
                    </a:lnT>
                    <a:lnB>
                      <a:noFill/>
                    </a:lnB>
                    <a:noFill/>
                  </a:tcPr>
                </a:tc>
                <a:extLst>
                  <a:ext uri="{0D108BD9-81ED-4DB2-BD59-A6C34878D82A}">
                    <a16:rowId xmlns:a16="http://schemas.microsoft.com/office/drawing/2014/main" val="2195191847"/>
                  </a:ext>
                </a:extLst>
              </a:tr>
              <a:tr h="564062">
                <a:tc>
                  <a:txBody>
                    <a:bodyPr/>
                    <a:lstStyle/>
                    <a:p>
                      <a:pPr>
                        <a:buNone/>
                      </a:pPr>
                      <a:r>
                        <a:rPr lang="en-LK" sz="1600" b="1"/>
                        <a:t>1960</a:t>
                      </a:r>
                      <a:endParaRPr lang="en-LK" sz="1600"/>
                    </a:p>
                  </a:txBody>
                  <a:tcPr marL="80580" marR="80580" marT="40290" marB="40290" anchor="ctr">
                    <a:lnL>
                      <a:noFill/>
                    </a:lnL>
                    <a:lnR>
                      <a:noFill/>
                    </a:lnR>
                    <a:lnT>
                      <a:noFill/>
                    </a:lnT>
                    <a:lnB>
                      <a:noFill/>
                    </a:lnB>
                    <a:noFill/>
                  </a:tcPr>
                </a:tc>
                <a:tc>
                  <a:txBody>
                    <a:bodyPr/>
                    <a:lstStyle/>
                    <a:p>
                      <a:pPr>
                        <a:buNone/>
                      </a:pPr>
                      <a:r>
                        <a:rPr lang="en-GB" sz="1600"/>
                        <a:t>Henry Kelley / Arthur Bryson</a:t>
                      </a:r>
                    </a:p>
                  </a:txBody>
                  <a:tcPr marL="80580" marR="80580" marT="40290" marB="40290" anchor="ctr">
                    <a:lnL>
                      <a:noFill/>
                    </a:lnL>
                    <a:lnR>
                      <a:noFill/>
                    </a:lnR>
                    <a:lnT>
                      <a:noFill/>
                    </a:lnT>
                    <a:lnB>
                      <a:noFill/>
                    </a:lnB>
                    <a:noFill/>
                  </a:tcPr>
                </a:tc>
                <a:tc>
                  <a:txBody>
                    <a:bodyPr/>
                    <a:lstStyle/>
                    <a:p>
                      <a:pPr>
                        <a:buNone/>
                      </a:pPr>
                      <a:r>
                        <a:rPr lang="en-GB" sz="1600"/>
                        <a:t>Backprop-like ideas in optimal control theory</a:t>
                      </a:r>
                    </a:p>
                  </a:txBody>
                  <a:tcPr marL="80580" marR="80580" marT="40290" marB="40290" anchor="ctr">
                    <a:lnL>
                      <a:noFill/>
                    </a:lnL>
                    <a:lnR>
                      <a:noFill/>
                    </a:lnR>
                    <a:lnT>
                      <a:noFill/>
                    </a:lnT>
                    <a:lnB>
                      <a:noFill/>
                    </a:lnB>
                    <a:noFill/>
                  </a:tcPr>
                </a:tc>
                <a:extLst>
                  <a:ext uri="{0D108BD9-81ED-4DB2-BD59-A6C34878D82A}">
                    <a16:rowId xmlns:a16="http://schemas.microsoft.com/office/drawing/2014/main" val="3438142524"/>
                  </a:ext>
                </a:extLst>
              </a:tr>
              <a:tr h="1047544">
                <a:tc>
                  <a:txBody>
                    <a:bodyPr/>
                    <a:lstStyle/>
                    <a:p>
                      <a:pPr>
                        <a:buNone/>
                      </a:pPr>
                      <a:r>
                        <a:rPr lang="en-LK" sz="1600" b="1"/>
                        <a:t>1970</a:t>
                      </a:r>
                      <a:endParaRPr lang="en-LK" sz="1600"/>
                    </a:p>
                  </a:txBody>
                  <a:tcPr marL="80580" marR="80580" marT="40290" marB="40290" anchor="ctr">
                    <a:lnL>
                      <a:noFill/>
                    </a:lnL>
                    <a:lnR>
                      <a:noFill/>
                    </a:lnR>
                    <a:lnT>
                      <a:noFill/>
                    </a:lnT>
                    <a:lnB>
                      <a:noFill/>
                    </a:lnB>
                    <a:noFill/>
                  </a:tcPr>
                </a:tc>
                <a:tc>
                  <a:txBody>
                    <a:bodyPr/>
                    <a:lstStyle/>
                    <a:p>
                      <a:pPr>
                        <a:buNone/>
                      </a:pPr>
                      <a:r>
                        <a:rPr lang="en-GB" sz="1600"/>
                        <a:t>Seppo Linnainmaa</a:t>
                      </a:r>
                    </a:p>
                  </a:txBody>
                  <a:tcPr marL="80580" marR="80580" marT="40290" marB="40290" anchor="ctr">
                    <a:lnL>
                      <a:noFill/>
                    </a:lnL>
                    <a:lnR>
                      <a:noFill/>
                    </a:lnR>
                    <a:lnT>
                      <a:noFill/>
                    </a:lnT>
                    <a:lnB>
                      <a:noFill/>
                    </a:lnB>
                    <a:noFill/>
                  </a:tcPr>
                </a:tc>
                <a:tc>
                  <a:txBody>
                    <a:bodyPr/>
                    <a:lstStyle/>
                    <a:p>
                      <a:pPr>
                        <a:buNone/>
                      </a:pPr>
                      <a:r>
                        <a:rPr lang="en-GB" sz="1600" dirty="0"/>
                        <a:t>Published automatic differentiation — the mathematical core — in his Master's thesis</a:t>
                      </a:r>
                    </a:p>
                  </a:txBody>
                  <a:tcPr marL="80580" marR="80580" marT="40290" marB="40290" anchor="ctr">
                    <a:lnL>
                      <a:noFill/>
                    </a:lnL>
                    <a:lnR>
                      <a:noFill/>
                    </a:lnR>
                    <a:lnT>
                      <a:noFill/>
                    </a:lnT>
                    <a:lnB>
                      <a:noFill/>
                    </a:lnB>
                    <a:noFill/>
                  </a:tcPr>
                </a:tc>
                <a:extLst>
                  <a:ext uri="{0D108BD9-81ED-4DB2-BD59-A6C34878D82A}">
                    <a16:rowId xmlns:a16="http://schemas.microsoft.com/office/drawing/2014/main" val="3930056601"/>
                  </a:ext>
                </a:extLst>
              </a:tr>
              <a:tr h="805803">
                <a:tc>
                  <a:txBody>
                    <a:bodyPr/>
                    <a:lstStyle/>
                    <a:p>
                      <a:pPr>
                        <a:buNone/>
                      </a:pPr>
                      <a:r>
                        <a:rPr lang="en-LK" sz="1600" b="1"/>
                        <a:t>1974</a:t>
                      </a:r>
                      <a:endParaRPr lang="en-LK" sz="1600"/>
                    </a:p>
                  </a:txBody>
                  <a:tcPr marL="80580" marR="80580" marT="40290" marB="40290" anchor="ctr">
                    <a:lnL>
                      <a:noFill/>
                    </a:lnL>
                    <a:lnR>
                      <a:noFill/>
                    </a:lnR>
                    <a:lnT>
                      <a:noFill/>
                    </a:lnT>
                    <a:lnB>
                      <a:noFill/>
                    </a:lnB>
                    <a:noFill/>
                  </a:tcPr>
                </a:tc>
                <a:tc>
                  <a:txBody>
                    <a:bodyPr/>
                    <a:lstStyle/>
                    <a:p>
                      <a:pPr>
                        <a:buNone/>
                      </a:pPr>
                      <a:r>
                        <a:rPr lang="en-GB" sz="1600"/>
                        <a:t>Paul Werbos</a:t>
                      </a:r>
                    </a:p>
                  </a:txBody>
                  <a:tcPr marL="80580" marR="80580" marT="40290" marB="40290" anchor="ctr">
                    <a:lnL>
                      <a:noFill/>
                    </a:lnL>
                    <a:lnR>
                      <a:noFill/>
                    </a:lnR>
                    <a:lnT>
                      <a:noFill/>
                    </a:lnT>
                    <a:lnB>
                      <a:noFill/>
                    </a:lnB>
                    <a:noFill/>
                  </a:tcPr>
                </a:tc>
                <a:tc>
                  <a:txBody>
                    <a:bodyPr/>
                    <a:lstStyle/>
                    <a:p>
                      <a:pPr>
                        <a:buNone/>
                      </a:pPr>
                      <a:r>
                        <a:rPr lang="en-GB" sz="1600"/>
                        <a:t>Described backprop for neural networks in his Harvard PhD thesis — largely ignored</a:t>
                      </a:r>
                    </a:p>
                  </a:txBody>
                  <a:tcPr marL="80580" marR="80580" marT="40290" marB="40290" anchor="ctr">
                    <a:lnL>
                      <a:noFill/>
                    </a:lnL>
                    <a:lnR>
                      <a:noFill/>
                    </a:lnR>
                    <a:lnT>
                      <a:noFill/>
                    </a:lnT>
                    <a:lnB>
                      <a:noFill/>
                    </a:lnB>
                    <a:noFill/>
                  </a:tcPr>
                </a:tc>
                <a:extLst>
                  <a:ext uri="{0D108BD9-81ED-4DB2-BD59-A6C34878D82A}">
                    <a16:rowId xmlns:a16="http://schemas.microsoft.com/office/drawing/2014/main" val="3760987117"/>
                  </a:ext>
                </a:extLst>
              </a:tr>
              <a:tr h="322321">
                <a:tc>
                  <a:txBody>
                    <a:bodyPr/>
                    <a:lstStyle/>
                    <a:p>
                      <a:pPr>
                        <a:buNone/>
                      </a:pPr>
                      <a:r>
                        <a:rPr lang="en-LK" sz="1600" b="1"/>
                        <a:t>1982</a:t>
                      </a:r>
                      <a:endParaRPr lang="en-LK" sz="1600"/>
                    </a:p>
                  </a:txBody>
                  <a:tcPr marL="80580" marR="80580" marT="40290" marB="40290" anchor="ctr">
                    <a:lnL>
                      <a:noFill/>
                    </a:lnL>
                    <a:lnR>
                      <a:noFill/>
                    </a:lnR>
                    <a:lnT>
                      <a:noFill/>
                    </a:lnT>
                    <a:lnB>
                      <a:noFill/>
                    </a:lnB>
                    <a:noFill/>
                  </a:tcPr>
                </a:tc>
                <a:tc>
                  <a:txBody>
                    <a:bodyPr/>
                    <a:lstStyle/>
                    <a:p>
                      <a:pPr>
                        <a:buNone/>
                      </a:pPr>
                      <a:r>
                        <a:rPr lang="en-GB" sz="1600"/>
                        <a:t>David Parker</a:t>
                      </a:r>
                    </a:p>
                  </a:txBody>
                  <a:tcPr marL="80580" marR="80580" marT="40290" marB="40290" anchor="ctr">
                    <a:lnL>
                      <a:noFill/>
                    </a:lnL>
                    <a:lnR>
                      <a:noFill/>
                    </a:lnR>
                    <a:lnT>
                      <a:noFill/>
                    </a:lnT>
                    <a:lnB>
                      <a:noFill/>
                    </a:lnB>
                    <a:noFill/>
                  </a:tcPr>
                </a:tc>
                <a:tc>
                  <a:txBody>
                    <a:bodyPr/>
                    <a:lstStyle/>
                    <a:p>
                      <a:pPr>
                        <a:buNone/>
                      </a:pPr>
                      <a:r>
                        <a:rPr lang="en-GB" sz="1600"/>
                        <a:t>Rediscovered it independently</a:t>
                      </a:r>
                    </a:p>
                  </a:txBody>
                  <a:tcPr marL="80580" marR="80580" marT="40290" marB="40290" anchor="ctr">
                    <a:lnL>
                      <a:noFill/>
                    </a:lnL>
                    <a:lnR>
                      <a:noFill/>
                    </a:lnR>
                    <a:lnT>
                      <a:noFill/>
                    </a:lnT>
                    <a:lnB>
                      <a:noFill/>
                    </a:lnB>
                    <a:noFill/>
                  </a:tcPr>
                </a:tc>
                <a:extLst>
                  <a:ext uri="{0D108BD9-81ED-4DB2-BD59-A6C34878D82A}">
                    <a16:rowId xmlns:a16="http://schemas.microsoft.com/office/drawing/2014/main" val="3260552748"/>
                  </a:ext>
                </a:extLst>
              </a:tr>
              <a:tr h="1289285">
                <a:tc>
                  <a:txBody>
                    <a:bodyPr/>
                    <a:lstStyle/>
                    <a:p>
                      <a:pPr>
                        <a:buNone/>
                      </a:pPr>
                      <a:r>
                        <a:rPr lang="en-LK" sz="1600" b="1"/>
                        <a:t>1986</a:t>
                      </a:r>
                      <a:endParaRPr lang="en-LK" sz="1600"/>
                    </a:p>
                  </a:txBody>
                  <a:tcPr marL="80580" marR="80580" marT="40290" marB="40290" anchor="ctr">
                    <a:lnL>
                      <a:noFill/>
                    </a:lnL>
                    <a:lnR>
                      <a:noFill/>
                    </a:lnR>
                    <a:lnT>
                      <a:noFill/>
                    </a:lnT>
                    <a:lnB>
                      <a:noFill/>
                    </a:lnB>
                    <a:noFill/>
                  </a:tcPr>
                </a:tc>
                <a:tc>
                  <a:txBody>
                    <a:bodyPr/>
                    <a:lstStyle/>
                    <a:p>
                      <a:pPr>
                        <a:buNone/>
                      </a:pPr>
                      <a:r>
                        <a:rPr lang="en-GB" sz="1600" b="1"/>
                        <a:t>Rumelhart, Hinton &amp; Williams</a:t>
                      </a:r>
                      <a:endParaRPr lang="en-GB" sz="1600"/>
                    </a:p>
                  </a:txBody>
                  <a:tcPr marL="80580" marR="80580" marT="40290" marB="40290" anchor="ctr">
                    <a:lnL>
                      <a:noFill/>
                    </a:lnL>
                    <a:lnR>
                      <a:noFill/>
                    </a:lnR>
                    <a:lnT>
                      <a:noFill/>
                    </a:lnT>
                    <a:lnB>
                      <a:noFill/>
                    </a:lnB>
                    <a:noFill/>
                  </a:tcPr>
                </a:tc>
                <a:tc>
                  <a:txBody>
                    <a:bodyPr/>
                    <a:lstStyle/>
                    <a:p>
                      <a:pPr>
                        <a:buNone/>
                      </a:pPr>
                      <a:r>
                        <a:rPr lang="en-GB" sz="1600" dirty="0"/>
                        <a:t>Published </a:t>
                      </a:r>
                      <a:r>
                        <a:rPr lang="en-GB" sz="1600" i="1" dirty="0"/>
                        <a:t>"Learning Representations by Back-propagating Errors"</a:t>
                      </a:r>
                      <a:r>
                        <a:rPr lang="en-GB" sz="1600" dirty="0"/>
                        <a:t> in Nature — </a:t>
                      </a:r>
                      <a:r>
                        <a:rPr lang="en-GB" sz="1600" b="1" dirty="0"/>
                        <a:t>the paper that changed everything</a:t>
                      </a:r>
                      <a:endParaRPr lang="en-GB" sz="1600" dirty="0"/>
                    </a:p>
                  </a:txBody>
                  <a:tcPr marL="80580" marR="80580" marT="40290" marB="40290" anchor="ctr">
                    <a:lnL>
                      <a:noFill/>
                    </a:lnL>
                    <a:lnR>
                      <a:noFill/>
                    </a:lnR>
                    <a:lnT>
                      <a:noFill/>
                    </a:lnT>
                    <a:lnB>
                      <a:noFill/>
                    </a:lnB>
                    <a:noFill/>
                  </a:tcPr>
                </a:tc>
                <a:extLst>
                  <a:ext uri="{0D108BD9-81ED-4DB2-BD59-A6C34878D82A}">
                    <a16:rowId xmlns:a16="http://schemas.microsoft.com/office/drawing/2014/main" val="3636516139"/>
                  </a:ext>
                </a:extLst>
              </a:tr>
            </a:tbl>
          </a:graphicData>
        </a:graphic>
      </p:graphicFrame>
    </p:spTree>
    <p:extLst>
      <p:ext uri="{BB962C8B-B14F-4D97-AF65-F5344CB8AC3E}">
        <p14:creationId xmlns:p14="http://schemas.microsoft.com/office/powerpoint/2010/main" val="161256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65BE03-9D1C-623A-EB82-F13B2BF23498}"/>
              </a:ext>
            </a:extLst>
          </p:cNvPr>
          <p:cNvSpPr txBox="1"/>
          <p:nvPr/>
        </p:nvSpPr>
        <p:spPr>
          <a:xfrm>
            <a:off x="574289" y="210081"/>
            <a:ext cx="10008218" cy="1200329"/>
          </a:xfrm>
          <a:prstGeom prst="rect">
            <a:avLst/>
          </a:prstGeom>
          <a:noFill/>
        </p:spPr>
        <p:txBody>
          <a:bodyPr wrap="square">
            <a:spAutoFit/>
          </a:bodyPr>
          <a:lstStyle/>
          <a:p>
            <a:pPr>
              <a:buNone/>
            </a:pPr>
            <a:r>
              <a:rPr lang="en-GB" dirty="0"/>
              <a:t>The fundamental problem backprop solves is called the </a:t>
            </a:r>
            <a:r>
              <a:rPr lang="en-GB" b="1" dirty="0"/>
              <a:t>credit assignment problem</a:t>
            </a:r>
            <a:r>
              <a:rPr lang="en-GB" dirty="0"/>
              <a:t>: in a network with millions of weights and a single scalar loss, how do you know which weight caused the error?</a:t>
            </a:r>
          </a:p>
          <a:p>
            <a:pPr>
              <a:buNone/>
            </a:pPr>
            <a:r>
              <a:rPr lang="en-GB" dirty="0"/>
              <a:t>The answer is calculus. Every weight's contribution to the loss can be computed exactly using the </a:t>
            </a:r>
            <a:r>
              <a:rPr lang="en-GB" b="1" dirty="0"/>
              <a:t>chain rule</a:t>
            </a:r>
            <a:r>
              <a:rPr lang="en-GB" dirty="0"/>
              <a:t>:</a:t>
            </a:r>
          </a:p>
        </p:txBody>
      </p:sp>
      <p:sp>
        <p:nvSpPr>
          <p:cNvPr id="7" name="TextBox 6">
            <a:extLst>
              <a:ext uri="{FF2B5EF4-FFF2-40B4-BE49-F238E27FC236}">
                <a16:creationId xmlns:a16="http://schemas.microsoft.com/office/drawing/2014/main" id="{6A331C97-805A-26AE-FE99-06FC0D16453A}"/>
              </a:ext>
            </a:extLst>
          </p:cNvPr>
          <p:cNvSpPr txBox="1"/>
          <p:nvPr/>
        </p:nvSpPr>
        <p:spPr>
          <a:xfrm>
            <a:off x="574289" y="1660861"/>
            <a:ext cx="6099716" cy="369332"/>
          </a:xfrm>
          <a:prstGeom prst="rect">
            <a:avLst/>
          </a:prstGeom>
          <a:noFill/>
        </p:spPr>
        <p:txBody>
          <a:bodyPr wrap="square">
            <a:spAutoFit/>
          </a:bodyPr>
          <a:lstStyle/>
          <a:p>
            <a:r>
              <a:rPr lang="en-LK" dirty="0"/>
              <a:t>∂L/∂w = ∂L/∂a_out × ∂a_out/∂z_out × ∂z_out/∂w</a:t>
            </a:r>
          </a:p>
        </p:txBody>
      </p:sp>
      <p:sp>
        <p:nvSpPr>
          <p:cNvPr id="9" name="TextBox 8">
            <a:extLst>
              <a:ext uri="{FF2B5EF4-FFF2-40B4-BE49-F238E27FC236}">
                <a16:creationId xmlns:a16="http://schemas.microsoft.com/office/drawing/2014/main" id="{94102101-0D5D-D1B8-57B7-796A81923E2B}"/>
              </a:ext>
            </a:extLst>
          </p:cNvPr>
          <p:cNvSpPr txBox="1"/>
          <p:nvPr/>
        </p:nvSpPr>
        <p:spPr>
          <a:xfrm>
            <a:off x="574289" y="2280644"/>
            <a:ext cx="10666140" cy="923330"/>
          </a:xfrm>
          <a:prstGeom prst="rect">
            <a:avLst/>
          </a:prstGeom>
          <a:noFill/>
        </p:spPr>
        <p:txBody>
          <a:bodyPr wrap="square">
            <a:spAutoFit/>
          </a:bodyPr>
          <a:lstStyle/>
          <a:p>
            <a:pPr>
              <a:buNone/>
            </a:pPr>
            <a:r>
              <a:rPr lang="en-GB" b="1" dirty="0"/>
              <a:t>Step 1: Forward Pass</a:t>
            </a:r>
          </a:p>
          <a:p>
            <a:pPr>
              <a:buNone/>
            </a:pPr>
            <a:r>
              <a:rPr lang="en-GB" dirty="0"/>
              <a:t>Compute activations layer by layer, left to right. Store every intermediate value — you'll need them for the backward pass.</a:t>
            </a:r>
          </a:p>
        </p:txBody>
      </p:sp>
      <p:sp>
        <p:nvSpPr>
          <p:cNvPr id="11" name="TextBox 10">
            <a:extLst>
              <a:ext uri="{FF2B5EF4-FFF2-40B4-BE49-F238E27FC236}">
                <a16:creationId xmlns:a16="http://schemas.microsoft.com/office/drawing/2014/main" id="{A45864FE-27EC-90D1-DCD6-CCF4A1AFAB27}"/>
              </a:ext>
            </a:extLst>
          </p:cNvPr>
          <p:cNvSpPr txBox="1"/>
          <p:nvPr/>
        </p:nvSpPr>
        <p:spPr>
          <a:xfrm>
            <a:off x="574289" y="3330861"/>
            <a:ext cx="6099716" cy="646331"/>
          </a:xfrm>
          <a:prstGeom prst="rect">
            <a:avLst/>
          </a:prstGeom>
          <a:noFill/>
        </p:spPr>
        <p:txBody>
          <a:bodyPr wrap="square">
            <a:spAutoFit/>
          </a:bodyPr>
          <a:lstStyle/>
          <a:p>
            <a:pPr>
              <a:buNone/>
            </a:pPr>
            <a:r>
              <a:rPr lang="en-GB" b="1" dirty="0"/>
              <a:t>Step 2: Compute Output Gradient</a:t>
            </a:r>
          </a:p>
          <a:p>
            <a:pPr>
              <a:buNone/>
            </a:pPr>
            <a:r>
              <a:rPr lang="en-GB" dirty="0"/>
              <a:t>How does the loss change with respect to the output?</a:t>
            </a:r>
          </a:p>
        </p:txBody>
      </p:sp>
      <p:sp>
        <p:nvSpPr>
          <p:cNvPr id="13" name="TextBox 12">
            <a:extLst>
              <a:ext uri="{FF2B5EF4-FFF2-40B4-BE49-F238E27FC236}">
                <a16:creationId xmlns:a16="http://schemas.microsoft.com/office/drawing/2014/main" id="{1FC070F1-0EAD-C502-B782-8B51357D0467}"/>
              </a:ext>
            </a:extLst>
          </p:cNvPr>
          <p:cNvSpPr txBox="1"/>
          <p:nvPr/>
        </p:nvSpPr>
        <p:spPr>
          <a:xfrm>
            <a:off x="574289" y="4104079"/>
            <a:ext cx="6099716" cy="923330"/>
          </a:xfrm>
          <a:prstGeom prst="rect">
            <a:avLst/>
          </a:prstGeom>
          <a:noFill/>
        </p:spPr>
        <p:txBody>
          <a:bodyPr wrap="square">
            <a:spAutoFit/>
          </a:bodyPr>
          <a:lstStyle/>
          <a:p>
            <a:pPr>
              <a:buNone/>
            </a:pPr>
            <a:r>
              <a:rPr lang="en-GB" b="1" dirty="0"/>
              <a:t>Step 3: Propagate Backward — Chain Rule</a:t>
            </a:r>
          </a:p>
          <a:p>
            <a:pPr>
              <a:buNone/>
            </a:pPr>
            <a:r>
              <a:rPr lang="en-GB" dirty="0"/>
              <a:t>Work right to left. At each layer, multiply the incoming gradient by the local derivative</a:t>
            </a:r>
          </a:p>
        </p:txBody>
      </p:sp>
      <p:sp>
        <p:nvSpPr>
          <p:cNvPr id="15" name="TextBox 14">
            <a:extLst>
              <a:ext uri="{FF2B5EF4-FFF2-40B4-BE49-F238E27FC236}">
                <a16:creationId xmlns:a16="http://schemas.microsoft.com/office/drawing/2014/main" id="{5AAB5B6C-89D2-3473-95DB-A24BA4B231CC}"/>
              </a:ext>
            </a:extLst>
          </p:cNvPr>
          <p:cNvSpPr txBox="1"/>
          <p:nvPr/>
        </p:nvSpPr>
        <p:spPr>
          <a:xfrm>
            <a:off x="574289" y="5313777"/>
            <a:ext cx="6099716" cy="646331"/>
          </a:xfrm>
          <a:prstGeom prst="rect">
            <a:avLst/>
          </a:prstGeom>
          <a:noFill/>
        </p:spPr>
        <p:txBody>
          <a:bodyPr wrap="square">
            <a:spAutoFit/>
          </a:bodyPr>
          <a:lstStyle/>
          <a:p>
            <a:pPr>
              <a:buNone/>
            </a:pPr>
            <a:r>
              <a:rPr lang="en-GB" b="1" dirty="0"/>
              <a:t>Step 4: Update Weights — Gradient Descent</a:t>
            </a:r>
          </a:p>
          <a:p>
            <a:pPr>
              <a:buNone/>
            </a:pPr>
            <a:r>
              <a:rPr lang="en-GB" dirty="0"/>
              <a:t>Nudge every weight in the direction that reduces loss</a:t>
            </a:r>
          </a:p>
        </p:txBody>
      </p:sp>
    </p:spTree>
    <p:extLst>
      <p:ext uri="{BB962C8B-B14F-4D97-AF65-F5344CB8AC3E}">
        <p14:creationId xmlns:p14="http://schemas.microsoft.com/office/powerpoint/2010/main" val="2803401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3EC71D-A1EB-7796-386D-C8A23024066D}"/>
              </a:ext>
            </a:extLst>
          </p:cNvPr>
          <p:cNvSpPr txBox="1"/>
          <p:nvPr/>
        </p:nvSpPr>
        <p:spPr>
          <a:xfrm>
            <a:off x="551986" y="133145"/>
            <a:ext cx="6099716" cy="369332"/>
          </a:xfrm>
          <a:prstGeom prst="rect">
            <a:avLst/>
          </a:prstGeom>
          <a:noFill/>
        </p:spPr>
        <p:txBody>
          <a:bodyPr wrap="square">
            <a:spAutoFit/>
          </a:bodyPr>
          <a:lstStyle/>
          <a:p>
            <a:r>
              <a:rPr lang="en-GB" b="1" dirty="0"/>
              <a:t>Rule Based Expert Systems Boom</a:t>
            </a:r>
            <a:endParaRPr lang="en-LK" b="1" dirty="0"/>
          </a:p>
        </p:txBody>
      </p:sp>
      <p:sp>
        <p:nvSpPr>
          <p:cNvPr id="7" name="TextBox 6">
            <a:extLst>
              <a:ext uri="{FF2B5EF4-FFF2-40B4-BE49-F238E27FC236}">
                <a16:creationId xmlns:a16="http://schemas.microsoft.com/office/drawing/2014/main" id="{D8EB4967-79DD-95E7-50F3-C232B32FB466}"/>
              </a:ext>
            </a:extLst>
          </p:cNvPr>
          <p:cNvSpPr txBox="1"/>
          <p:nvPr/>
        </p:nvSpPr>
        <p:spPr>
          <a:xfrm>
            <a:off x="551985" y="772986"/>
            <a:ext cx="11524786" cy="5909310"/>
          </a:xfrm>
          <a:prstGeom prst="rect">
            <a:avLst/>
          </a:prstGeom>
          <a:noFill/>
        </p:spPr>
        <p:txBody>
          <a:bodyPr wrap="square">
            <a:spAutoFit/>
          </a:bodyPr>
          <a:lstStyle/>
          <a:p>
            <a:pPr>
              <a:buNone/>
            </a:pPr>
            <a:r>
              <a:rPr lang="en-GB" b="1" dirty="0"/>
              <a:t>DENDRAL (1965–80)</a:t>
            </a:r>
            <a:r>
              <a:rPr lang="en-GB" dirty="0"/>
              <a:t> — determined molecular structures from mass spectrometry data. Used for 15 years in real labs — the first proof expert systems could work outside academia.</a:t>
            </a:r>
          </a:p>
          <a:p>
            <a:pPr>
              <a:buNone/>
            </a:pPr>
            <a:r>
              <a:rPr lang="en-GB" b="1" dirty="0"/>
              <a:t>MYCIN (1972)</a:t>
            </a:r>
            <a:r>
              <a:rPr lang="en-GB" dirty="0"/>
              <a:t> — diagnosed bacterial infections using 600 IF-THEN rules with certainty factors. Outperformed junior doctors (65% correct vs 42–62%). Never deployed due to liability concerns — the first AI ethics debate.</a:t>
            </a:r>
          </a:p>
          <a:p>
            <a:pPr>
              <a:buNone/>
            </a:pPr>
            <a:r>
              <a:rPr lang="en-GB" b="1" dirty="0"/>
              <a:t>XCON / R1 (1980)</a:t>
            </a:r>
            <a:r>
              <a:rPr lang="en-GB" dirty="0"/>
              <a:t> — configured VAX computer orders for DEC using 2,500 rules. Saved $40 million per year. Triggered a global expert systems gold rush — billions invested, hundreds of commercial deployments.</a:t>
            </a:r>
          </a:p>
          <a:p>
            <a:pPr>
              <a:buNone/>
            </a:pPr>
            <a:r>
              <a:rPr lang="en-GB" b="1" dirty="0"/>
              <a:t>Deep Blue (</a:t>
            </a:r>
            <a:r>
              <a:rPr lang="en-LK" b="1" dirty="0"/>
              <a:t>1997) </a:t>
            </a:r>
            <a:r>
              <a:rPr lang="en-GB" b="1" dirty="0"/>
              <a:t>- Deep Blue was IBM's chess-playing computer that defeated world champion Garry Kasparov in May 1997</a:t>
            </a:r>
            <a:r>
              <a:rPr lang="en-GB" dirty="0"/>
              <a:t> — the first time a machine beat a reigning world champion in a classical chess match. Not neural networks, not learning — pure brute-force search with hand-crafted evaluation.</a:t>
            </a:r>
          </a:p>
          <a:p>
            <a:pPr>
              <a:buNone/>
            </a:pPr>
            <a:endParaRPr lang="en-GB" dirty="0"/>
          </a:p>
          <a:p>
            <a:pPr>
              <a:buNone/>
            </a:pPr>
            <a:endParaRPr lang="en-GB" dirty="0"/>
          </a:p>
          <a:p>
            <a:pPr>
              <a:buNone/>
            </a:pPr>
            <a:endParaRPr lang="en-GB" dirty="0"/>
          </a:p>
          <a:p>
            <a:pPr>
              <a:buNone/>
            </a:pPr>
            <a:endParaRPr lang="en-GB" dirty="0"/>
          </a:p>
          <a:p>
            <a:pPr>
              <a:buNone/>
            </a:pPr>
            <a:endParaRPr lang="en-GB" dirty="0"/>
          </a:p>
          <a:p>
            <a:pPr>
              <a:buNone/>
            </a:pPr>
            <a:endParaRPr lang="en-GB" dirty="0"/>
          </a:p>
          <a:p>
            <a:pPr>
              <a:buNone/>
            </a:pPr>
            <a:endParaRPr lang="en-GB" dirty="0"/>
          </a:p>
          <a:p>
            <a:r>
              <a:rPr lang="en-GB" b="1" dirty="0">
                <a:highlight>
                  <a:srgbClr val="FFFF00"/>
                </a:highlight>
              </a:rPr>
              <a:t>The AlphaZero verdict (2017):</a:t>
            </a:r>
            <a:r>
              <a:rPr lang="en-GB" dirty="0">
                <a:highlight>
                  <a:srgbClr val="FFFF00"/>
                </a:highlight>
              </a:rPr>
              <a:t> DeepMind's AlphaZero learned chess from scratch with no rules except legal moves, via pure self-play reinforcement learning, in </a:t>
            </a:r>
            <a:r>
              <a:rPr lang="en-GB" b="1" dirty="0">
                <a:highlight>
                  <a:srgbClr val="FFFF00"/>
                </a:highlight>
              </a:rPr>
              <a:t>4 hours</a:t>
            </a:r>
            <a:r>
              <a:rPr lang="en-GB" dirty="0">
                <a:highlight>
                  <a:srgbClr val="FFFF00"/>
                </a:highlight>
              </a:rPr>
              <a:t> — then defeated the strongest rule-based successor to Deep Blue convincingly. What took IBM years of knowledge engineering, AlphaZero learned from data alone.</a:t>
            </a:r>
          </a:p>
          <a:p>
            <a:pPr>
              <a:buNone/>
            </a:pPr>
            <a:endParaRPr lang="en-GB" dirty="0">
              <a:highlight>
                <a:srgbClr val="FFFF00"/>
              </a:highlight>
            </a:endParaRPr>
          </a:p>
          <a:p>
            <a:pPr>
              <a:buNone/>
            </a:pPr>
            <a:endParaRPr lang="en-GB" b="1" dirty="0"/>
          </a:p>
        </p:txBody>
      </p:sp>
      <p:sp>
        <p:nvSpPr>
          <p:cNvPr id="8" name="TextBox 7">
            <a:extLst>
              <a:ext uri="{FF2B5EF4-FFF2-40B4-BE49-F238E27FC236}">
                <a16:creationId xmlns:a16="http://schemas.microsoft.com/office/drawing/2014/main" id="{9BF5CB89-116B-ED46-5C60-F344895D840E}"/>
              </a:ext>
            </a:extLst>
          </p:cNvPr>
          <p:cNvSpPr txBox="1"/>
          <p:nvPr/>
        </p:nvSpPr>
        <p:spPr>
          <a:xfrm>
            <a:off x="551985" y="3619032"/>
            <a:ext cx="11606561" cy="1015663"/>
          </a:xfrm>
          <a:prstGeom prst="rect">
            <a:avLst/>
          </a:prstGeom>
          <a:noFill/>
        </p:spPr>
        <p:txBody>
          <a:bodyPr wrap="square">
            <a:spAutoFit/>
          </a:bodyPr>
          <a:lstStyle/>
          <a:p>
            <a:pPr>
              <a:buNone/>
            </a:pPr>
            <a:r>
              <a:rPr lang="en-GB" sz="1200" dirty="0"/>
              <a:t>Four fatal flaws destroyed the expert systems industry simultaneously:</a:t>
            </a:r>
          </a:p>
          <a:p>
            <a:pPr>
              <a:buNone/>
            </a:pPr>
            <a:r>
              <a:rPr lang="en-GB" sz="1200" b="1" dirty="0"/>
              <a:t>Brittleness</a:t>
            </a:r>
            <a:r>
              <a:rPr lang="en-GB" sz="1200" dirty="0"/>
              <a:t> — systems performed perfectly within their domain and catastrophically outside it. Real problems don't stay in domains.</a:t>
            </a:r>
          </a:p>
          <a:p>
            <a:pPr>
              <a:buNone/>
            </a:pPr>
            <a:r>
              <a:rPr lang="en-GB" sz="1200" b="1" dirty="0"/>
              <a:t>Knowledge acquisition bottleneck</a:t>
            </a:r>
            <a:r>
              <a:rPr lang="en-GB" sz="1200" dirty="0"/>
              <a:t> — extracting rules from human experts was slow, expensive, and often impossible. Experts couldn't articulate their own tacit knowledge.</a:t>
            </a:r>
          </a:p>
          <a:p>
            <a:pPr>
              <a:buNone/>
            </a:pPr>
            <a:r>
              <a:rPr lang="en-GB" sz="1200" b="1" dirty="0"/>
              <a:t>Maintenance nightmare</a:t>
            </a:r>
            <a:r>
              <a:rPr lang="en-GB" sz="1200" dirty="0"/>
              <a:t> — 2,500 rules interact in unpredictable ways. Fixing one rule broke five others. XCON needed a full-time team just to keep it running.</a:t>
            </a:r>
          </a:p>
          <a:p>
            <a:pPr>
              <a:buNone/>
            </a:pPr>
            <a:r>
              <a:rPr lang="en-GB" sz="1200" b="1" dirty="0"/>
              <a:t>No learning</a:t>
            </a:r>
            <a:r>
              <a:rPr lang="en-GB" sz="1200" dirty="0"/>
              <a:t> — every piece of knowledge had to be manually encoded. Systems couldn't improve from experience or adapt to new situations.</a:t>
            </a:r>
          </a:p>
        </p:txBody>
      </p:sp>
    </p:spTree>
    <p:extLst>
      <p:ext uri="{BB962C8B-B14F-4D97-AF65-F5344CB8AC3E}">
        <p14:creationId xmlns:p14="http://schemas.microsoft.com/office/powerpoint/2010/main" val="1076335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21D427-2382-490F-3414-587C3B0EBD04}"/>
              </a:ext>
            </a:extLst>
          </p:cNvPr>
          <p:cNvSpPr txBox="1"/>
          <p:nvPr/>
        </p:nvSpPr>
        <p:spPr>
          <a:xfrm>
            <a:off x="462776" y="228821"/>
            <a:ext cx="6099716" cy="369332"/>
          </a:xfrm>
          <a:prstGeom prst="rect">
            <a:avLst/>
          </a:prstGeom>
          <a:noFill/>
        </p:spPr>
        <p:txBody>
          <a:bodyPr wrap="square">
            <a:spAutoFit/>
          </a:bodyPr>
          <a:lstStyle/>
          <a:p>
            <a:pPr>
              <a:buNone/>
            </a:pPr>
            <a:r>
              <a:rPr lang="en-LK" b="1" dirty="0"/>
              <a:t> </a:t>
            </a:r>
            <a:r>
              <a:rPr lang="en-GB" b="1" dirty="0"/>
              <a:t>AI Renaissance </a:t>
            </a:r>
          </a:p>
        </p:txBody>
      </p:sp>
      <p:sp>
        <p:nvSpPr>
          <p:cNvPr id="7" name="TextBox 6">
            <a:extLst>
              <a:ext uri="{FF2B5EF4-FFF2-40B4-BE49-F238E27FC236}">
                <a16:creationId xmlns:a16="http://schemas.microsoft.com/office/drawing/2014/main" id="{8F871427-6889-299B-B599-54D1FAA80A27}"/>
              </a:ext>
            </a:extLst>
          </p:cNvPr>
          <p:cNvSpPr txBox="1"/>
          <p:nvPr/>
        </p:nvSpPr>
        <p:spPr>
          <a:xfrm>
            <a:off x="462776" y="857511"/>
            <a:ext cx="10944922" cy="2308324"/>
          </a:xfrm>
          <a:prstGeom prst="rect">
            <a:avLst/>
          </a:prstGeom>
          <a:noFill/>
        </p:spPr>
        <p:txBody>
          <a:bodyPr wrap="square">
            <a:spAutoFit/>
          </a:bodyPr>
          <a:lstStyle/>
          <a:p>
            <a:pPr>
              <a:buNone/>
            </a:pPr>
            <a:endParaRPr lang="en-LK" b="1" dirty="0"/>
          </a:p>
          <a:p>
            <a:pPr>
              <a:buNone/>
            </a:pPr>
            <a:r>
              <a:rPr lang="en-LK" b="1" dirty="0"/>
              <a:t>1. </a:t>
            </a:r>
            <a:r>
              <a:rPr lang="en-GB" b="1" dirty="0"/>
              <a:t>Data Explosion (Internet Effect)</a:t>
            </a:r>
          </a:p>
          <a:p>
            <a:pPr>
              <a:buNone/>
            </a:pPr>
            <a:r>
              <a:rPr lang="en-GB" dirty="0"/>
              <a:t>The internet unintentionally created the </a:t>
            </a:r>
            <a:r>
              <a:rPr lang="en-GB" b="1" dirty="0"/>
              <a:t>largest training dataset in history</a:t>
            </a:r>
            <a:r>
              <a:rPr lang="en-GB" dirty="0"/>
              <a:t>:</a:t>
            </a:r>
          </a:p>
          <a:p>
            <a:pPr>
              <a:buFont typeface="Arial" panose="020B0604020202020204" pitchFamily="34" charset="0"/>
              <a:buChar char="•"/>
            </a:pPr>
            <a:r>
              <a:rPr lang="en-GB" b="1" dirty="0"/>
              <a:t>Text (1990s):</a:t>
            </a:r>
            <a:r>
              <a:rPr lang="en-GB" dirty="0"/>
              <a:t> Massive web pages enabled early NLP and search engines like Google.</a:t>
            </a:r>
          </a:p>
          <a:p>
            <a:pPr>
              <a:buFont typeface="Arial" panose="020B0604020202020204" pitchFamily="34" charset="0"/>
              <a:buChar char="•"/>
            </a:pPr>
            <a:r>
              <a:rPr lang="en-GB" b="1" dirty="0"/>
              <a:t>Images (2000s):</a:t>
            </a:r>
            <a:r>
              <a:rPr lang="en-GB" dirty="0"/>
              <a:t> Platforms like Flickr and Facebook generated billions of </a:t>
            </a:r>
            <a:r>
              <a:rPr lang="en-GB" dirty="0" err="1"/>
              <a:t>labeled</a:t>
            </a:r>
            <a:r>
              <a:rPr lang="en-GB" dirty="0"/>
              <a:t> images.</a:t>
            </a:r>
          </a:p>
          <a:p>
            <a:pPr>
              <a:buFont typeface="Arial" panose="020B0604020202020204" pitchFamily="34" charset="0"/>
              <a:buChar char="•"/>
            </a:pPr>
            <a:r>
              <a:rPr lang="en-GB" b="1" dirty="0"/>
              <a:t>ImageNet (2009):</a:t>
            </a:r>
            <a:r>
              <a:rPr lang="en-GB" dirty="0"/>
              <a:t> Built by Fei-Fei Li, it became the key benchmark that triggered deep learning progress.</a:t>
            </a:r>
          </a:p>
          <a:p>
            <a:pPr>
              <a:buFont typeface="Arial" panose="020B0604020202020204" pitchFamily="34" charset="0"/>
              <a:buChar char="•"/>
            </a:pPr>
            <a:r>
              <a:rPr lang="en-GB" b="1" dirty="0" err="1"/>
              <a:t>Behavioral</a:t>
            </a:r>
            <a:r>
              <a:rPr lang="en-GB" b="1" dirty="0"/>
              <a:t> Data:</a:t>
            </a:r>
            <a:r>
              <a:rPr lang="en-GB" dirty="0"/>
              <a:t> Clicks, searches, and purchases (Google, Amazon, Netflix) became training signals.</a:t>
            </a:r>
          </a:p>
          <a:p>
            <a:pPr>
              <a:buNone/>
            </a:pPr>
            <a:r>
              <a:rPr lang="en-GB" dirty="0"/>
              <a:t>Result: ML moved from </a:t>
            </a:r>
            <a:r>
              <a:rPr lang="en-GB" b="1" dirty="0"/>
              <a:t>data scarcity → data abundance</a:t>
            </a:r>
            <a:endParaRPr lang="en-GB" dirty="0"/>
          </a:p>
        </p:txBody>
      </p:sp>
      <p:sp>
        <p:nvSpPr>
          <p:cNvPr id="9" name="TextBox 8">
            <a:extLst>
              <a:ext uri="{FF2B5EF4-FFF2-40B4-BE49-F238E27FC236}">
                <a16:creationId xmlns:a16="http://schemas.microsoft.com/office/drawing/2014/main" id="{31B12E02-9751-8545-B170-018C034AE1F3}"/>
              </a:ext>
            </a:extLst>
          </p:cNvPr>
          <p:cNvSpPr txBox="1"/>
          <p:nvPr/>
        </p:nvSpPr>
        <p:spPr>
          <a:xfrm>
            <a:off x="462776" y="3415166"/>
            <a:ext cx="11112190" cy="2031325"/>
          </a:xfrm>
          <a:prstGeom prst="rect">
            <a:avLst/>
          </a:prstGeom>
          <a:noFill/>
        </p:spPr>
        <p:txBody>
          <a:bodyPr wrap="square">
            <a:spAutoFit/>
          </a:bodyPr>
          <a:lstStyle/>
          <a:p>
            <a:pPr>
              <a:buNone/>
            </a:pPr>
            <a:r>
              <a:rPr lang="en-GB" b="1" dirty="0"/>
              <a:t>⚙️ </a:t>
            </a:r>
          </a:p>
          <a:p>
            <a:pPr>
              <a:buNone/>
            </a:pPr>
            <a:r>
              <a:rPr lang="en-GB" b="1" dirty="0"/>
              <a:t>2. Compute Revolution</a:t>
            </a:r>
          </a:p>
          <a:p>
            <a:pPr>
              <a:buNone/>
            </a:pPr>
            <a:r>
              <a:rPr lang="en-GB" dirty="0"/>
              <a:t>Training large models became feasible due to:</a:t>
            </a:r>
          </a:p>
          <a:p>
            <a:pPr>
              <a:buFont typeface="Arial" panose="020B0604020202020204" pitchFamily="34" charset="0"/>
              <a:buChar char="•"/>
            </a:pPr>
            <a:r>
              <a:rPr lang="en-GB" b="1" dirty="0"/>
              <a:t>Moore’s Law:</a:t>
            </a:r>
            <a:r>
              <a:rPr lang="en-GB" dirty="0"/>
              <a:t> Exponential CPU improvements</a:t>
            </a:r>
          </a:p>
          <a:p>
            <a:pPr>
              <a:buFont typeface="Arial" panose="020B0604020202020204" pitchFamily="34" charset="0"/>
              <a:buChar char="•"/>
            </a:pPr>
            <a:r>
              <a:rPr lang="en-GB" b="1" dirty="0"/>
              <a:t>GPUs + CUDA:</a:t>
            </a:r>
            <a:r>
              <a:rPr lang="en-GB" dirty="0"/>
              <a:t> Parallel computation made neural networks practical (via NVIDIA)</a:t>
            </a:r>
          </a:p>
          <a:p>
            <a:pPr>
              <a:buFont typeface="Arial" panose="020B0604020202020204" pitchFamily="34" charset="0"/>
              <a:buChar char="•"/>
            </a:pPr>
            <a:r>
              <a:rPr lang="en-GB" b="1" dirty="0"/>
              <a:t>Cloud Computing:</a:t>
            </a:r>
            <a:r>
              <a:rPr lang="en-GB" dirty="0"/>
              <a:t> Amazon Web Services and others made compute accessible</a:t>
            </a:r>
          </a:p>
          <a:p>
            <a:pPr>
              <a:buNone/>
            </a:pPr>
            <a:r>
              <a:rPr lang="en-GB" dirty="0"/>
              <a:t>Result: Training went from </a:t>
            </a:r>
            <a:r>
              <a:rPr lang="en-GB" b="1" dirty="0"/>
              <a:t>weeks → days → hours</a:t>
            </a:r>
            <a:endParaRPr lang="en-GB" dirty="0"/>
          </a:p>
        </p:txBody>
      </p:sp>
    </p:spTree>
    <p:extLst>
      <p:ext uri="{BB962C8B-B14F-4D97-AF65-F5344CB8AC3E}">
        <p14:creationId xmlns:p14="http://schemas.microsoft.com/office/powerpoint/2010/main" val="427002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671BB7-8E2C-60CA-7CE1-100CABE024A2}"/>
              </a:ext>
            </a:extLst>
          </p:cNvPr>
          <p:cNvSpPr txBox="1"/>
          <p:nvPr/>
        </p:nvSpPr>
        <p:spPr>
          <a:xfrm>
            <a:off x="462776" y="340993"/>
            <a:ext cx="10565780" cy="2031325"/>
          </a:xfrm>
          <a:prstGeom prst="rect">
            <a:avLst/>
          </a:prstGeom>
          <a:noFill/>
        </p:spPr>
        <p:txBody>
          <a:bodyPr wrap="square">
            <a:spAutoFit/>
          </a:bodyPr>
          <a:lstStyle/>
          <a:p>
            <a:pPr>
              <a:buNone/>
            </a:pPr>
            <a:endParaRPr lang="en-LK" b="1" dirty="0"/>
          </a:p>
          <a:p>
            <a:pPr>
              <a:buNone/>
            </a:pPr>
            <a:r>
              <a:rPr lang="en-LK" b="1" dirty="0"/>
              <a:t>3. </a:t>
            </a:r>
            <a:r>
              <a:rPr lang="en-GB" b="1" dirty="0"/>
              <a:t>Algorithm Advances</a:t>
            </a:r>
          </a:p>
          <a:p>
            <a:pPr>
              <a:buNone/>
            </a:pPr>
            <a:r>
              <a:rPr lang="en-GB" dirty="0"/>
              <a:t>Key improvements made learning actually work:</a:t>
            </a:r>
          </a:p>
          <a:p>
            <a:pPr>
              <a:buFont typeface="Arial" panose="020B0604020202020204" pitchFamily="34" charset="0"/>
              <a:buChar char="•"/>
            </a:pPr>
            <a:r>
              <a:rPr lang="en-GB" b="1" dirty="0"/>
              <a:t>SVMs:</a:t>
            </a:r>
            <a:r>
              <a:rPr lang="en-GB" dirty="0"/>
              <a:t> Dominated pre-2012 ML</a:t>
            </a:r>
          </a:p>
          <a:p>
            <a:pPr>
              <a:buFont typeface="Arial" panose="020B0604020202020204" pitchFamily="34" charset="0"/>
              <a:buChar char="•"/>
            </a:pPr>
            <a:r>
              <a:rPr lang="en-GB" b="1" dirty="0"/>
              <a:t>Deep Belief Networks (2006):</a:t>
            </a:r>
            <a:r>
              <a:rPr lang="en-GB" dirty="0"/>
              <a:t> Led by Geoffrey Hinton, solved training issues in deep nets</a:t>
            </a:r>
          </a:p>
          <a:p>
            <a:pPr>
              <a:buFont typeface="Arial" panose="020B0604020202020204" pitchFamily="34" charset="0"/>
              <a:buChar char="•"/>
            </a:pPr>
            <a:r>
              <a:rPr lang="en-GB" b="1" dirty="0"/>
              <a:t>CNNs:</a:t>
            </a:r>
            <a:r>
              <a:rPr lang="en-GB" dirty="0"/>
              <a:t> Introduced by Yann LeCun, became practical with GPUs</a:t>
            </a:r>
          </a:p>
          <a:p>
            <a:pPr>
              <a:buNone/>
            </a:pPr>
            <a:r>
              <a:rPr lang="en-LK" dirty="0"/>
              <a:t> </a:t>
            </a:r>
            <a:r>
              <a:rPr lang="en-GB" dirty="0"/>
              <a:t>Result: Deep learning became </a:t>
            </a:r>
            <a:r>
              <a:rPr lang="en-GB" b="1" dirty="0"/>
              <a:t>trainable and scalable</a:t>
            </a:r>
            <a:endParaRPr lang="en-GB" dirty="0"/>
          </a:p>
        </p:txBody>
      </p:sp>
      <p:sp>
        <p:nvSpPr>
          <p:cNvPr id="7" name="TextBox 6">
            <a:extLst>
              <a:ext uri="{FF2B5EF4-FFF2-40B4-BE49-F238E27FC236}">
                <a16:creationId xmlns:a16="http://schemas.microsoft.com/office/drawing/2014/main" id="{0438F00B-3EE5-C1F9-8B8E-DE4DB86EFE2D}"/>
              </a:ext>
            </a:extLst>
          </p:cNvPr>
          <p:cNvSpPr txBox="1"/>
          <p:nvPr/>
        </p:nvSpPr>
        <p:spPr>
          <a:xfrm>
            <a:off x="462776" y="2551837"/>
            <a:ext cx="10565780" cy="1754326"/>
          </a:xfrm>
          <a:prstGeom prst="rect">
            <a:avLst/>
          </a:prstGeom>
          <a:noFill/>
        </p:spPr>
        <p:txBody>
          <a:bodyPr wrap="square">
            <a:spAutoFit/>
          </a:bodyPr>
          <a:lstStyle/>
          <a:p>
            <a:pPr>
              <a:buNone/>
            </a:pPr>
            <a:r>
              <a:rPr lang="en-LK" b="1" dirty="0"/>
              <a:t> </a:t>
            </a:r>
          </a:p>
          <a:p>
            <a:pPr>
              <a:buNone/>
            </a:pPr>
            <a:r>
              <a:rPr lang="en-LK" b="1" dirty="0"/>
              <a:t>4. </a:t>
            </a:r>
            <a:r>
              <a:rPr lang="en-GB" b="1" dirty="0"/>
              <a:t>The Turning Point — </a:t>
            </a:r>
            <a:r>
              <a:rPr lang="en-GB" b="1" dirty="0" err="1"/>
              <a:t>AlexNet</a:t>
            </a:r>
            <a:r>
              <a:rPr lang="en-GB" b="1" dirty="0"/>
              <a:t> (2012)</a:t>
            </a:r>
          </a:p>
          <a:p>
            <a:pPr>
              <a:buNone/>
            </a:pPr>
            <a:r>
              <a:rPr lang="en-GB" dirty="0"/>
              <a:t>Built by Alex </a:t>
            </a:r>
            <a:r>
              <a:rPr lang="en-GB" dirty="0" err="1"/>
              <a:t>Krizhevsky</a:t>
            </a:r>
            <a:r>
              <a:rPr lang="en-GB" dirty="0"/>
              <a:t>, Ilya </a:t>
            </a:r>
            <a:r>
              <a:rPr lang="en-GB" dirty="0" err="1"/>
              <a:t>Sutskever</a:t>
            </a:r>
            <a:r>
              <a:rPr lang="en-GB" dirty="0"/>
              <a:t>, and Hinton:</a:t>
            </a:r>
          </a:p>
          <a:p>
            <a:pPr>
              <a:buFont typeface="Arial" panose="020B0604020202020204" pitchFamily="34" charset="0"/>
              <a:buChar char="•"/>
            </a:pPr>
            <a:r>
              <a:rPr lang="en-GB" dirty="0"/>
              <a:t>Crushed previous benchmarks on ImageNet</a:t>
            </a:r>
          </a:p>
          <a:p>
            <a:pPr>
              <a:buFont typeface="Arial" panose="020B0604020202020204" pitchFamily="34" charset="0"/>
              <a:buChar char="•"/>
            </a:pPr>
            <a:r>
              <a:rPr lang="en-GB" dirty="0"/>
              <a:t>Used GPUs + deep CNNs</a:t>
            </a:r>
          </a:p>
          <a:p>
            <a:pPr>
              <a:buFont typeface="Arial" panose="020B0604020202020204" pitchFamily="34" charset="0"/>
              <a:buChar char="•"/>
            </a:pPr>
            <a:r>
              <a:rPr lang="en-GB" dirty="0"/>
              <a:t>Marked the </a:t>
            </a:r>
            <a:r>
              <a:rPr lang="en-GB" b="1" dirty="0"/>
              <a:t>start of the deep learning era</a:t>
            </a:r>
            <a:endParaRPr lang="en-GB" dirty="0"/>
          </a:p>
        </p:txBody>
      </p:sp>
      <p:sp>
        <p:nvSpPr>
          <p:cNvPr id="9" name="TextBox 8">
            <a:extLst>
              <a:ext uri="{FF2B5EF4-FFF2-40B4-BE49-F238E27FC236}">
                <a16:creationId xmlns:a16="http://schemas.microsoft.com/office/drawing/2014/main" id="{88653EE1-E034-207B-19D1-B680A5438EC7}"/>
              </a:ext>
            </a:extLst>
          </p:cNvPr>
          <p:cNvSpPr txBox="1"/>
          <p:nvPr/>
        </p:nvSpPr>
        <p:spPr>
          <a:xfrm>
            <a:off x="462776" y="4844722"/>
            <a:ext cx="11089887" cy="1200329"/>
          </a:xfrm>
          <a:prstGeom prst="rect">
            <a:avLst/>
          </a:prstGeom>
          <a:noFill/>
        </p:spPr>
        <p:txBody>
          <a:bodyPr wrap="square">
            <a:spAutoFit/>
          </a:bodyPr>
          <a:lstStyle/>
          <a:p>
            <a:pPr>
              <a:buNone/>
            </a:pPr>
            <a:r>
              <a:rPr lang="en-LK" b="1" dirty="0"/>
              <a:t>🔗 </a:t>
            </a:r>
            <a:r>
              <a:rPr lang="en-GB" b="1" dirty="0"/>
              <a:t>What It Led To</a:t>
            </a:r>
          </a:p>
          <a:p>
            <a:pPr>
              <a:buNone/>
            </a:pPr>
            <a:r>
              <a:rPr lang="en-GB" dirty="0" err="1"/>
              <a:t>AlexNet</a:t>
            </a:r>
            <a:r>
              <a:rPr lang="en-GB" dirty="0"/>
              <a:t> (2012) → GANs (2014) → </a:t>
            </a:r>
            <a:r>
              <a:rPr lang="en-GB" dirty="0" err="1"/>
              <a:t>ResNet</a:t>
            </a:r>
            <a:r>
              <a:rPr lang="en-GB" dirty="0"/>
              <a:t> (2015) → Transformer (2017) → BERT/GPT-1 (2018) → GPT-3 (2020) → ChatGPT (2022). The throughline is unbroken — internet data, GPU compute, and revived algorithms all converging at ImageNet was the starting gun for modern AI.</a:t>
            </a:r>
          </a:p>
        </p:txBody>
      </p:sp>
    </p:spTree>
    <p:extLst>
      <p:ext uri="{BB962C8B-B14F-4D97-AF65-F5344CB8AC3E}">
        <p14:creationId xmlns:p14="http://schemas.microsoft.com/office/powerpoint/2010/main" val="2545423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2477</Words>
  <Application>Microsoft Macintosh PowerPoint</Application>
  <PresentationFormat>Widescreen</PresentationFormat>
  <Paragraphs>217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Courier New</vt:lpstr>
      <vt:lpstr>Office Theme</vt:lpstr>
      <vt:lpstr>Brief History of  Artificial Intelligence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Maneesha</dc:creator>
  <cp:lastModifiedBy>Maneesha</cp:lastModifiedBy>
  <cp:revision>4</cp:revision>
  <dcterms:created xsi:type="dcterms:W3CDTF">2026-04-22T13:31:42Z</dcterms:created>
  <dcterms:modified xsi:type="dcterms:W3CDTF">2026-04-28T11:15:47Z</dcterms:modified>
</cp:coreProperties>
</file>