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539"/>
  </p:normalViewPr>
  <p:slideViewPr>
    <p:cSldViewPr snapToGrid="0">
      <p:cViewPr varScale="1">
        <p:scale>
          <a:sx n="115" d="100"/>
          <a:sy n="115" d="100"/>
        </p:scale>
        <p:origin x="31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159D-72D6-7E7F-9AA5-7ED34A907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4BF1A2-A62E-5CE0-CE9C-6C3C2B79A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5EDC7-227E-D7E0-A29C-91B16D9F6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0570-421C-F242-9CBD-C462731AF7ED}" type="datetimeFigureOut">
              <a:rPr lang="en-LK" smtClean="0"/>
              <a:t>2026-04-26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25CD-FF45-C60B-114A-8258A0C3B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A7E9-534F-660D-A1DB-69A5F7CBB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7889-B343-C44A-8BFC-C8AB6323405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831333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9FD1-400E-0C51-35A0-8CAE805D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24DAF-2501-55D6-91A5-F6DAF203A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8C796-6D4E-03B9-5F39-86F79DCB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0570-421C-F242-9CBD-C462731AF7ED}" type="datetimeFigureOut">
              <a:rPr lang="en-LK" smtClean="0"/>
              <a:t>2026-04-26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AA610-DD22-4874-38A9-BF2C0B6FC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F9533-8819-789A-7D04-686A7D726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7889-B343-C44A-8BFC-C8AB6323405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539472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B5D5-DCBA-C8B2-8E79-A2FC511E2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FCD3B-6268-2B2A-7899-2BE3323E4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42E84-5FC1-DEA4-6949-7A1EB19E1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0570-421C-F242-9CBD-C462731AF7ED}" type="datetimeFigureOut">
              <a:rPr lang="en-LK" smtClean="0"/>
              <a:t>2026-04-26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C45C4-AD91-CF62-5360-D88FB3FCF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F2B8D-8615-CB19-B7F2-092FBF2B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7889-B343-C44A-8BFC-C8AB6323405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93768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F6C74-CE60-0983-CF23-B3509B1E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2E9B2-2766-2EA1-38A8-A3F437B27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F3054-7C7A-DDEB-E7E5-0C9D592BA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58D1A-79A1-854B-9F34-1A96EBBB2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0570-421C-F242-9CBD-C462731AF7ED}" type="datetimeFigureOut">
              <a:rPr lang="en-LK" smtClean="0"/>
              <a:t>2026-04-26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B6783-1598-EF67-2483-2BEC5BE71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AC0EA-D485-ECEB-044D-A08AAF1D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7889-B343-C44A-8BFC-C8AB6323405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4061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DA25-2938-F33A-74A2-1FD3CA30D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31E92-FECE-0BE7-7F7D-BB0269A8D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B3BA0-958D-B78C-D8E9-A296D8E82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9C2AE-05F9-DE41-B341-9363BC33C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3406E-E928-5120-6909-AF710BA85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7BEA46-16C6-9DA2-9A42-ED110A18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0570-421C-F242-9CBD-C462731AF7ED}" type="datetimeFigureOut">
              <a:rPr lang="en-LK" smtClean="0"/>
              <a:t>2026-04-26</a:t>
            </a:fld>
            <a:endParaRPr lang="en-L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D4D7D0-92D0-CC86-7F5E-356B7DC6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AC944-688C-C3FF-26F3-F59DE2AC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7889-B343-C44A-8BFC-C8AB6323405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547489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83EC-E2E8-0DE6-B547-B40087C0A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98970-F960-A0E6-F9EA-3DEA9BDE5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0570-421C-F242-9CBD-C462731AF7ED}" type="datetimeFigureOut">
              <a:rPr lang="en-LK" smtClean="0"/>
              <a:t>2026-04-26</a:t>
            </a:fld>
            <a:endParaRPr lang="en-L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C36B9F-F3B1-C806-C900-8ACC2A44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EBCE6-C6A9-E88B-CA37-54CC1E0E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7889-B343-C44A-8BFC-C8AB6323405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897233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45F207-56C7-A1A6-B1F0-C7CA3F4D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0570-421C-F242-9CBD-C462731AF7ED}" type="datetimeFigureOut">
              <a:rPr lang="en-LK" smtClean="0"/>
              <a:t>2026-04-26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5569CC-4AFA-1837-FB80-6773AF0A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02CC4-658F-34E0-9F71-D89E1756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7889-B343-C44A-8BFC-C8AB6323405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659986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8A92-200E-BA9C-16E7-4901EB6E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01515-3E74-C60A-2FBD-6180463E6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9B926-ACFE-9CB4-20A0-E3E9CC627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A0BB8-7D80-58CC-A7D5-0E8AD8544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0570-421C-F242-9CBD-C462731AF7ED}" type="datetimeFigureOut">
              <a:rPr lang="en-LK" smtClean="0"/>
              <a:t>2026-04-26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AD7B4-A69B-E2A4-669D-45166B3B2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D75B0-F5DF-0123-4C4E-AF734D25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7889-B343-C44A-8BFC-C8AB6323405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958371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0D94-2ED2-CA47-6433-95CC458A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0CBAB4-E851-8B2E-9244-57093563E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3E810-488D-1F30-ADD1-0C48FBE45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9A3FC-7AE7-15E7-45A8-2B14F1FA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0570-421C-F242-9CBD-C462731AF7ED}" type="datetimeFigureOut">
              <a:rPr lang="en-LK" smtClean="0"/>
              <a:t>2026-04-26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C9799-58D0-96EA-C245-B2ED4579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38824-35A7-505C-3421-1FB04BB51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7889-B343-C44A-8BFC-C8AB6323405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166826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EFAA-919D-A490-A7E3-21E140F3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43285-2689-C5EF-7042-2542CBA24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525A7-C471-FD83-116A-6CEC0B2C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0570-421C-F242-9CBD-C462731AF7ED}" type="datetimeFigureOut">
              <a:rPr lang="en-LK" smtClean="0"/>
              <a:t>2026-04-26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336D9-69E0-F905-6C38-974647E1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BE456-B321-7169-7047-0DCD78147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7889-B343-C44A-8BFC-C8AB6323405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536464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688900-C15C-CA5D-851C-2E2D34D91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AB423-8626-CE18-8BAB-F4A531A7C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2830-D199-8678-3E3D-2125E186C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A0570-421C-F242-9CBD-C462731AF7ED}" type="datetimeFigureOut">
              <a:rPr lang="en-LK" smtClean="0"/>
              <a:t>2026-04-26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6ACE2-6BAB-C80F-DB2D-499B38031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EF804-B528-34C3-DAF2-CF1F5475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17889-B343-C44A-8BFC-C8AB6323405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51300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69FB8A-6E53-0EC0-C111-26482C7C3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BF916-8DFD-6DEB-9EB0-7F818943E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37F63-CE86-B61C-B593-03E3625A03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A0570-421C-F242-9CBD-C462731AF7ED}" type="datetimeFigureOut">
              <a:rPr lang="en-LK" smtClean="0"/>
              <a:t>2026-04-26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36536-9750-962F-9B7F-DFF8A01983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C5CAB-B3D7-9ACF-6FAB-17412141F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17889-B343-C44A-8BFC-C8AB6323405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060261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8112-6B43-054A-E591-D49C3D3F0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726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Batching, token embedding, and positional encoding</a:t>
            </a:r>
            <a:br>
              <a:rPr lang="en-GB" dirty="0"/>
            </a:br>
            <a:endParaRPr lang="en-L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3F9C7-2AEE-F2F3-0882-32822014D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en-LK" dirty="0"/>
              <a:t>A lecture by Maneesha Rajapaksha</a:t>
            </a:r>
          </a:p>
        </p:txBody>
      </p:sp>
      <p:pic>
        <p:nvPicPr>
          <p:cNvPr id="5" name="Picture 4" descr="A blue and yellow logo&#10;&#10;AI-generated content may be incorrect.">
            <a:extLst>
              <a:ext uri="{FF2B5EF4-FFF2-40B4-BE49-F238E27FC236}">
                <a16:creationId xmlns:a16="http://schemas.microsoft.com/office/drawing/2014/main" id="{BA2089B0-C097-D1B2-A433-95FD27A98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271" y="1911272"/>
            <a:ext cx="3035455" cy="303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3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7B1A34-3A51-4B2D-8AC4-B70F218C89DB}"/>
              </a:ext>
            </a:extLst>
          </p:cNvPr>
          <p:cNvSpPr txBox="1"/>
          <p:nvPr/>
        </p:nvSpPr>
        <p:spPr>
          <a:xfrm>
            <a:off x="286439" y="187287"/>
            <a:ext cx="192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b="1" dirty="0"/>
              <a:t>3 steps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66DFC0-BDDE-CF22-C617-78764BCD5F57}"/>
              </a:ext>
            </a:extLst>
          </p:cNvPr>
          <p:cNvSpPr txBox="1"/>
          <p:nvPr/>
        </p:nvSpPr>
        <p:spPr>
          <a:xfrm>
            <a:off x="286439" y="667563"/>
            <a:ext cx="6097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raw text → tokens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tokens → </a:t>
            </a:r>
            <a:r>
              <a:rPr lang="en-GB" dirty="0">
                <a:latin typeface="Courier New" panose="02070309020205020404" pitchFamily="49" charset="0"/>
              </a:rPr>
              <a:t>x</a:t>
            </a:r>
            <a:r>
              <a:rPr lang="en-GB" dirty="0"/>
              <a:t> and </a:t>
            </a:r>
            <a:r>
              <a:rPr lang="en-GB" dirty="0">
                <a:latin typeface="Courier New" panose="02070309020205020404" pitchFamily="49" charset="0"/>
              </a:rPr>
              <a:t>y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batching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A76150-B2EE-6ECC-52BF-C6EBE2B8865E}"/>
              </a:ext>
            </a:extLst>
          </p:cNvPr>
          <p:cNvSpPr txBox="1"/>
          <p:nvPr/>
        </p:nvSpPr>
        <p:spPr>
          <a:xfrm>
            <a:off x="286439" y="1814239"/>
            <a:ext cx="6097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b="1" dirty="0"/>
              <a:t>1.</a:t>
            </a:r>
          </a:p>
          <a:p>
            <a:r>
              <a:rPr lang="en-LK" dirty="0"/>
              <a:t>data.txt:</a:t>
            </a:r>
          </a:p>
          <a:p>
            <a:r>
              <a:rPr lang="en-LK" dirty="0"/>
              <a:t>"I love AI. AI loves data."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EE5C76-245F-FFB6-8DF8-5AD1748B3008}"/>
              </a:ext>
            </a:extLst>
          </p:cNvPr>
          <p:cNvSpPr txBox="1"/>
          <p:nvPr/>
        </p:nvSpPr>
        <p:spPr>
          <a:xfrm>
            <a:off x="286439" y="2960915"/>
            <a:ext cx="609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b="1" dirty="0"/>
              <a:t>2.</a:t>
            </a:r>
          </a:p>
          <a:p>
            <a:r>
              <a:rPr lang="en-LK" dirty="0"/>
              <a:t>"I love AI. AI loves data."</a:t>
            </a:r>
          </a:p>
          <a:p>
            <a:r>
              <a:rPr lang="en-LK" dirty="0"/>
              <a:t>↓</a:t>
            </a:r>
          </a:p>
          <a:p>
            <a:r>
              <a:rPr lang="en-LK" dirty="0"/>
              <a:t>[40, 502, 1234, 13, 1234, 789, 456, 13]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DE4FB-D553-88A5-FA2E-DD0EA68A3877}"/>
              </a:ext>
            </a:extLst>
          </p:cNvPr>
          <p:cNvSpPr txBox="1"/>
          <p:nvPr/>
        </p:nvSpPr>
        <p:spPr>
          <a:xfrm>
            <a:off x="286439" y="4384590"/>
            <a:ext cx="60978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b="1" dirty="0"/>
              <a:t>3.</a:t>
            </a:r>
          </a:p>
          <a:p>
            <a:r>
              <a:rPr lang="en-LK" dirty="0"/>
              <a:t>block_size = 4</a:t>
            </a:r>
          </a:p>
          <a:p>
            <a:r>
              <a:rPr lang="en-GB" dirty="0"/>
              <a:t>Sequence 1: [t0, t1, t2, t3]</a:t>
            </a:r>
          </a:p>
          <a:p>
            <a:r>
              <a:rPr lang="en-GB" dirty="0"/>
              <a:t>Sequence 2: [t1, t2, t3, t4]</a:t>
            </a:r>
          </a:p>
          <a:p>
            <a:r>
              <a:rPr lang="en-GB" dirty="0"/>
              <a:t>Sequence 3: [t2, t3, t4, t5]</a:t>
            </a:r>
          </a:p>
          <a:p>
            <a:r>
              <a:rPr lang="en-GB" dirty="0"/>
              <a:t>This is called a </a:t>
            </a:r>
            <a:r>
              <a:rPr lang="en-GB" b="1" dirty="0"/>
              <a:t>sliding window over tokens</a:t>
            </a:r>
            <a:r>
              <a:rPr lang="en-GB" dirty="0"/>
              <a:t> </a:t>
            </a:r>
          </a:p>
          <a:p>
            <a:endParaRPr lang="en-L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C07029-8422-30C2-3BFE-1746510B2145}"/>
              </a:ext>
            </a:extLst>
          </p:cNvPr>
          <p:cNvSpPr txBox="1"/>
          <p:nvPr/>
        </p:nvSpPr>
        <p:spPr>
          <a:xfrm>
            <a:off x="6094164" y="187287"/>
            <a:ext cx="60978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4.</a:t>
            </a:r>
          </a:p>
          <a:p>
            <a:pPr>
              <a:buNone/>
            </a:pPr>
            <a:r>
              <a:rPr lang="en-GB" dirty="0"/>
              <a:t>x = [t0, t1, t2, t3]</a:t>
            </a:r>
          </a:p>
          <a:p>
            <a:pPr>
              <a:buNone/>
            </a:pPr>
            <a:r>
              <a:rPr lang="en-GB" dirty="0"/>
              <a:t>y = [t1, t2, t3, t4]</a:t>
            </a:r>
          </a:p>
          <a:p>
            <a:r>
              <a:rPr lang="en-GB" b="1" dirty="0"/>
              <a:t>y is just x shifted by 1</a:t>
            </a:r>
            <a:endParaRPr lang="en-GB" dirty="0"/>
          </a:p>
          <a:p>
            <a:pPr>
              <a:buNone/>
            </a:pP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8F416F-CFBB-C34A-5A72-FF0CE4A9E4A1}"/>
              </a:ext>
            </a:extLst>
          </p:cNvPr>
          <p:cNvSpPr txBox="1"/>
          <p:nvPr/>
        </p:nvSpPr>
        <p:spPr>
          <a:xfrm>
            <a:off x="6094164" y="1851100"/>
            <a:ext cx="609783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b="1" dirty="0"/>
              <a:t>5.</a:t>
            </a:r>
          </a:p>
          <a:p>
            <a:r>
              <a:rPr lang="en-LK" dirty="0"/>
              <a:t>batch_size = 2 </a:t>
            </a:r>
          </a:p>
          <a:p>
            <a:r>
              <a:rPr lang="en-LK" dirty="0"/>
              <a:t>block_size = 4 (gpt 2 -1024)</a:t>
            </a:r>
          </a:p>
          <a:p>
            <a:endParaRPr lang="en-LK" dirty="0"/>
          </a:p>
          <a:p>
            <a:r>
              <a:rPr lang="en-GB" dirty="0"/>
              <a:t>x:</a:t>
            </a:r>
          </a:p>
          <a:p>
            <a:r>
              <a:rPr lang="en-GB" dirty="0"/>
              <a:t>[</a:t>
            </a:r>
          </a:p>
          <a:p>
            <a:r>
              <a:rPr lang="en-GB" dirty="0"/>
              <a:t>  [t0, t1, t2, t3],</a:t>
            </a:r>
          </a:p>
          <a:p>
            <a:r>
              <a:rPr lang="en-GB" dirty="0"/>
              <a:t>  [t1, t2, t3, t4]</a:t>
            </a:r>
          </a:p>
          <a:p>
            <a:r>
              <a:rPr lang="en-GB" dirty="0"/>
              <a:t>]</a:t>
            </a:r>
          </a:p>
          <a:p>
            <a:endParaRPr lang="en-GB" dirty="0"/>
          </a:p>
          <a:p>
            <a:r>
              <a:rPr lang="en-GB" dirty="0"/>
              <a:t>y:</a:t>
            </a:r>
          </a:p>
          <a:p>
            <a:r>
              <a:rPr lang="en-GB" dirty="0"/>
              <a:t>[</a:t>
            </a:r>
          </a:p>
          <a:p>
            <a:r>
              <a:rPr lang="en-GB" dirty="0"/>
              <a:t>  [t1, t2, t3, t4],</a:t>
            </a:r>
          </a:p>
          <a:p>
            <a:r>
              <a:rPr lang="en-GB" dirty="0"/>
              <a:t>  [t2, t3, t4, t5]</a:t>
            </a:r>
          </a:p>
          <a:p>
            <a:r>
              <a:rPr lang="en-GB" dirty="0"/>
              <a:t>]</a:t>
            </a: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2499292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670F73E-C0F5-2509-EF58-54C1B2E54F47}"/>
              </a:ext>
            </a:extLst>
          </p:cNvPr>
          <p:cNvSpPr txBox="1"/>
          <p:nvPr/>
        </p:nvSpPr>
        <p:spPr>
          <a:xfrm>
            <a:off x="327751" y="176525"/>
            <a:ext cx="609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import torch</a:t>
            </a:r>
          </a:p>
          <a:p>
            <a:pPr>
              <a:buNone/>
            </a:pPr>
            <a:r>
              <a:rPr lang="en-GB" dirty="0"/>
              <a:t>import </a:t>
            </a:r>
            <a:r>
              <a:rPr lang="en-GB" dirty="0" err="1"/>
              <a:t>tiktoken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85C9A1-BED4-54ED-FA64-FE7EC8B61A0B}"/>
              </a:ext>
            </a:extLst>
          </p:cNvPr>
          <p:cNvSpPr txBox="1"/>
          <p:nvPr/>
        </p:nvSpPr>
        <p:spPr>
          <a:xfrm>
            <a:off x="327751" y="1024824"/>
            <a:ext cx="609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with open('</a:t>
            </a:r>
            <a:r>
              <a:rPr lang="en-GB" dirty="0" err="1"/>
              <a:t>data.txt</a:t>
            </a:r>
            <a:r>
              <a:rPr lang="en-GB" dirty="0"/>
              <a:t>', 'r', encoding='utf-8') as f:</a:t>
            </a:r>
          </a:p>
          <a:p>
            <a:pPr>
              <a:buNone/>
            </a:pPr>
            <a:r>
              <a:rPr lang="en-GB" dirty="0"/>
              <a:t>    text = </a:t>
            </a:r>
            <a:r>
              <a:rPr lang="en-GB" dirty="0" err="1"/>
              <a:t>f.read</a:t>
            </a:r>
            <a:r>
              <a:rPr lang="en-GB" dirty="0"/>
              <a:t>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708041-5063-00FB-7864-AE972E487FE2}"/>
              </a:ext>
            </a:extLst>
          </p:cNvPr>
          <p:cNvSpPr txBox="1"/>
          <p:nvPr/>
        </p:nvSpPr>
        <p:spPr>
          <a:xfrm>
            <a:off x="327751" y="1873123"/>
            <a:ext cx="60978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enc = </a:t>
            </a:r>
            <a:r>
              <a:rPr lang="en-GB" dirty="0" err="1"/>
              <a:t>tiktoken.get_encoding</a:t>
            </a:r>
            <a:r>
              <a:rPr lang="en-GB" dirty="0"/>
              <a:t>("gpt2")</a:t>
            </a:r>
          </a:p>
          <a:p>
            <a:pPr>
              <a:buNone/>
            </a:pPr>
            <a:r>
              <a:rPr lang="en-GB" dirty="0"/>
              <a:t>tokens = </a:t>
            </a:r>
            <a:r>
              <a:rPr lang="en-GB" dirty="0" err="1"/>
              <a:t>enc.encode</a:t>
            </a:r>
            <a:r>
              <a:rPr lang="en-GB" dirty="0"/>
              <a:t>(text)</a:t>
            </a:r>
          </a:p>
          <a:p>
            <a:r>
              <a:rPr lang="en-GB" dirty="0"/>
              <a:t>data = </a:t>
            </a:r>
            <a:r>
              <a:rPr lang="en-GB" dirty="0" err="1"/>
              <a:t>torch.tensor</a:t>
            </a:r>
            <a:r>
              <a:rPr lang="en-GB" dirty="0"/>
              <a:t>(tokens, </a:t>
            </a:r>
            <a:r>
              <a:rPr lang="en-GB" dirty="0" err="1"/>
              <a:t>dtype</a:t>
            </a:r>
            <a:r>
              <a:rPr lang="en-GB" dirty="0"/>
              <a:t>=</a:t>
            </a:r>
            <a:r>
              <a:rPr lang="en-GB" dirty="0" err="1"/>
              <a:t>torch.long</a:t>
            </a:r>
            <a:r>
              <a:rPr lang="en-GB" dirty="0"/>
              <a:t>)</a:t>
            </a:r>
          </a:p>
          <a:p>
            <a:r>
              <a:rPr lang="en-GB" dirty="0" err="1"/>
              <a:t>block_size</a:t>
            </a:r>
            <a:r>
              <a:rPr lang="en-GB" dirty="0"/>
              <a:t> = 8  </a:t>
            </a:r>
          </a:p>
          <a:p>
            <a:r>
              <a:rPr lang="en-GB" dirty="0" err="1"/>
              <a:t>batch_size</a:t>
            </a:r>
            <a:r>
              <a:rPr lang="en-GB" dirty="0"/>
              <a:t> = 4 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BE31C0-72A0-C518-F849-A50343AB8AEF}"/>
              </a:ext>
            </a:extLst>
          </p:cNvPr>
          <p:cNvSpPr txBox="1"/>
          <p:nvPr/>
        </p:nvSpPr>
        <p:spPr>
          <a:xfrm>
            <a:off x="327751" y="3829417"/>
            <a:ext cx="60978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def get_batch(data):</a:t>
            </a:r>
          </a:p>
          <a:p>
            <a:r>
              <a:rPr lang="en-LK" dirty="0"/>
              <a:t>    ix=torch.randint(len(data)-block_size-1,(batch_size,))</a:t>
            </a:r>
          </a:p>
          <a:p>
            <a:r>
              <a:rPr lang="en-LK" dirty="0"/>
              <a:t>    x=torch.stack([data[i:i+block_size]for i in ix])</a:t>
            </a:r>
          </a:p>
          <a:p>
            <a:r>
              <a:rPr lang="en-LK" dirty="0"/>
              <a:t>    y=torch.stack([data[i+1:i+block_size+1]for i in ix])</a:t>
            </a:r>
          </a:p>
          <a:p>
            <a:r>
              <a:rPr lang="en-LK" dirty="0"/>
              <a:t>    return x,y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1AE21D-DF35-8DB7-D391-A5265ADD2C1A}"/>
              </a:ext>
            </a:extLst>
          </p:cNvPr>
          <p:cNvSpPr txBox="1"/>
          <p:nvPr/>
        </p:nvSpPr>
        <p:spPr>
          <a:xfrm>
            <a:off x="327751" y="5508713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x, y = </a:t>
            </a:r>
            <a:r>
              <a:rPr lang="en-GB" dirty="0" err="1"/>
              <a:t>get_batch</a:t>
            </a:r>
            <a:r>
              <a:rPr lang="en-GB" dirty="0"/>
              <a:t>(data)</a:t>
            </a:r>
          </a:p>
        </p:txBody>
      </p:sp>
    </p:spTree>
    <p:extLst>
      <p:ext uri="{BB962C8B-B14F-4D97-AF65-F5344CB8AC3E}">
        <p14:creationId xmlns:p14="http://schemas.microsoft.com/office/powerpoint/2010/main" val="4097246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C4DE56-540B-80B3-5CB0-79F261E5AB73}"/>
              </a:ext>
            </a:extLst>
          </p:cNvPr>
          <p:cNvSpPr txBox="1"/>
          <p:nvPr/>
        </p:nvSpPr>
        <p:spPr>
          <a:xfrm>
            <a:off x="83634" y="0"/>
            <a:ext cx="6099716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import torch</a:t>
            </a:r>
          </a:p>
          <a:p>
            <a:r>
              <a:rPr lang="en-LK" dirty="0"/>
              <a:t>from torch.utils.data import Dataset, DataLoader</a:t>
            </a:r>
          </a:p>
          <a:p>
            <a:r>
              <a:rPr lang="en-LK" dirty="0"/>
              <a:t>import tiktoken</a:t>
            </a:r>
          </a:p>
          <a:p>
            <a:endParaRPr lang="en-LK" dirty="0"/>
          </a:p>
          <a:p>
            <a:r>
              <a:rPr lang="en-LK" dirty="0"/>
              <a:t>class GPTDataset(Dataset):</a:t>
            </a:r>
          </a:p>
          <a:p>
            <a:r>
              <a:rPr lang="en-LK" dirty="0"/>
              <a:t>    def __init__(self, text, block_size, stride):</a:t>
            </a:r>
          </a:p>
          <a:p>
            <a:r>
              <a:rPr lang="en-LK" dirty="0"/>
              <a:t>        enc = tiktoken.get_encoding("gpt2")</a:t>
            </a:r>
          </a:p>
          <a:p>
            <a:r>
              <a:rPr lang="en-LK" dirty="0"/>
              <a:t>        tokens = enc.encode(text)</a:t>
            </a:r>
          </a:p>
          <a:p>
            <a:endParaRPr lang="en-LK" dirty="0"/>
          </a:p>
          <a:p>
            <a:r>
              <a:rPr lang="en-LK" dirty="0"/>
              <a:t>        self.data = torch.tensor(tokens, dtype=torch.long)</a:t>
            </a:r>
          </a:p>
          <a:p>
            <a:r>
              <a:rPr lang="en-LK" dirty="0"/>
              <a:t>        self.block_size = block_size</a:t>
            </a:r>
          </a:p>
          <a:p>
            <a:r>
              <a:rPr lang="en-LK" dirty="0"/>
              <a:t>        self.stride = stride</a:t>
            </a:r>
          </a:p>
          <a:p>
            <a:endParaRPr lang="en-LK" dirty="0"/>
          </a:p>
          <a:p>
            <a:r>
              <a:rPr lang="en-LK" dirty="0"/>
              <a:t>        self.samples = []</a:t>
            </a:r>
          </a:p>
          <a:p>
            <a:endParaRPr lang="en-LK" dirty="0"/>
          </a:p>
          <a:p>
            <a:r>
              <a:rPr lang="en-LK" dirty="0"/>
              <a:t>        for i in range(0, len(self.data) - block_size - 1, stride):</a:t>
            </a:r>
          </a:p>
          <a:p>
            <a:r>
              <a:rPr lang="en-LK" dirty="0"/>
              <a:t>            x = self.data[i:i+block_size]</a:t>
            </a:r>
          </a:p>
          <a:p>
            <a:r>
              <a:rPr lang="en-LK" dirty="0"/>
              <a:t>            y = self.data[i+1:i+block_size+1]</a:t>
            </a:r>
          </a:p>
          <a:p>
            <a:r>
              <a:rPr lang="en-LK" dirty="0"/>
              <a:t>            self.samples.append((x, y))</a:t>
            </a:r>
          </a:p>
          <a:p>
            <a:endParaRPr lang="en-LK" dirty="0"/>
          </a:p>
          <a:p>
            <a:r>
              <a:rPr lang="en-LK" dirty="0"/>
              <a:t>    def __len__(self):</a:t>
            </a:r>
          </a:p>
          <a:p>
            <a:r>
              <a:rPr lang="en-LK" dirty="0"/>
              <a:t>        return len(self.samples)</a:t>
            </a:r>
          </a:p>
          <a:p>
            <a:endParaRPr lang="en-LK" dirty="0"/>
          </a:p>
          <a:p>
            <a:r>
              <a:rPr lang="en-LK" dirty="0"/>
              <a:t>    def __getitem__(self, idx):</a:t>
            </a:r>
          </a:p>
          <a:p>
            <a:r>
              <a:rPr lang="en-LK" dirty="0"/>
              <a:t>        return self.samples[idx]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C8ADA-58A3-F2C0-0C61-7BB7AC36DC60}"/>
              </a:ext>
            </a:extLst>
          </p:cNvPr>
          <p:cNvSpPr txBox="1"/>
          <p:nvPr/>
        </p:nvSpPr>
        <p:spPr>
          <a:xfrm>
            <a:off x="6183350" y="220770"/>
            <a:ext cx="60997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with open("data.txt", "r", encoding="utf-8") as f:</a:t>
            </a:r>
          </a:p>
          <a:p>
            <a:r>
              <a:rPr lang="en-LK" dirty="0"/>
              <a:t>    text = f.read()</a:t>
            </a:r>
          </a:p>
          <a:p>
            <a:endParaRPr lang="en-LK" dirty="0"/>
          </a:p>
          <a:p>
            <a:r>
              <a:rPr lang="en-LK" dirty="0"/>
              <a:t>block_size = 8</a:t>
            </a:r>
          </a:p>
          <a:p>
            <a:r>
              <a:rPr lang="en-LK" dirty="0"/>
              <a:t>stride = 4</a:t>
            </a:r>
          </a:p>
          <a:p>
            <a:r>
              <a:rPr lang="en-LK" dirty="0"/>
              <a:t>batch_size = 4</a:t>
            </a:r>
          </a:p>
          <a:p>
            <a:endParaRPr lang="en-LK" dirty="0"/>
          </a:p>
          <a:p>
            <a:r>
              <a:rPr lang="en-LK" dirty="0"/>
              <a:t>dataset = GPTDataset(text, block_size, stride)</a:t>
            </a:r>
          </a:p>
          <a:p>
            <a:endParaRPr lang="en-LK" dirty="0"/>
          </a:p>
          <a:p>
            <a:r>
              <a:rPr lang="en-LK" dirty="0"/>
              <a:t>loader = DataLoader(</a:t>
            </a:r>
          </a:p>
          <a:p>
            <a:r>
              <a:rPr lang="en-LK" dirty="0"/>
              <a:t>    dataset,</a:t>
            </a:r>
          </a:p>
          <a:p>
            <a:r>
              <a:rPr lang="en-LK" dirty="0"/>
              <a:t>    batch_size=batch_size,</a:t>
            </a:r>
          </a:p>
          <a:p>
            <a:r>
              <a:rPr lang="en-LK" dirty="0"/>
              <a:t>    shuffle=True</a:t>
            </a:r>
          </a:p>
          <a:p>
            <a:r>
              <a:rPr lang="en-LK" dirty="0"/>
              <a:t>)</a:t>
            </a:r>
          </a:p>
          <a:p>
            <a:endParaRPr lang="en-LK" dirty="0"/>
          </a:p>
          <a:p>
            <a:r>
              <a:rPr lang="en-LK" dirty="0"/>
              <a:t>for x, y in loader:</a:t>
            </a:r>
          </a:p>
          <a:p>
            <a:r>
              <a:rPr lang="en-LK" dirty="0"/>
              <a:t>    print(x.shape, y.shape)</a:t>
            </a:r>
          </a:p>
          <a:p>
            <a:r>
              <a:rPr lang="en-LK" dirty="0"/>
              <a:t>    break</a:t>
            </a:r>
          </a:p>
        </p:txBody>
      </p:sp>
    </p:spTree>
    <p:extLst>
      <p:ext uri="{BB962C8B-B14F-4D97-AF65-F5344CB8AC3E}">
        <p14:creationId xmlns:p14="http://schemas.microsoft.com/office/powerpoint/2010/main" val="3118925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2619FC-A639-5CBC-33C2-7878B340771B}"/>
              </a:ext>
            </a:extLst>
          </p:cNvPr>
          <p:cNvSpPr txBox="1"/>
          <p:nvPr/>
        </p:nvSpPr>
        <p:spPr>
          <a:xfrm>
            <a:off x="680225" y="144966"/>
            <a:ext cx="2140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Token embeddings</a:t>
            </a:r>
          </a:p>
        </p:txBody>
      </p:sp>
      <p:pic>
        <p:nvPicPr>
          <p:cNvPr id="8" name="Picture 7" descr="A diagram of a word&#10;&#10;AI-generated content may be incorrect.">
            <a:extLst>
              <a:ext uri="{FF2B5EF4-FFF2-40B4-BE49-F238E27FC236}">
                <a16:creationId xmlns:a16="http://schemas.microsoft.com/office/drawing/2014/main" id="{72B7F0DD-B9BF-C23F-FE16-5B73F791A8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575"/>
          <a:stretch>
            <a:fillRect/>
          </a:stretch>
        </p:blipFill>
        <p:spPr>
          <a:xfrm>
            <a:off x="680225" y="660624"/>
            <a:ext cx="6683802" cy="513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96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5E99F4D-F972-53F0-A6C7-5ED9A41EF64C}"/>
              </a:ext>
            </a:extLst>
          </p:cNvPr>
          <p:cNvSpPr txBox="1"/>
          <p:nvPr/>
        </p:nvSpPr>
        <p:spPr>
          <a:xfrm>
            <a:off x="473927" y="200711"/>
            <a:ext cx="60997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import torch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vocab_size</a:t>
            </a:r>
            <a:r>
              <a:rPr lang="en-GB" dirty="0"/>
              <a:t> = 6</a:t>
            </a:r>
            <a:br>
              <a:rPr lang="en-GB" dirty="0"/>
            </a:br>
            <a:r>
              <a:rPr lang="en-GB" dirty="0" err="1"/>
              <a:t>output_dim</a:t>
            </a:r>
            <a:r>
              <a:rPr lang="en-GB" dirty="0"/>
              <a:t> = 3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token_embedding_layer</a:t>
            </a:r>
            <a:r>
              <a:rPr lang="en-GB" dirty="0"/>
              <a:t> = </a:t>
            </a:r>
            <a:r>
              <a:rPr lang="en-GB" dirty="0" err="1"/>
              <a:t>torch.nn.Embedding</a:t>
            </a:r>
            <a:r>
              <a:rPr lang="en-GB" dirty="0"/>
              <a:t>(</a:t>
            </a:r>
            <a:r>
              <a:rPr lang="en-GB" dirty="0" err="1"/>
              <a:t>vocab_size</a:t>
            </a:r>
            <a:r>
              <a:rPr lang="en-GB" dirty="0"/>
              <a:t>, </a:t>
            </a:r>
            <a:r>
              <a:rPr lang="en-GB" dirty="0" err="1"/>
              <a:t>output_dim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print(</a:t>
            </a:r>
            <a:r>
              <a:rPr lang="en-GB" dirty="0" err="1"/>
              <a:t>token_embedding_layer.weight</a:t>
            </a:r>
            <a:r>
              <a:rPr lang="en-GB" dirty="0"/>
              <a:t>)</a:t>
            </a:r>
          </a:p>
          <a:p>
            <a:pPr>
              <a:buNone/>
            </a:pPr>
            <a:endParaRPr lang="en-GB" sz="18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D86229-4DFF-A8D8-7D0D-59990CBCAEF4}"/>
              </a:ext>
            </a:extLst>
          </p:cNvPr>
          <p:cNvSpPr txBox="1"/>
          <p:nvPr/>
        </p:nvSpPr>
        <p:spPr>
          <a:xfrm>
            <a:off x="473927" y="3277546"/>
            <a:ext cx="60997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Parameter containing:</a:t>
            </a:r>
          </a:p>
          <a:p>
            <a:r>
              <a:rPr lang="en-LK" dirty="0"/>
              <a:t>tensor([[-0.8068, -0.6655, -1.4995],</a:t>
            </a:r>
          </a:p>
          <a:p>
            <a:r>
              <a:rPr lang="en-LK" dirty="0"/>
              <a:t>        [-1.4348, -0.8587,  2.0301],</a:t>
            </a:r>
          </a:p>
          <a:p>
            <a:r>
              <a:rPr lang="en-LK" dirty="0"/>
              <a:t>        [-0.6179, -1.6250, -0.1482],</a:t>
            </a:r>
          </a:p>
          <a:p>
            <a:r>
              <a:rPr lang="en-LK" dirty="0"/>
              <a:t>        [-0.0923, -1.7586, -0.5960],</a:t>
            </a:r>
          </a:p>
          <a:p>
            <a:r>
              <a:rPr lang="en-LK" dirty="0"/>
              <a:t>        [-0.8365,  1.6584, -0.2558],</a:t>
            </a:r>
          </a:p>
          <a:p>
            <a:r>
              <a:rPr lang="en-LK" dirty="0"/>
              <a:t>        [-1.1955,  0.4225, -0.6651]], requires_grad=True)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A47020-6287-6C8D-ACFC-C3185E1A89C7}"/>
              </a:ext>
            </a:extLst>
          </p:cNvPr>
          <p:cNvSpPr txBox="1"/>
          <p:nvPr/>
        </p:nvSpPr>
        <p:spPr>
          <a:xfrm>
            <a:off x="6573643" y="200711"/>
            <a:ext cx="60997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 err="1">
                <a:effectLst/>
                <a:latin typeface=".AppleSystemUIFontMonospaced"/>
              </a:rPr>
              <a:t>data_iter</a:t>
            </a:r>
            <a:r>
              <a:rPr lang="en-GB" dirty="0">
                <a:effectLst/>
                <a:latin typeface=".AppleSystemUIFontMonospaced"/>
              </a:rPr>
              <a:t> = iter(loader)</a:t>
            </a:r>
          </a:p>
          <a:p>
            <a:pPr>
              <a:buNone/>
            </a:pPr>
            <a:r>
              <a:rPr lang="en-GB" dirty="0">
                <a:effectLst/>
                <a:latin typeface=".AppleSystemUIFontMonospaced"/>
              </a:rPr>
              <a:t>inputs, targets = next(</a:t>
            </a:r>
            <a:r>
              <a:rPr lang="en-GB" dirty="0" err="1">
                <a:effectLst/>
                <a:latin typeface=".AppleSystemUIFontMonospaced"/>
              </a:rPr>
              <a:t>data_iter</a:t>
            </a:r>
            <a:r>
              <a:rPr lang="en-GB" dirty="0">
                <a:effectLst/>
                <a:latin typeface=".AppleSystemUIFontMonospaced"/>
              </a:rPr>
              <a:t>)</a:t>
            </a:r>
          </a:p>
          <a:p>
            <a:r>
              <a:rPr lang="en-GB" dirty="0" err="1"/>
              <a:t>token_embeddings</a:t>
            </a:r>
            <a:r>
              <a:rPr lang="en-GB" dirty="0"/>
              <a:t> </a:t>
            </a:r>
            <a:r>
              <a:rPr lang="en-GB" b="1" dirty="0"/>
              <a:t>=</a:t>
            </a:r>
            <a:r>
              <a:rPr lang="en-GB" dirty="0"/>
              <a:t> </a:t>
            </a:r>
            <a:r>
              <a:rPr lang="en-GB" dirty="0" err="1"/>
              <a:t>token_embedding_layer</a:t>
            </a:r>
            <a:r>
              <a:rPr lang="en-GB" dirty="0"/>
              <a:t>(inputs)</a:t>
            </a:r>
          </a:p>
          <a:p>
            <a:r>
              <a:rPr lang="en-GB" dirty="0"/>
              <a:t>print(</a:t>
            </a:r>
            <a:r>
              <a:rPr lang="en-GB" dirty="0" err="1"/>
              <a:t>token_embeddings</a:t>
            </a:r>
            <a:r>
              <a:rPr lang="en-GB" b="1" dirty="0" err="1"/>
              <a:t>.</a:t>
            </a:r>
            <a:r>
              <a:rPr lang="en-GB" dirty="0" err="1"/>
              <a:t>shape</a:t>
            </a:r>
            <a:r>
              <a:rPr lang="en-GB" dirty="0"/>
              <a:t>)</a:t>
            </a:r>
          </a:p>
          <a:p>
            <a:pPr>
              <a:buNone/>
            </a:pPr>
            <a:endParaRPr lang="en-GB" dirty="0">
              <a:effectLst/>
              <a:latin typeface=".AppleSystemUIFontMonospaced"/>
            </a:endParaRPr>
          </a:p>
          <a:p>
            <a:pPr>
              <a:buNone/>
            </a:pPr>
            <a:endParaRPr lang="en-GB" dirty="0">
              <a:effectLst/>
              <a:latin typeface=".AppleSystemUIFontMonospaced"/>
            </a:endParaRPr>
          </a:p>
        </p:txBody>
      </p:sp>
    </p:spTree>
    <p:extLst>
      <p:ext uri="{BB962C8B-B14F-4D97-AF65-F5344CB8AC3E}">
        <p14:creationId xmlns:p14="http://schemas.microsoft.com/office/powerpoint/2010/main" val="267918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C03AE-E413-F84F-A71D-942A97869638}"/>
              </a:ext>
            </a:extLst>
          </p:cNvPr>
          <p:cNvSpPr txBox="1"/>
          <p:nvPr/>
        </p:nvSpPr>
        <p:spPr>
          <a:xfrm>
            <a:off x="529684" y="233505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77"/>
              </a:spcBef>
              <a:spcAft>
                <a:spcPts val="726"/>
              </a:spcAft>
              <a:buNone/>
            </a:pPr>
            <a:r>
              <a:rPr lang="en-GB" b="1" i="0" dirty="0">
                <a:effectLst/>
                <a:latin typeface="system-ui"/>
              </a:rPr>
              <a:t>Encoding word positions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F5CC9B-2785-C5BC-0B8C-8C4D02B9B8BA}"/>
              </a:ext>
            </a:extLst>
          </p:cNvPr>
          <p:cNvSpPr txBox="1"/>
          <p:nvPr/>
        </p:nvSpPr>
        <p:spPr>
          <a:xfrm>
            <a:off x="529683" y="843677"/>
            <a:ext cx="111679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Transformers process all tokens </a:t>
            </a:r>
            <a:r>
              <a:rPr lang="en-GB" b="1" dirty="0"/>
              <a:t>in parallel</a:t>
            </a:r>
            <a:r>
              <a:rPr lang="en-GB" dirty="0"/>
              <a:t> — unlike RNNs, there's no inherent left-to-right pass that would naturally encode order. Self-attention is </a:t>
            </a:r>
            <a:r>
              <a:rPr lang="en-GB" b="1" dirty="0"/>
              <a:t>permutation-invariant</a:t>
            </a:r>
            <a:r>
              <a:rPr lang="en-GB" dirty="0"/>
              <a:t>: swap "cat sat on the mat" to "mat on the cat sat", and without extra information, the model sees the same set of vectors.</a:t>
            </a:r>
          </a:p>
          <a:p>
            <a:pPr>
              <a:buNone/>
            </a:pPr>
            <a:r>
              <a:rPr lang="en-GB" dirty="0"/>
              <a:t>Positional encoding (PE) solves this by </a:t>
            </a:r>
            <a:r>
              <a:rPr lang="en-GB" b="1" dirty="0"/>
              <a:t>injecting position information</a:t>
            </a:r>
            <a:r>
              <a:rPr lang="en-GB" dirty="0"/>
              <a:t> directly into each token's embedding before it enters the attention layers.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BD375F-AFC1-4B71-D743-176C82A5DA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83" t="38607" r="13463" b="39922"/>
          <a:stretch>
            <a:fillRect/>
          </a:stretch>
        </p:blipFill>
        <p:spPr>
          <a:xfrm>
            <a:off x="652345" y="2561845"/>
            <a:ext cx="9093819" cy="24115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6B582D-91C6-0E86-1D89-252D5B3BA90E}"/>
              </a:ext>
            </a:extLst>
          </p:cNvPr>
          <p:cNvSpPr txBox="1"/>
          <p:nvPr/>
        </p:nvSpPr>
        <p:spPr>
          <a:xfrm>
            <a:off x="529683" y="5325796"/>
            <a:ext cx="9707136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19"/>
              </a:lnSpc>
            </a:pPr>
            <a:r>
              <a:rPr lang="en-GB" dirty="0" err="1"/>
              <a:t>pos_embedding_layer</a:t>
            </a:r>
            <a:r>
              <a:rPr lang="en-GB" dirty="0"/>
              <a:t> </a:t>
            </a:r>
            <a:r>
              <a:rPr lang="en-GB" b="1" dirty="0"/>
              <a:t>=</a:t>
            </a:r>
            <a:r>
              <a:rPr lang="en-GB" dirty="0"/>
              <a:t> </a:t>
            </a:r>
            <a:r>
              <a:rPr lang="en-GB" dirty="0" err="1"/>
              <a:t>torch</a:t>
            </a:r>
            <a:r>
              <a:rPr lang="en-GB" b="1" dirty="0" err="1"/>
              <a:t>.</a:t>
            </a:r>
            <a:r>
              <a:rPr lang="en-GB" dirty="0" err="1"/>
              <a:t>nn</a:t>
            </a:r>
            <a:r>
              <a:rPr lang="en-GB" b="1" dirty="0" err="1"/>
              <a:t>.</a:t>
            </a:r>
            <a:r>
              <a:rPr lang="en-GB" dirty="0" err="1"/>
              <a:t>Embedding</a:t>
            </a:r>
            <a:r>
              <a:rPr lang="en-GB" dirty="0"/>
              <a:t>(</a:t>
            </a:r>
            <a:r>
              <a:rPr lang="en-GB" dirty="0" err="1"/>
              <a:t>context_length</a:t>
            </a:r>
            <a:r>
              <a:rPr lang="en-GB" dirty="0"/>
              <a:t>, </a:t>
            </a:r>
            <a:r>
              <a:rPr lang="en-GB" dirty="0" err="1"/>
              <a:t>output_dim</a:t>
            </a:r>
            <a:r>
              <a:rPr lang="en-GB" dirty="0"/>
              <a:t>)</a:t>
            </a:r>
          </a:p>
          <a:p>
            <a:pPr>
              <a:lnSpc>
                <a:spcPts val="1219"/>
              </a:lnSpc>
            </a:pPr>
            <a:endParaRPr lang="en-GB" dirty="0"/>
          </a:p>
          <a:p>
            <a:pPr>
              <a:lnSpc>
                <a:spcPts val="1219"/>
              </a:lnSpc>
            </a:pPr>
            <a:r>
              <a:rPr lang="en-GB" dirty="0" err="1"/>
              <a:t>pos_embeddings</a:t>
            </a:r>
            <a:r>
              <a:rPr lang="en-GB" dirty="0"/>
              <a:t> </a:t>
            </a:r>
            <a:r>
              <a:rPr lang="en-GB" b="1" dirty="0"/>
              <a:t>=</a:t>
            </a:r>
            <a:r>
              <a:rPr lang="en-GB" dirty="0"/>
              <a:t> </a:t>
            </a:r>
            <a:r>
              <a:rPr lang="en-GB" dirty="0" err="1"/>
              <a:t>pos_embedding_layer</a:t>
            </a:r>
            <a:r>
              <a:rPr lang="en-GB" dirty="0"/>
              <a:t>(</a:t>
            </a:r>
            <a:r>
              <a:rPr lang="en-GB" dirty="0" err="1"/>
              <a:t>torch</a:t>
            </a:r>
            <a:r>
              <a:rPr lang="en-GB" b="1" dirty="0" err="1"/>
              <a:t>.</a:t>
            </a:r>
            <a:r>
              <a:rPr lang="en-GB" dirty="0" err="1"/>
              <a:t>arange</a:t>
            </a:r>
            <a:r>
              <a:rPr lang="en-GB" dirty="0"/>
              <a:t>(</a:t>
            </a:r>
            <a:r>
              <a:rPr lang="en-GB" dirty="0" err="1"/>
              <a:t>context_length</a:t>
            </a:r>
            <a:r>
              <a:rPr lang="en-GB" dirty="0"/>
              <a:t>))</a:t>
            </a:r>
          </a:p>
          <a:p>
            <a:pPr>
              <a:lnSpc>
                <a:spcPts val="1219"/>
              </a:lnSpc>
            </a:pPr>
            <a:endParaRPr lang="en-GB" dirty="0"/>
          </a:p>
          <a:p>
            <a:r>
              <a:rPr lang="en-GB" dirty="0" err="1"/>
              <a:t>input_embeddings</a:t>
            </a:r>
            <a:r>
              <a:rPr lang="en-GB" dirty="0"/>
              <a:t> </a:t>
            </a:r>
            <a:r>
              <a:rPr lang="en-GB" b="1" dirty="0"/>
              <a:t>=</a:t>
            </a:r>
            <a:r>
              <a:rPr lang="en-GB" dirty="0"/>
              <a:t> </a:t>
            </a:r>
            <a:r>
              <a:rPr lang="en-GB" dirty="0" err="1"/>
              <a:t>token_embeddings</a:t>
            </a:r>
            <a:r>
              <a:rPr lang="en-GB" dirty="0"/>
              <a:t> </a:t>
            </a:r>
            <a:r>
              <a:rPr lang="en-GB" b="1" dirty="0"/>
              <a:t>+</a:t>
            </a:r>
            <a:r>
              <a:rPr lang="en-GB" dirty="0"/>
              <a:t> </a:t>
            </a:r>
            <a:r>
              <a:rPr lang="en-GB" dirty="0" err="1"/>
              <a:t>pos_embeddings</a:t>
            </a:r>
            <a:endParaRPr lang="en-GB" dirty="0"/>
          </a:p>
          <a:p>
            <a:r>
              <a:rPr lang="en-GB" dirty="0"/>
              <a:t>print(</a:t>
            </a:r>
            <a:r>
              <a:rPr lang="en-GB" dirty="0" err="1"/>
              <a:t>input_embeddings</a:t>
            </a:r>
            <a:r>
              <a:rPr lang="en-GB" b="1" dirty="0" err="1"/>
              <a:t>.</a:t>
            </a:r>
            <a:r>
              <a:rPr lang="en-GB" dirty="0" err="1"/>
              <a:t>shape</a:t>
            </a:r>
            <a:r>
              <a:rPr lang="en-GB" dirty="0"/>
              <a:t>)</a:t>
            </a:r>
          </a:p>
          <a:p>
            <a:pPr>
              <a:lnSpc>
                <a:spcPts val="1219"/>
              </a:lnSpc>
            </a:pPr>
            <a:endParaRPr lang="en-GB" dirty="0"/>
          </a:p>
          <a:p>
            <a:pPr>
              <a:lnSpc>
                <a:spcPts val="1219"/>
              </a:lnSpc>
            </a:pPr>
            <a:endParaRPr lang="en-GB" dirty="0"/>
          </a:p>
          <a:p>
            <a:pPr>
              <a:lnSpc>
                <a:spcPts val="1219"/>
              </a:lnSpc>
            </a:pPr>
            <a:endParaRPr lang="en-GB" dirty="0"/>
          </a:p>
          <a:p>
            <a:pPr algn="l">
              <a:lnSpc>
                <a:spcPts val="1219"/>
              </a:lnSpc>
              <a:buNone/>
            </a:pPr>
            <a:endParaRPr lang="en-GB" b="0" i="0" dirty="0">
              <a:solidFill>
                <a:srgbClr val="212121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984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951</Words>
  <Application>Microsoft Macintosh PowerPoint</Application>
  <PresentationFormat>Widescreen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.AppleSystemUIFontMonospaced</vt:lpstr>
      <vt:lpstr>Aptos</vt:lpstr>
      <vt:lpstr>Aptos Display</vt:lpstr>
      <vt:lpstr>Arial</vt:lpstr>
      <vt:lpstr>Courier New</vt:lpstr>
      <vt:lpstr>JetBrains Mono</vt:lpstr>
      <vt:lpstr>system-ui</vt:lpstr>
      <vt:lpstr>Office Theme</vt:lpstr>
      <vt:lpstr>Batching, token embedding, and positional encoding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Maneesha</dc:creator>
  <cp:lastModifiedBy>Maneesha</cp:lastModifiedBy>
  <cp:revision>5</cp:revision>
  <dcterms:created xsi:type="dcterms:W3CDTF">2026-04-26T13:58:05Z</dcterms:created>
  <dcterms:modified xsi:type="dcterms:W3CDTF">2026-04-26T17:05:49Z</dcterms:modified>
</cp:coreProperties>
</file>