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L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 varScale="1">
        <p:scale>
          <a:sx n="115" d="100"/>
          <a:sy n="115" d="100"/>
        </p:scale>
        <p:origin x="4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AA9F-0AFF-5835-3ED8-D295971034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C57EE7-349F-48EE-357F-1137A8979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8026D-17F0-1026-9CC1-C3DAB7E5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731D-E2D7-0547-B0CD-AF5064D0A837}" type="datetimeFigureOut">
              <a:rPr lang="en-LK" smtClean="0"/>
              <a:t>2026-04-25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688D7-7E36-5445-546F-E31DAA27F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E6DAE-4C37-563E-E489-000F33C2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BDDC-3911-D94D-A2F4-A63BB7A4EFF7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811926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E071B-7FF1-B737-F38F-B2AE86F5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9AC3F-3B58-79BA-B6F3-A9850A072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C4D32-0A99-A8E2-2541-A0E335C0B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731D-E2D7-0547-B0CD-AF5064D0A837}" type="datetimeFigureOut">
              <a:rPr lang="en-LK" smtClean="0"/>
              <a:t>2026-04-25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A2583-6F0F-C8CE-55B2-1BDE840DE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7A70A-D4DF-082B-1B68-755A7A877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BDDC-3911-D94D-A2F4-A63BB7A4EFF7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4239184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C78D9-E6EE-DDB9-E265-1CBBEDBAE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9FBDF-6344-D41D-C26A-1C765B2F8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7D0D5-F8B2-DB74-6B2A-E3556E9AF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731D-E2D7-0547-B0CD-AF5064D0A837}" type="datetimeFigureOut">
              <a:rPr lang="en-LK" smtClean="0"/>
              <a:t>2026-04-25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18ABA-0C19-6017-580B-5459C43ED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D20B7-5617-CEA7-99C1-C3835A65D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BDDC-3911-D94D-A2F4-A63BB7A4EFF7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335959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3E3B8-2694-DC48-999F-56D8CCAF3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FCB9D-62E2-CCF6-BE8B-1294A00F22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54ED3D-74DD-7D41-B963-112765A82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CDA17-AAC2-5BFA-4EC7-282A4E5E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731D-E2D7-0547-B0CD-AF5064D0A837}" type="datetimeFigureOut">
              <a:rPr lang="en-LK" smtClean="0"/>
              <a:t>2026-04-25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5C4D6-E529-4DF7-2690-53257226E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8BF3A-578D-AEDC-D9C6-D34C7A65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BDDC-3911-D94D-A2F4-A63BB7A4EFF7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4207983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4479E-17BB-9F6A-F478-14F2A6CE9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1E99B-5F31-7B73-FD1C-D0CF76D6E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9762C-36D4-3E0A-9152-ABDA14825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0C7B51-BDE1-FC33-6A1D-87A6601B17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BE2F23-C8E8-2369-513A-489DB02300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7AE320-A6AC-5449-BECC-BF6F3D4AA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731D-E2D7-0547-B0CD-AF5064D0A837}" type="datetimeFigureOut">
              <a:rPr lang="en-LK" smtClean="0"/>
              <a:t>2026-04-25</a:t>
            </a:fld>
            <a:endParaRPr lang="en-L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BACF62-7BF5-9CD5-C50B-E7C086698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1DE8CA-3E65-99A6-64E3-85AD5F613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BDDC-3911-D94D-A2F4-A63BB7A4EFF7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424269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A7AB2-0ADE-7A56-0ED5-A941F3514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888C74-7635-63A0-C74C-3C603C64C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731D-E2D7-0547-B0CD-AF5064D0A837}" type="datetimeFigureOut">
              <a:rPr lang="en-LK" smtClean="0"/>
              <a:t>2026-04-25</a:t>
            </a:fld>
            <a:endParaRPr lang="en-L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526624-7698-16FA-B4E8-78964B9DA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9CFDC6-2896-6374-778A-4024A6C64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BDDC-3911-D94D-A2F4-A63BB7A4EFF7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567557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2DEE7C-67E8-5166-6912-0E9D78796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731D-E2D7-0547-B0CD-AF5064D0A837}" type="datetimeFigureOut">
              <a:rPr lang="en-LK" smtClean="0"/>
              <a:t>2026-04-25</a:t>
            </a:fld>
            <a:endParaRPr lang="en-L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CFF4C2-DCDB-7AFD-E4C4-A9341C824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520B8-5C06-CABD-30BC-4524A9CB1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BDDC-3911-D94D-A2F4-A63BB7A4EFF7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195213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4CC34-A9E3-E25C-1BA6-D9A741B15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D9441-AE39-8C71-9C27-3F21E47F0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1948F-9C32-EA6E-28C4-72724993B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96A13-BAD3-2108-A510-135F6B728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731D-E2D7-0547-B0CD-AF5064D0A837}" type="datetimeFigureOut">
              <a:rPr lang="en-LK" smtClean="0"/>
              <a:t>2026-04-25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EC0B54-59B3-BA31-423D-9426DBAEB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176F39-0F28-63A8-0CE0-D9690FFC2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BDDC-3911-D94D-A2F4-A63BB7A4EFF7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960115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CD3DF-5ABB-5B01-A7A1-E5AE78D7C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B7EEB2-A15F-E48A-0E8D-90C80A8CA1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L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4C610-09C4-3DE2-B19A-3AF3C1906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A6A34C-7A8A-5DB5-34FD-9FC4C48B1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731D-E2D7-0547-B0CD-AF5064D0A837}" type="datetimeFigureOut">
              <a:rPr lang="en-LK" smtClean="0"/>
              <a:t>2026-04-25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0BBAF-84B8-901C-5F41-53D2DF36B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3FA24-D363-47AC-42C7-D4104FEF2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BDDC-3911-D94D-A2F4-A63BB7A4EFF7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381341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7C7EE-C27E-5DB2-2E7C-7255E874D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A2B74-121C-515F-3E88-A19AAFB25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0A2D8-CFCD-806A-8B31-1839A4FC2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731D-E2D7-0547-B0CD-AF5064D0A837}" type="datetimeFigureOut">
              <a:rPr lang="en-LK" smtClean="0"/>
              <a:t>2026-04-25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9C307-4249-4943-E7FC-9E8383F4C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EAA32-9282-7EF5-D149-D5BA75F0C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BDDC-3911-D94D-A2F4-A63BB7A4EFF7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860528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D1617C-E9A2-5CA1-C53A-E0914884A9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2AD89F-BDD0-5A79-4811-A98017C22B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E2159-94BD-EA0F-83EF-E226CDDBD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731D-E2D7-0547-B0CD-AF5064D0A837}" type="datetimeFigureOut">
              <a:rPr lang="en-LK" smtClean="0"/>
              <a:t>2026-04-25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CA3F-9689-DAA3-35D4-5CCB0DCA9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C4C54-BC92-11F4-037F-5D5E3E15A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BDDC-3911-D94D-A2F4-A63BB7A4EFF7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71071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DB51E5-A251-32C3-DB8A-F0EA7117F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EFB6E-B467-3189-8CAD-7318F103D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FCF4E-AD29-BD6C-5E07-B3EA128E49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9731D-E2D7-0547-B0CD-AF5064D0A837}" type="datetimeFigureOut">
              <a:rPr lang="en-LK" smtClean="0"/>
              <a:t>2026-04-25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AAC23-C2C6-620B-1181-D7571B797A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5E8C3-AE8C-61BF-56D8-5880BC51E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02BDDC-3911-D94D-A2F4-A63BB7A4EFF7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4138346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8112-6B43-054A-E591-D49C3D3F0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1873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 Tokenization</a:t>
            </a:r>
            <a:br>
              <a:rPr lang="en-GB" dirty="0"/>
            </a:br>
            <a:br>
              <a:rPr lang="en-GB" dirty="0"/>
            </a:br>
            <a:endParaRPr lang="en-L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3F9C7-2AEE-F2F3-0882-32822014D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/>
          <a:lstStyle/>
          <a:p>
            <a:r>
              <a:rPr lang="en-LK" dirty="0"/>
              <a:t>A lecture by Maneesha Rajapaksha</a:t>
            </a:r>
          </a:p>
        </p:txBody>
      </p:sp>
      <p:pic>
        <p:nvPicPr>
          <p:cNvPr id="5" name="Picture 4" descr="A blue and yellow logo&#10;&#10;AI-generated content may be incorrect.">
            <a:extLst>
              <a:ext uri="{FF2B5EF4-FFF2-40B4-BE49-F238E27FC236}">
                <a16:creationId xmlns:a16="http://schemas.microsoft.com/office/drawing/2014/main" id="{BA2089B0-C097-D1B2-A433-95FD27A98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272" y="2017907"/>
            <a:ext cx="3035455" cy="303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33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79DE98-90D1-B118-4993-17311B3A6089}"/>
              </a:ext>
            </a:extLst>
          </p:cNvPr>
          <p:cNvSpPr txBox="1"/>
          <p:nvPr/>
        </p:nvSpPr>
        <p:spPr>
          <a:xfrm>
            <a:off x="618893" y="289261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Character-Level Tokenization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74A696-3255-2AA0-2687-3077E1F6F87F}"/>
              </a:ext>
            </a:extLst>
          </p:cNvPr>
          <p:cNvSpPr txBox="1"/>
          <p:nvPr/>
        </p:nvSpPr>
        <p:spPr>
          <a:xfrm>
            <a:off x="618893" y="948690"/>
            <a:ext cx="609971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  <a:p>
            <a:endParaRPr lang="en-GB" dirty="0"/>
          </a:p>
          <a:p>
            <a:r>
              <a:rPr lang="en-GB" dirty="0"/>
              <a:t>chars = sorted(list(set(text)))</a:t>
            </a:r>
          </a:p>
          <a:p>
            <a:r>
              <a:rPr lang="en-GB" dirty="0" err="1"/>
              <a:t>vocab_size</a:t>
            </a:r>
            <a:r>
              <a:rPr lang="en-GB" dirty="0"/>
              <a:t> = </a:t>
            </a:r>
            <a:r>
              <a:rPr lang="en-GB" dirty="0" err="1"/>
              <a:t>len</a:t>
            </a:r>
            <a:r>
              <a:rPr lang="en-GB" dirty="0"/>
              <a:t>(chars)</a:t>
            </a:r>
            <a:br>
              <a:rPr lang="en-GB" dirty="0"/>
            </a:br>
            <a:r>
              <a:rPr lang="en-GB" dirty="0"/>
              <a:t>print(''.join(chars))</a:t>
            </a:r>
            <a:br>
              <a:rPr lang="en-GB" dirty="0"/>
            </a:br>
            <a:r>
              <a:rPr lang="en-GB" dirty="0"/>
              <a:t>print(</a:t>
            </a:r>
            <a:r>
              <a:rPr lang="en-GB" dirty="0" err="1"/>
              <a:t>vocab_size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char2id = {</a:t>
            </a:r>
            <a:r>
              <a:rPr lang="en-GB" dirty="0" err="1"/>
              <a:t>ch</a:t>
            </a:r>
            <a:r>
              <a:rPr lang="en-GB" dirty="0"/>
              <a:t>: </a:t>
            </a:r>
            <a:r>
              <a:rPr lang="en-GB" dirty="0" err="1"/>
              <a:t>i</a:t>
            </a:r>
            <a:r>
              <a:rPr lang="en-GB" dirty="0"/>
              <a:t> for </a:t>
            </a:r>
            <a:r>
              <a:rPr lang="en-GB" dirty="0" err="1"/>
              <a:t>i</a:t>
            </a:r>
            <a:r>
              <a:rPr lang="en-GB" dirty="0"/>
              <a:t>, </a:t>
            </a:r>
            <a:r>
              <a:rPr lang="en-GB" dirty="0" err="1"/>
              <a:t>ch</a:t>
            </a:r>
            <a:r>
              <a:rPr lang="en-GB" dirty="0"/>
              <a:t> in enumerate(chars)}</a:t>
            </a:r>
          </a:p>
          <a:p>
            <a:r>
              <a:rPr lang="en-GB" dirty="0"/>
              <a:t>id2char = {</a:t>
            </a:r>
            <a:r>
              <a:rPr lang="en-GB" dirty="0" err="1"/>
              <a:t>i</a:t>
            </a:r>
            <a:r>
              <a:rPr lang="en-GB" dirty="0"/>
              <a:t>: </a:t>
            </a:r>
            <a:r>
              <a:rPr lang="en-GB" dirty="0" err="1"/>
              <a:t>ch</a:t>
            </a:r>
            <a:r>
              <a:rPr lang="en-GB" dirty="0"/>
              <a:t> for </a:t>
            </a:r>
            <a:r>
              <a:rPr lang="en-GB" dirty="0" err="1"/>
              <a:t>ch</a:t>
            </a:r>
            <a:r>
              <a:rPr lang="en-GB" dirty="0"/>
              <a:t>, </a:t>
            </a:r>
            <a:r>
              <a:rPr lang="en-GB" dirty="0" err="1"/>
              <a:t>i</a:t>
            </a:r>
            <a:r>
              <a:rPr lang="en-GB" dirty="0"/>
              <a:t> in char2id.items()}</a:t>
            </a:r>
          </a:p>
          <a:p>
            <a:endParaRPr lang="en-GB" dirty="0"/>
          </a:p>
          <a:p>
            <a:r>
              <a:rPr lang="en-GB" dirty="0"/>
              <a:t>def encode(text):</a:t>
            </a:r>
          </a:p>
          <a:p>
            <a:r>
              <a:rPr lang="en-GB" dirty="0"/>
              <a:t>    return [char2id[</a:t>
            </a:r>
            <a:r>
              <a:rPr lang="en-GB" dirty="0" err="1"/>
              <a:t>ch</a:t>
            </a:r>
            <a:r>
              <a:rPr lang="en-GB" dirty="0"/>
              <a:t>] for </a:t>
            </a:r>
            <a:r>
              <a:rPr lang="en-GB" dirty="0" err="1"/>
              <a:t>ch</a:t>
            </a:r>
            <a:r>
              <a:rPr lang="en-GB" dirty="0"/>
              <a:t> in text]</a:t>
            </a:r>
          </a:p>
          <a:p>
            <a:endParaRPr lang="en-GB" dirty="0"/>
          </a:p>
          <a:p>
            <a:r>
              <a:rPr lang="en-GB" dirty="0"/>
              <a:t>def decode(ids):</a:t>
            </a:r>
          </a:p>
          <a:p>
            <a:r>
              <a:rPr lang="en-GB" dirty="0"/>
              <a:t>    return ''.join([id2char[</a:t>
            </a:r>
            <a:r>
              <a:rPr lang="en-GB" dirty="0" err="1"/>
              <a:t>i</a:t>
            </a:r>
            <a:r>
              <a:rPr lang="en-GB" dirty="0"/>
              <a:t>] for </a:t>
            </a:r>
            <a:r>
              <a:rPr lang="en-GB" dirty="0" err="1"/>
              <a:t>i</a:t>
            </a:r>
            <a:r>
              <a:rPr lang="en-GB" dirty="0"/>
              <a:t> in ids])</a:t>
            </a:r>
          </a:p>
          <a:p>
            <a:endParaRPr lang="en-GB" dirty="0"/>
          </a:p>
          <a:p>
            <a:r>
              <a:rPr lang="en-GB" dirty="0"/>
              <a:t>encoded = encode(text)</a:t>
            </a:r>
          </a:p>
          <a:p>
            <a:r>
              <a:rPr lang="en-GB" dirty="0"/>
              <a:t>decoded = decode(encoded)</a:t>
            </a:r>
          </a:p>
          <a:p>
            <a:endParaRPr lang="en-GB" dirty="0"/>
          </a:p>
          <a:p>
            <a:r>
              <a:rPr lang="en-GB" dirty="0"/>
              <a:t>print("Encoded:", encoded)</a:t>
            </a:r>
          </a:p>
          <a:p>
            <a:r>
              <a:rPr lang="en-GB" dirty="0"/>
              <a:t>print("Decoded:", decoded)</a:t>
            </a:r>
            <a:endParaRPr lang="en-L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BCC78D-C756-8B94-488D-E75254C9BE94}"/>
              </a:ext>
            </a:extLst>
          </p:cNvPr>
          <p:cNvSpPr txBox="1"/>
          <p:nvPr/>
        </p:nvSpPr>
        <p:spPr>
          <a:xfrm>
            <a:off x="618893" y="762692"/>
            <a:ext cx="6099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with open('</a:t>
            </a:r>
            <a:r>
              <a:rPr lang="en-GB" dirty="0" err="1"/>
              <a:t>input.txt</a:t>
            </a:r>
            <a:r>
              <a:rPr lang="en-GB" dirty="0"/>
              <a:t>', 'r', encoding='utf-8') as f:</a:t>
            </a:r>
            <a:br>
              <a:rPr lang="en-GB" dirty="0"/>
            </a:br>
            <a:r>
              <a:rPr lang="en-GB" dirty="0"/>
              <a:t>    text = </a:t>
            </a:r>
            <a:r>
              <a:rPr lang="en-GB" dirty="0" err="1"/>
              <a:t>f.read</a:t>
            </a:r>
            <a:r>
              <a:rPr lang="en-GB" dirty="0"/>
              <a:t>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AB9931-EC6B-1FBA-6962-2D58F9A036D4}"/>
              </a:ext>
            </a:extLst>
          </p:cNvPr>
          <p:cNvSpPr txBox="1"/>
          <p:nvPr/>
        </p:nvSpPr>
        <p:spPr>
          <a:xfrm>
            <a:off x="6718609" y="473927"/>
            <a:ext cx="609971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LK" b="1" dirty="0"/>
              <a:t>✅ </a:t>
            </a:r>
            <a:r>
              <a:rPr lang="en-GB" b="1" dirty="0"/>
              <a:t>Pros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unknown words (handles anything)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Very simple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Small vocabulary</a:t>
            </a:r>
          </a:p>
          <a:p>
            <a:endParaRPr lang="en-GB" dirty="0"/>
          </a:p>
          <a:p>
            <a:pPr>
              <a:buNone/>
            </a:pPr>
            <a:r>
              <a:rPr lang="en-LK" b="1" dirty="0"/>
              <a:t>❌ </a:t>
            </a:r>
            <a:r>
              <a:rPr lang="en-GB" b="1" dirty="0"/>
              <a:t>Cons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Sequences become </a:t>
            </a:r>
            <a:r>
              <a:rPr lang="en-GB" b="1" dirty="0"/>
              <a:t>very long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Harder for model to learn meaning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Slower training</a:t>
            </a:r>
          </a:p>
        </p:txBody>
      </p:sp>
    </p:spTree>
    <p:extLst>
      <p:ext uri="{BB962C8B-B14F-4D97-AF65-F5344CB8AC3E}">
        <p14:creationId xmlns:p14="http://schemas.microsoft.com/office/powerpoint/2010/main" val="310787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70D6B61-19B4-8726-7C1F-68103AC006C5}"/>
              </a:ext>
            </a:extLst>
          </p:cNvPr>
          <p:cNvSpPr txBox="1"/>
          <p:nvPr/>
        </p:nvSpPr>
        <p:spPr>
          <a:xfrm>
            <a:off x="574289" y="244656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Word level tokenization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B2DA9C-0F82-C5B7-83BD-7ABD97F25302}"/>
              </a:ext>
            </a:extLst>
          </p:cNvPr>
          <p:cNvSpPr txBox="1"/>
          <p:nvPr/>
        </p:nvSpPr>
        <p:spPr>
          <a:xfrm>
            <a:off x="574289" y="971267"/>
            <a:ext cx="6099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text = "I love NLP!"</a:t>
            </a:r>
          </a:p>
          <a:p>
            <a:r>
              <a:rPr lang="en-LK" dirty="0"/>
              <a:t>tokens = text.split()</a:t>
            </a:r>
          </a:p>
          <a:p>
            <a:r>
              <a:rPr lang="en-LK" dirty="0"/>
              <a:t>print(tokens)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25E001-B6F1-2A4F-A533-A56530B2F7C3}"/>
              </a:ext>
            </a:extLst>
          </p:cNvPr>
          <p:cNvSpPr txBox="1"/>
          <p:nvPr/>
        </p:nvSpPr>
        <p:spPr>
          <a:xfrm>
            <a:off x="574289" y="3591803"/>
            <a:ext cx="6099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⚠️ Problem: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"NLP!"</a:t>
            </a:r>
            <a:r>
              <a:rPr lang="en-GB" dirty="0"/>
              <a:t> is not clean (punctuation stuck)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Doesn’t handle real language well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402A35-44B6-0C56-4A57-F6B2AA9155EC}"/>
              </a:ext>
            </a:extLst>
          </p:cNvPr>
          <p:cNvSpPr txBox="1"/>
          <p:nvPr/>
        </p:nvSpPr>
        <p:spPr>
          <a:xfrm>
            <a:off x="574289" y="2558534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['I', 'love', 'NLP!']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BAB2DA-8BFC-1C8B-B096-F793779F9802}"/>
              </a:ext>
            </a:extLst>
          </p:cNvPr>
          <p:cNvSpPr txBox="1"/>
          <p:nvPr/>
        </p:nvSpPr>
        <p:spPr>
          <a:xfrm>
            <a:off x="6674005" y="971267"/>
            <a:ext cx="609971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from nltk.tokenize import word_tokenize</a:t>
            </a:r>
          </a:p>
          <a:p>
            <a:r>
              <a:rPr lang="en-LK" dirty="0"/>
              <a:t>import nltk</a:t>
            </a:r>
          </a:p>
          <a:p>
            <a:endParaRPr lang="en-LK" dirty="0"/>
          </a:p>
          <a:p>
            <a:r>
              <a:rPr lang="en-LK" dirty="0"/>
              <a:t>nltk.download('punkt’)</a:t>
            </a:r>
          </a:p>
          <a:p>
            <a:r>
              <a:rPr lang="en-GB" dirty="0" err="1"/>
              <a:t>nltk.download</a:t>
            </a:r>
            <a:r>
              <a:rPr lang="en-GB" dirty="0"/>
              <a:t>('</a:t>
            </a:r>
            <a:r>
              <a:rPr lang="en-GB" dirty="0" err="1"/>
              <a:t>punkt_tab</a:t>
            </a:r>
            <a:r>
              <a:rPr lang="en-GB" dirty="0"/>
              <a:t>')</a:t>
            </a:r>
          </a:p>
          <a:p>
            <a:endParaRPr lang="en-LK" dirty="0"/>
          </a:p>
          <a:p>
            <a:endParaRPr lang="en-LK" dirty="0"/>
          </a:p>
          <a:p>
            <a:r>
              <a:rPr lang="en-LK" dirty="0"/>
              <a:t>text = "I love NLP!"</a:t>
            </a:r>
          </a:p>
          <a:p>
            <a:r>
              <a:rPr lang="en-LK" dirty="0"/>
              <a:t>tokens = word_tokenize(text)</a:t>
            </a:r>
          </a:p>
          <a:p>
            <a:endParaRPr lang="en-LK" dirty="0"/>
          </a:p>
          <a:p>
            <a:r>
              <a:rPr lang="en-LK" dirty="0"/>
              <a:t>print(tokens)</a:t>
            </a:r>
          </a:p>
        </p:txBody>
      </p:sp>
    </p:spTree>
    <p:extLst>
      <p:ext uri="{BB962C8B-B14F-4D97-AF65-F5344CB8AC3E}">
        <p14:creationId xmlns:p14="http://schemas.microsoft.com/office/powerpoint/2010/main" val="2498588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7393AE-7038-28F7-6B57-3169FAC67EF0}"/>
              </a:ext>
            </a:extLst>
          </p:cNvPr>
          <p:cNvSpPr txBox="1"/>
          <p:nvPr/>
        </p:nvSpPr>
        <p:spPr>
          <a:xfrm>
            <a:off x="696952" y="244656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Problems with Word Tokenization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3DC127-6CFF-5BE0-7812-DA946A7B7CA9}"/>
              </a:ext>
            </a:extLst>
          </p:cNvPr>
          <p:cNvSpPr txBox="1"/>
          <p:nvPr/>
        </p:nvSpPr>
        <p:spPr>
          <a:xfrm>
            <a:off x="696952" y="1304022"/>
            <a:ext cx="609971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GB" b="1" dirty="0"/>
              <a:t>Unknown words</a:t>
            </a:r>
          </a:p>
          <a:p>
            <a:r>
              <a:rPr lang="en-GB" dirty="0"/>
              <a:t>”Unhappiness" → ??? (not in vocab)</a:t>
            </a:r>
          </a:p>
          <a:p>
            <a:endParaRPr lang="en-GB" b="1" dirty="0"/>
          </a:p>
          <a:p>
            <a:endParaRPr lang="en-GB" b="1" dirty="0"/>
          </a:p>
          <a:p>
            <a:pPr marL="342900" indent="-342900">
              <a:buFontTx/>
              <a:buAutoNum type="arabicPeriod"/>
            </a:pPr>
            <a:r>
              <a:rPr lang="en-GB" b="1" dirty="0"/>
              <a:t>Huge vocabulary</a:t>
            </a:r>
          </a:p>
          <a:p>
            <a:pPr marL="342900" indent="-342900">
              <a:buFontTx/>
              <a:buAutoNum type="arabicPeriod"/>
            </a:pPr>
            <a:endParaRPr lang="en-GB" b="1" dirty="0"/>
          </a:p>
          <a:p>
            <a:pPr marL="342900" indent="-342900">
              <a:buFontTx/>
              <a:buAutoNum type="arabicPeriod"/>
            </a:pPr>
            <a:endParaRPr lang="en-GB" b="1" dirty="0"/>
          </a:p>
          <a:p>
            <a:pPr marL="342900" indent="-342900">
              <a:buFontTx/>
              <a:buAutoNum type="arabicPeriod"/>
            </a:pPr>
            <a:r>
              <a:rPr lang="en-GB" b="1" dirty="0"/>
              <a:t>Morphology</a:t>
            </a:r>
          </a:p>
          <a:p>
            <a:r>
              <a:rPr lang="en-GB" dirty="0"/>
              <a:t>run, running, runner → treated as different</a:t>
            </a:r>
          </a:p>
          <a:p>
            <a:pPr marL="342900" indent="-342900">
              <a:buFontTx/>
              <a:buAutoNum type="arabicPeriod"/>
            </a:pPr>
            <a:endParaRPr lang="en-GB" b="1" dirty="0"/>
          </a:p>
          <a:p>
            <a:pPr marL="342900" indent="-342900">
              <a:buAutoNum type="arabicPeriod"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488458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5BC87C-F7B8-ED94-AF20-32C6F8814780}"/>
              </a:ext>
            </a:extLst>
          </p:cNvPr>
          <p:cNvSpPr txBox="1"/>
          <p:nvPr/>
        </p:nvSpPr>
        <p:spPr>
          <a:xfrm>
            <a:off x="741556" y="300412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 err="1"/>
              <a:t>Subword</a:t>
            </a:r>
            <a:r>
              <a:rPr lang="en-GB" b="1" dirty="0"/>
              <a:t> Tokenization (What LLMs Use)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660955-11B1-1B01-2CB6-DD00A0CAF219}"/>
              </a:ext>
            </a:extLst>
          </p:cNvPr>
          <p:cNvSpPr txBox="1"/>
          <p:nvPr/>
        </p:nvSpPr>
        <p:spPr>
          <a:xfrm>
            <a:off x="741556" y="1073409"/>
            <a:ext cx="60997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Modern models (like GPT) don’t use pure word tokens.</a:t>
            </a:r>
          </a:p>
          <a:p>
            <a:pPr>
              <a:buNone/>
            </a:pPr>
            <a:r>
              <a:rPr lang="en-GB" dirty="0"/>
              <a:t>They use:</a:t>
            </a:r>
          </a:p>
          <a:p>
            <a:pPr>
              <a:buNone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BPE (Byte Pair Encoding) –</a:t>
            </a:r>
            <a:r>
              <a:rPr lang="en-GB" dirty="0"/>
              <a:t>GPT-2/4, </a:t>
            </a:r>
            <a:r>
              <a:rPr lang="en-GB" dirty="0" err="1"/>
              <a:t>LLaMA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WordPiece</a:t>
            </a:r>
            <a:r>
              <a:rPr lang="en-GB" b="1" dirty="0"/>
              <a:t> -</a:t>
            </a:r>
            <a:r>
              <a:rPr lang="en-GB" dirty="0"/>
              <a:t>BERT, </a:t>
            </a:r>
            <a:r>
              <a:rPr lang="en-GB" dirty="0" err="1"/>
              <a:t>DistilBERT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SentencePiece</a:t>
            </a:r>
            <a:r>
              <a:rPr lang="en-GB" b="1" dirty="0"/>
              <a:t> -</a:t>
            </a:r>
            <a:r>
              <a:rPr lang="en-GB" dirty="0"/>
              <a:t>T5, LLaMA2, Gemma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C1F4A7-863A-71D3-3467-02C7A2535E1A}"/>
              </a:ext>
            </a:extLst>
          </p:cNvPr>
          <p:cNvSpPr txBox="1"/>
          <p:nvPr/>
        </p:nvSpPr>
        <p:spPr>
          <a:xfrm>
            <a:off x="741556" y="3153103"/>
            <a:ext cx="60997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Input: "tokenization"</a:t>
            </a:r>
          </a:p>
          <a:p>
            <a:endParaRPr lang="en-LK" dirty="0"/>
          </a:p>
          <a:p>
            <a:r>
              <a:rPr lang="en-LK" dirty="0"/>
              <a:t>Apply merges greedily (most-frequent first):</a:t>
            </a:r>
          </a:p>
          <a:p>
            <a:r>
              <a:rPr lang="en-LK" dirty="0"/>
              <a:t>  t-o-k-e-n-i-z-a-t-i-o-n</a:t>
            </a:r>
          </a:p>
          <a:p>
            <a:r>
              <a:rPr lang="en-LK" dirty="0"/>
              <a:t>  → tok | en | iz | ation          (after applying learned merges)</a:t>
            </a:r>
          </a:p>
          <a:p>
            <a:r>
              <a:rPr lang="en-LK" dirty="0"/>
              <a:t>  → [892, 268, 1741, 393]</a:t>
            </a:r>
          </a:p>
        </p:txBody>
      </p:sp>
    </p:spTree>
    <p:extLst>
      <p:ext uri="{BB962C8B-B14F-4D97-AF65-F5344CB8AC3E}">
        <p14:creationId xmlns:p14="http://schemas.microsoft.com/office/powerpoint/2010/main" val="2071685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0DACAF-E960-4545-4830-D50BE3BC3040}"/>
              </a:ext>
            </a:extLst>
          </p:cNvPr>
          <p:cNvSpPr txBox="1"/>
          <p:nvPr/>
        </p:nvSpPr>
        <p:spPr>
          <a:xfrm>
            <a:off x="418172" y="294272"/>
            <a:ext cx="609971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import tiktoken</a:t>
            </a:r>
          </a:p>
          <a:p>
            <a:endParaRPr lang="en-LK" dirty="0"/>
          </a:p>
          <a:p>
            <a:r>
              <a:rPr lang="en-LK" dirty="0"/>
              <a:t># Load an encoding by name</a:t>
            </a:r>
          </a:p>
          <a:p>
            <a:r>
              <a:rPr lang="en-LK" dirty="0"/>
              <a:t>enc = tiktoken.get_encoding("cl100k_base")</a:t>
            </a:r>
          </a:p>
          <a:p>
            <a:endParaRPr lang="en-LK" dirty="0"/>
          </a:p>
          <a:p>
            <a:r>
              <a:rPr lang="en-LK" dirty="0"/>
              <a:t># Encode text → token IDs</a:t>
            </a:r>
          </a:p>
          <a:p>
            <a:r>
              <a:rPr lang="en-LK" dirty="0"/>
              <a:t>tokens = enc.encode("Hello, world!")</a:t>
            </a:r>
          </a:p>
          <a:p>
            <a:r>
              <a:rPr lang="en-LK" dirty="0"/>
              <a:t>print(tokens)</a:t>
            </a:r>
          </a:p>
          <a:p>
            <a:r>
              <a:rPr lang="en-LK" dirty="0"/>
              <a:t># [9906, 11, 1917, 0]</a:t>
            </a:r>
          </a:p>
          <a:p>
            <a:endParaRPr lang="en-LK" dirty="0"/>
          </a:p>
          <a:p>
            <a:r>
              <a:rPr lang="en-LK" dirty="0"/>
              <a:t># Decode back → text</a:t>
            </a:r>
          </a:p>
          <a:p>
            <a:r>
              <a:rPr lang="en-LK" dirty="0"/>
              <a:t>text = enc.decode(tokens)</a:t>
            </a:r>
          </a:p>
          <a:p>
            <a:r>
              <a:rPr lang="en-LK" dirty="0"/>
              <a:t>print(text)</a:t>
            </a:r>
          </a:p>
          <a:p>
            <a:r>
              <a:rPr lang="en-LK" dirty="0"/>
              <a:t># "Hello, world!"</a:t>
            </a:r>
          </a:p>
          <a:p>
            <a:endParaRPr lang="en-LK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05EF20-6547-77CF-3240-E7815B5A0C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583471"/>
              </p:ext>
            </p:extLst>
          </p:nvPr>
        </p:nvGraphicFramePr>
        <p:xfrm>
          <a:off x="418172" y="4420580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58321652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766652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Encoding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636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gpt-4</a:t>
                      </a:r>
                      <a:r>
                        <a:rPr lang="en-GB"/>
                        <a:t>, </a:t>
                      </a:r>
                      <a:r>
                        <a:rPr lang="en-GB">
                          <a:latin typeface="Courier New" panose="02070309020205020404" pitchFamily="49" charset="0"/>
                        </a:rPr>
                        <a:t>gpt-3.5-turbo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Courier New" panose="02070309020205020404" pitchFamily="49" charset="0"/>
                        </a:rPr>
                        <a:t>cl100k_base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061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gpt-4o</a:t>
                      </a:r>
                      <a:r>
                        <a:rPr lang="en-GB"/>
                        <a:t>, </a:t>
                      </a:r>
                      <a:r>
                        <a:rPr lang="en-GB">
                          <a:latin typeface="Courier New" panose="02070309020205020404" pitchFamily="49" charset="0"/>
                        </a:rPr>
                        <a:t>gpt-4o-mini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Courier New" panose="02070309020205020404" pitchFamily="49" charset="0"/>
                        </a:rPr>
                        <a:t>o200k_base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8477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text-davinci-003</a:t>
                      </a:r>
                      <a:r>
                        <a:rPr lang="en-GB"/>
                        <a:t>, Codex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Courier New" panose="02070309020205020404" pitchFamily="49" charset="0"/>
                        </a:rPr>
                        <a:t>p50k_base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081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davinci</a:t>
                      </a:r>
                      <a:r>
                        <a:rPr lang="en-GB"/>
                        <a:t>, </a:t>
                      </a:r>
                      <a:r>
                        <a:rPr lang="en-GB">
                          <a:latin typeface="Courier New" panose="02070309020205020404" pitchFamily="49" charset="0"/>
                        </a:rPr>
                        <a:t>curie</a:t>
                      </a:r>
                      <a:r>
                        <a:rPr lang="en-GB"/>
                        <a:t>, </a:t>
                      </a:r>
                      <a:r>
                        <a:rPr lang="en-GB">
                          <a:latin typeface="Courier New" panose="02070309020205020404" pitchFamily="49" charset="0"/>
                        </a:rPr>
                        <a:t>babbage</a:t>
                      </a:r>
                      <a:r>
                        <a:rPr lang="en-GB"/>
                        <a:t>, </a:t>
                      </a:r>
                      <a:r>
                        <a:rPr lang="en-GB">
                          <a:latin typeface="Courier New" panose="02070309020205020404" pitchFamily="49" charset="0"/>
                        </a:rPr>
                        <a:t>ada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r50k_base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829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text-embedding-ada-002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Courier New" panose="02070309020205020404" pitchFamily="49" charset="0"/>
                        </a:rPr>
                        <a:t>cl100k_base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11853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A8E5FB6-82C3-B80F-1034-37E9F8C03C72}"/>
              </a:ext>
            </a:extLst>
          </p:cNvPr>
          <p:cNvSpPr txBox="1"/>
          <p:nvPr/>
        </p:nvSpPr>
        <p:spPr>
          <a:xfrm>
            <a:off x="6096000" y="0"/>
            <a:ext cx="60997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LK" b="1" dirty="0"/>
              <a:t>📋 </a:t>
            </a:r>
            <a:r>
              <a:rPr lang="en-GB" b="1" dirty="0"/>
              <a:t>Getting an Encoding for a Specific Model</a:t>
            </a:r>
          </a:p>
          <a:p>
            <a:pPr>
              <a:buNone/>
            </a:pPr>
            <a:r>
              <a:rPr lang="en-GB" dirty="0"/>
              <a:t>Instead of hardcoding the encoding name, use </a:t>
            </a:r>
            <a:r>
              <a:rPr lang="en-GB" dirty="0" err="1">
                <a:latin typeface="Courier New" panose="02070309020205020404" pitchFamily="49" charset="0"/>
              </a:rPr>
              <a:t>encoding_for_model</a:t>
            </a:r>
            <a:r>
              <a:rPr lang="en-GB" dirty="0">
                <a:latin typeface="Courier New" panose="02070309020205020404" pitchFamily="49" charset="0"/>
              </a:rPr>
              <a:t>()</a:t>
            </a:r>
            <a:r>
              <a:rPr lang="en-GB" dirty="0"/>
              <a:t> — it automatically selects the right one: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F00A10-1928-38E5-D788-15BDA3A91C07}"/>
              </a:ext>
            </a:extLst>
          </p:cNvPr>
          <p:cNvSpPr txBox="1"/>
          <p:nvPr/>
        </p:nvSpPr>
        <p:spPr>
          <a:xfrm>
            <a:off x="6092284" y="1462581"/>
            <a:ext cx="60997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enc </a:t>
            </a:r>
            <a:r>
              <a:rPr lang="en-GB" dirty="0">
                <a:solidFill>
                  <a:srgbClr val="EAECF0"/>
                </a:solidFill>
                <a:effectLst/>
              </a:rPr>
              <a:t>=</a:t>
            </a:r>
            <a:r>
              <a:rPr lang="en-GB" dirty="0"/>
              <a:t> </a:t>
            </a:r>
            <a:r>
              <a:rPr lang="en-GB" dirty="0" err="1"/>
              <a:t>tiktoken</a:t>
            </a:r>
            <a:r>
              <a:rPr lang="en-GB" dirty="0" err="1">
                <a:solidFill>
                  <a:srgbClr val="D3D7DE"/>
                </a:solidFill>
                <a:effectLst/>
              </a:rPr>
              <a:t>.</a:t>
            </a:r>
            <a:r>
              <a:rPr lang="en-GB" dirty="0" err="1"/>
              <a:t>encoding_for_model</a:t>
            </a:r>
            <a:r>
              <a:rPr lang="en-GB" dirty="0">
                <a:solidFill>
                  <a:srgbClr val="D3D7DE"/>
                </a:solidFill>
                <a:effectLst/>
              </a:rPr>
              <a:t>(</a:t>
            </a:r>
            <a:r>
              <a:rPr lang="en-GB" dirty="0">
                <a:solidFill>
                  <a:srgbClr val="9BE963"/>
                </a:solidFill>
                <a:effectLst/>
              </a:rPr>
              <a:t>"gpt-4"</a:t>
            </a:r>
            <a:r>
              <a:rPr lang="en-GB" dirty="0">
                <a:solidFill>
                  <a:srgbClr val="D3D7DE"/>
                </a:solidFill>
                <a:effectLst/>
              </a:rPr>
              <a:t>)</a:t>
            </a:r>
            <a:r>
              <a:rPr lang="en-GB" dirty="0"/>
              <a:t> </a:t>
            </a:r>
          </a:p>
          <a:p>
            <a:r>
              <a:rPr lang="en-GB" dirty="0">
                <a:solidFill>
                  <a:srgbClr val="818898"/>
                </a:solidFill>
                <a:effectLst/>
              </a:rPr>
              <a:t># Internally returns cl100k_base</a:t>
            </a:r>
            <a:r>
              <a:rPr lang="en-GB" dirty="0"/>
              <a:t> enc2 </a:t>
            </a:r>
            <a:r>
              <a:rPr lang="en-GB" dirty="0">
                <a:solidFill>
                  <a:srgbClr val="EAECF0"/>
                </a:solidFill>
                <a:effectLst/>
              </a:rPr>
              <a:t>=</a:t>
            </a:r>
            <a:r>
              <a:rPr lang="en-GB" dirty="0"/>
              <a:t> </a:t>
            </a:r>
            <a:r>
              <a:rPr lang="en-GB" dirty="0" err="1"/>
              <a:t>tiktoken</a:t>
            </a:r>
            <a:r>
              <a:rPr lang="en-GB" dirty="0" err="1">
                <a:solidFill>
                  <a:srgbClr val="D3D7DE"/>
                </a:solidFill>
                <a:effectLst/>
              </a:rPr>
              <a:t>.</a:t>
            </a:r>
            <a:r>
              <a:rPr lang="en-GB" dirty="0" err="1"/>
              <a:t>encoding_for_model</a:t>
            </a:r>
            <a:r>
              <a:rPr lang="en-GB" dirty="0">
                <a:solidFill>
                  <a:srgbClr val="D3D7DE"/>
                </a:solidFill>
                <a:effectLst/>
              </a:rPr>
              <a:t>(</a:t>
            </a:r>
            <a:r>
              <a:rPr lang="en-GB" dirty="0">
                <a:solidFill>
                  <a:srgbClr val="9BE963"/>
                </a:solidFill>
                <a:effectLst/>
              </a:rPr>
              <a:t>"gpt-4o"</a:t>
            </a:r>
            <a:r>
              <a:rPr lang="en-GB" dirty="0">
                <a:solidFill>
                  <a:srgbClr val="D3D7DE"/>
                </a:solidFill>
                <a:effectLst/>
              </a:rPr>
              <a:t>)</a:t>
            </a:r>
            <a:r>
              <a:rPr lang="en-GB" dirty="0"/>
              <a:t> </a:t>
            </a:r>
          </a:p>
          <a:p>
            <a:r>
              <a:rPr lang="en-GB" dirty="0">
                <a:solidFill>
                  <a:srgbClr val="818898"/>
                </a:solidFill>
                <a:effectLst/>
              </a:rPr>
              <a:t># Returns o200k_base</a:t>
            </a:r>
            <a:endParaRPr lang="en-LK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E3F67F-AEDC-CADA-F81C-AC9810F4E296}"/>
              </a:ext>
            </a:extLst>
          </p:cNvPr>
          <p:cNvSpPr txBox="1"/>
          <p:nvPr/>
        </p:nvSpPr>
        <p:spPr>
          <a:xfrm>
            <a:off x="6092284" y="2895413"/>
            <a:ext cx="6099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818898"/>
                </a:solidFill>
                <a:effectLst/>
              </a:rPr>
              <a:t># Total vocabulary size</a:t>
            </a:r>
            <a:r>
              <a:rPr lang="en-GB" dirty="0"/>
              <a:t> </a:t>
            </a:r>
          </a:p>
          <a:p>
            <a:r>
              <a:rPr lang="en-GB" dirty="0">
                <a:solidFill>
                  <a:srgbClr val="CC7BF4"/>
                </a:solidFill>
                <a:effectLst/>
              </a:rPr>
              <a:t>print</a:t>
            </a:r>
            <a:r>
              <a:rPr lang="en-GB" dirty="0">
                <a:solidFill>
                  <a:srgbClr val="D3D7DE"/>
                </a:solidFill>
                <a:effectLst/>
              </a:rPr>
              <a:t>(</a:t>
            </a:r>
            <a:r>
              <a:rPr lang="en-GB" dirty="0" err="1"/>
              <a:t>enc</a:t>
            </a:r>
            <a:r>
              <a:rPr lang="en-GB" dirty="0" err="1">
                <a:solidFill>
                  <a:srgbClr val="D3D7DE"/>
                </a:solidFill>
                <a:effectLst/>
              </a:rPr>
              <a:t>.</a:t>
            </a:r>
            <a:r>
              <a:rPr lang="en-GB" dirty="0" err="1"/>
              <a:t>n_vocab</a:t>
            </a:r>
            <a:r>
              <a:rPr lang="en-GB" dirty="0">
                <a:solidFill>
                  <a:srgbClr val="D3D7DE"/>
                </a:solidFill>
                <a:effectLst/>
              </a:rPr>
              <a:t>)</a:t>
            </a:r>
            <a:r>
              <a:rPr lang="en-GB" dirty="0"/>
              <a:t> </a:t>
            </a:r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1674609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2671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568</Words>
  <Application>Microsoft Macintosh PowerPoint</Application>
  <PresentationFormat>Widescreen</PresentationFormat>
  <Paragraphs>107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Courier New</vt:lpstr>
      <vt:lpstr>Office Theme</vt:lpstr>
      <vt:lpstr> Tokenization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Maneesha</dc:creator>
  <cp:lastModifiedBy>Maneesha</cp:lastModifiedBy>
  <cp:revision>3</cp:revision>
  <dcterms:created xsi:type="dcterms:W3CDTF">2026-04-25T11:09:18Z</dcterms:created>
  <dcterms:modified xsi:type="dcterms:W3CDTF">2026-04-25T12:37:28Z</dcterms:modified>
</cp:coreProperties>
</file>